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START (Say this warmly and confidently):</a:t>
            </a:r>
          </a:p>
          <a:p>
            <a:r>
              <a:t>'Good morning respected Professor. Today I am presenting my project: Image Compression using Eigenvalues and Covariance Matrices.</a:t>
            </a:r>
          </a:p>
          <a:p>
            <a:r>
              <a:t>In simple terms, an image is just a big grid of numbers. Our project finds the most important patterns in those numbers using eigenvalues, throws away the useless noise, and rebuilds the picture with 75% less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'Sir, in standard storage, every single pixel is saved independently. But in real life, if pixel (10,10) is white, pixel (10,11) is almost certainly white too. This project uses linear algebra to exploit that redundancy — we find the top 16 principal directions and store only those.'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QUESTION ON THIS SLIDE:</a:t>
            </a:r>
          </a:p>
          <a:p>
            <a:r>
              <a:t>Teacher: 'Why do you subtract the mean?'</a:t>
            </a:r>
          </a:p>
          <a:p>
            <a:r>
              <a:t>Answer: 'Sir, if we don't subtract the mean, the first eigenvector will just point to the average brightness of the room rather than the actual shape of the face/object.'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CRITICAL VIVA DEFENSE:</a:t>
            </a:r>
          </a:p>
          <a:p>
            <a:r>
              <a:t>If your teacher asks: 'Why not calculate eigenvalues directly on image A?'</a:t>
            </a:r>
          </a:p>
          <a:p>
            <a:r>
              <a:t>Say: 'Because image A is generally non-square (m x n) and non-symmetric. Covariance matrix C is strictly square (n x n) and symmetric, which guarantees real eigenvalues and orthogonal eigenvectors.'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'When we sort eigenvalues from biggest to smallest, we see that the first few eigenvalues are huge, and the rest drop off very fast. That is why we can drop the small ones with almost no noticeable damage.'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ABOUT ECKART-YOUNG:</a:t>
            </a:r>
          </a:p>
          <a:p>
            <a:r>
              <a:t>'Professor, if someone asks why we use PCA instead of another method, the Eckart-Young theorem proves that taking the top-k eigenvectors gives the minimum possible Frobenius norm error. It is mathematically optimal.'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QUESTION DEFENSE:</a:t>
            </a:r>
          </a:p>
          <a:p>
            <a:r>
              <a:t>Teacher: 'Why is the reconstructed image softer than the original?'</a:t>
            </a:r>
          </a:p>
          <a:p>
            <a:r>
              <a:t>Answer: 'Because we intentionally discarded 48 high-frequency eigenvalues to save 75% bandwidth. The primary structure is 91.4% preserved, but fine high-frequency texture is filtered out. If we increase k from 16 to 32, it becomes sharp again.'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'The numbers show that real-world images have low intrinsic rank. Most visual energy is concentrated in the first 16 eigenvalues, while the remaining 48 contribute very little.'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'The web app allows live testing on any image. The Sarvam AI assistant takes the live mathematical metrics from our Django server and explains them clearly to the user.'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WORDS TO CLOSE YOUR VIVA:</a:t>
            </a:r>
          </a:p>
          <a:p>
            <a:r>
              <a:t>'Thank you very much, Professor. That concludes my presentation on Image Transformation and Eigen-Feature Analysis. I am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32720" cy="2926080"/>
          </a:xfrm>
          <a:prstGeom prst="rect">
            <a:avLst/>
          </a:prstGeom>
          <a:noFill/>
        </p:spPr>
        <p:txBody>
          <a:bodyPr wrap="square">
            <a:spAutoFit/>
          </a:bodyPr>
          <a:lstStyle/>
          <a:p>
            <a:pPr>
              <a:spcAft>
                <a:spcPts val="1400"/>
              </a:spcAft>
              <a:defRPr sz="1200" b="1">
                <a:solidFill>
                  <a:srgbClr val="E2B93B"/>
                </a:solidFill>
                <a:latin typeface="Arial"/>
              </a:defRPr>
            </a:pPr>
            <a:r>
              <a:t>LINEAR ALGEBRA MINI-PROJECT  |  EIGENLAB</a:t>
            </a:r>
          </a:p>
          <a:p>
            <a:pPr>
              <a:spcAft>
                <a:spcPts val="1400"/>
              </a:spcAft>
              <a:defRPr sz="3400" b="1">
                <a:solidFill>
                  <a:srgbClr val="F8FAFC"/>
                </a:solidFill>
                <a:latin typeface="Arial"/>
              </a:defRPr>
            </a:pPr>
            <a:r>
              <a:t>Image Compression &amp; Eigen-Feature Analyzer</a:t>
            </a:r>
          </a:p>
          <a:p>
            <a:pPr>
              <a:defRPr sz="1600">
                <a:solidFill>
                  <a:srgbClr val="38BDF8"/>
                </a:solidFill>
                <a:latin typeface="Arial"/>
              </a:defRPr>
            </a:pPr>
            <a:r>
              <a:t>How Linear Algebra (Eigenvalues &amp; Covariance) compresses images without losing key shapes.</a:t>
            </a:r>
          </a:p>
        </p:txBody>
      </p:sp>
      <p:sp>
        <p:nvSpPr>
          <p:cNvPr id="4" name="Rounded Rectangle 3"/>
          <p:cNvSpPr/>
          <p:nvPr/>
        </p:nvSpPr>
        <p:spPr>
          <a:xfrm>
            <a:off x="914400" y="4297680"/>
            <a:ext cx="3291840" cy="1463040"/>
          </a:xfrm>
          <a:prstGeom prst="roundRect">
            <a:avLst/>
          </a:prstGeom>
          <a:solidFill>
            <a:srgbClr val="141B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4480560"/>
            <a:ext cx="2834640" cy="1097280"/>
          </a:xfrm>
          <a:prstGeom prst="rect">
            <a:avLst/>
          </a:prstGeom>
          <a:noFill/>
        </p:spPr>
        <p:txBody>
          <a:bodyPr wrap="square" lIns="0" tIns="0" rIns="0" bIns="0">
            <a:spAutoFit/>
          </a:bodyPr>
          <a:lstStyle/>
          <a:p>
            <a:pPr>
              <a:spcAft>
                <a:spcPts val="1000"/>
              </a:spcAft>
              <a:defRPr sz="1600" b="1">
                <a:solidFill>
                  <a:srgbClr val="38BDF8"/>
                </a:solidFill>
                <a:latin typeface="Arial"/>
              </a:defRPr>
            </a:pPr>
            <a:r>
              <a:t>1. Upload Image</a:t>
            </a:r>
          </a:p>
          <a:p>
            <a:pPr>
              <a:spcAft>
                <a:spcPts val="600"/>
              </a:spcAft>
              <a:defRPr sz="1200">
                <a:solidFill>
                  <a:srgbClr val="F8FAFC"/>
                </a:solidFill>
                <a:latin typeface="Arial"/>
              </a:defRPr>
            </a:pPr>
            <a:r>
              <a:t>•  Converts to Grayscale</a:t>
            </a:r>
          </a:p>
          <a:p>
            <a:pPr>
              <a:spcAft>
                <a:spcPts val="600"/>
              </a:spcAft>
              <a:defRPr sz="1200">
                <a:solidFill>
                  <a:srgbClr val="F8FAFC"/>
                </a:solidFill>
                <a:latin typeface="Arial"/>
              </a:defRPr>
            </a:pPr>
            <a:r>
              <a:t>•  Turns into a 64×64 Matrix</a:t>
            </a:r>
          </a:p>
          <a:p>
            <a:pPr>
              <a:spcAft>
                <a:spcPts val="600"/>
              </a:spcAft>
              <a:defRPr sz="1200">
                <a:solidFill>
                  <a:srgbClr val="F8FAFC"/>
                </a:solidFill>
                <a:latin typeface="Arial"/>
              </a:defRPr>
            </a:pPr>
            <a:r>
              <a:t>•  Normalizes 0.0 to 1.0</a:t>
            </a:r>
          </a:p>
        </p:txBody>
      </p:sp>
      <p:sp>
        <p:nvSpPr>
          <p:cNvPr id="6" name="Rounded Rectangle 5"/>
          <p:cNvSpPr/>
          <p:nvPr/>
        </p:nvSpPr>
        <p:spPr>
          <a:xfrm>
            <a:off x="4434840" y="4297680"/>
            <a:ext cx="3291840" cy="1463040"/>
          </a:xfrm>
          <a:prstGeom prst="roundRect">
            <a:avLst/>
          </a:prstGeom>
          <a:solidFill>
            <a:srgbClr val="141B29"/>
          </a:solidFill>
          <a:ln w="19050">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4480560"/>
            <a:ext cx="2834640" cy="1097280"/>
          </a:xfrm>
          <a:prstGeom prst="rect">
            <a:avLst/>
          </a:prstGeom>
          <a:noFill/>
        </p:spPr>
        <p:txBody>
          <a:bodyPr wrap="square" lIns="0" tIns="0" rIns="0" bIns="0">
            <a:spAutoFit/>
          </a:bodyPr>
          <a:lstStyle/>
          <a:p>
            <a:pPr>
              <a:spcAft>
                <a:spcPts val="1000"/>
              </a:spcAft>
              <a:defRPr sz="1600" b="1">
                <a:solidFill>
                  <a:srgbClr val="E2B93B"/>
                </a:solidFill>
                <a:latin typeface="Arial"/>
              </a:defRPr>
            </a:pPr>
            <a:r>
              <a:t>2. Find Eigenvalues</a:t>
            </a:r>
          </a:p>
          <a:p>
            <a:pPr>
              <a:spcAft>
                <a:spcPts val="600"/>
              </a:spcAft>
              <a:defRPr sz="1200">
                <a:solidFill>
                  <a:srgbClr val="F8FAFC"/>
                </a:solidFill>
                <a:latin typeface="Arial"/>
              </a:defRPr>
            </a:pPr>
            <a:r>
              <a:t>•  Builds Covariance Matrix C</a:t>
            </a:r>
          </a:p>
          <a:p>
            <a:pPr>
              <a:spcAft>
                <a:spcPts val="600"/>
              </a:spcAft>
              <a:defRPr sz="1200">
                <a:solidFill>
                  <a:srgbClr val="F8FAFC"/>
                </a:solidFill>
                <a:latin typeface="Arial"/>
              </a:defRPr>
            </a:pPr>
            <a:r>
              <a:t>•  Extracts directions of variance</a:t>
            </a:r>
          </a:p>
          <a:p>
            <a:pPr>
              <a:spcAft>
                <a:spcPts val="600"/>
              </a:spcAft>
              <a:defRPr sz="1200">
                <a:solidFill>
                  <a:srgbClr val="F8FAFC"/>
                </a:solidFill>
                <a:latin typeface="Arial"/>
              </a:defRPr>
            </a:pPr>
            <a:r>
              <a:t>•  Ranks top-16 components</a:t>
            </a:r>
          </a:p>
        </p:txBody>
      </p:sp>
      <p:sp>
        <p:nvSpPr>
          <p:cNvPr id="8" name="Rounded Rectangle 7"/>
          <p:cNvSpPr/>
          <p:nvPr/>
        </p:nvSpPr>
        <p:spPr>
          <a:xfrm>
            <a:off x="7955279" y="4297680"/>
            <a:ext cx="3291840" cy="1463040"/>
          </a:xfrm>
          <a:prstGeom prst="roundRect">
            <a:avLst/>
          </a:prstGeom>
          <a:solidFill>
            <a:srgbClr val="141B29"/>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79" y="4480560"/>
            <a:ext cx="2834640" cy="1097280"/>
          </a:xfrm>
          <a:prstGeom prst="rect">
            <a:avLst/>
          </a:prstGeom>
          <a:noFill/>
        </p:spPr>
        <p:txBody>
          <a:bodyPr wrap="square" lIns="0" tIns="0" rIns="0" bIns="0">
            <a:spAutoFit/>
          </a:bodyPr>
          <a:lstStyle/>
          <a:p>
            <a:pPr>
              <a:spcAft>
                <a:spcPts val="1000"/>
              </a:spcAft>
              <a:defRPr sz="1600" b="1">
                <a:solidFill>
                  <a:srgbClr val="34D399"/>
                </a:solidFill>
                <a:latin typeface="Arial"/>
              </a:defRPr>
            </a:pPr>
            <a:r>
              <a:t>3. Reconstruct &amp; Save</a:t>
            </a:r>
          </a:p>
          <a:p>
            <a:pPr>
              <a:spcAft>
                <a:spcPts val="600"/>
              </a:spcAft>
              <a:defRPr sz="1200">
                <a:solidFill>
                  <a:srgbClr val="F8FAFC"/>
                </a:solidFill>
                <a:latin typeface="Arial"/>
              </a:defRPr>
            </a:pPr>
            <a:r>
              <a:t>•  Rebuilds picture with top 16</a:t>
            </a:r>
          </a:p>
          <a:p>
            <a:pPr>
              <a:spcAft>
                <a:spcPts val="600"/>
              </a:spcAft>
              <a:defRPr sz="1200">
                <a:solidFill>
                  <a:srgbClr val="F8FAFC"/>
                </a:solidFill>
                <a:latin typeface="Arial"/>
              </a:defRPr>
            </a:pPr>
            <a:r>
              <a:t>•  Discards 75% redundant data</a:t>
            </a:r>
          </a:p>
          <a:p>
            <a:pPr>
              <a:spcAft>
                <a:spcPts val="600"/>
              </a:spcAft>
              <a:defRPr sz="1200">
                <a:solidFill>
                  <a:srgbClr val="F8FAFC"/>
                </a:solidFill>
                <a:latin typeface="Arial"/>
              </a:defRPr>
            </a:pPr>
            <a:r>
              <a:t>•  Keeps 91.4% visual quality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36576"/>
          </a:xfrm>
          <a:prstGeom prst="rect">
            <a:avLst/>
          </a:prstGeom>
          <a:solidFill>
            <a:srgbClr val="E2B93B"/>
          </a:solidFill>
          <a:ln>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698480" cy="274320"/>
          </a:xfrm>
          <a:prstGeom prst="rect">
            <a:avLst/>
          </a:prstGeom>
          <a:noFill/>
        </p:spPr>
        <p:txBody>
          <a:bodyPr wrap="square" lIns="0" tIns="0" rIns="0" bIns="0">
            <a:spAutoFit/>
          </a:bodyPr>
          <a:lstStyle/>
          <a:p>
            <a:pPr>
              <a:defRPr sz="1100" b="1">
                <a:solidFill>
                  <a:srgbClr val="E2B93B"/>
                </a:solidFill>
                <a:latin typeface="Arial"/>
              </a:defRPr>
            </a:pPr>
            <a:r>
              <a:t>THE CORE IDEA IN 30 SECONDS</a:t>
            </a:r>
          </a:p>
        </p:txBody>
      </p:sp>
      <p:sp>
        <p:nvSpPr>
          <p:cNvPr id="5" name="TextBox 4"/>
          <p:cNvSpPr txBox="1"/>
          <p:nvPr/>
        </p:nvSpPr>
        <p:spPr>
          <a:xfrm>
            <a:off x="731520" y="868680"/>
            <a:ext cx="10698480" cy="594360"/>
          </a:xfrm>
          <a:prstGeom prst="rect">
            <a:avLst/>
          </a:prstGeom>
          <a:noFill/>
        </p:spPr>
        <p:txBody>
          <a:bodyPr wrap="square" lIns="0" tIns="0" rIns="0" bIns="0">
            <a:spAutoFit/>
          </a:bodyPr>
          <a:lstStyle/>
          <a:p>
            <a:pPr>
              <a:defRPr sz="2500" b="1">
                <a:solidFill>
                  <a:srgbClr val="F8FAFC"/>
                </a:solidFill>
                <a:latin typeface="Arial"/>
              </a:defRPr>
            </a:pPr>
            <a:r>
              <a:t>What Does This Project Actually Do?</a:t>
            </a:r>
          </a:p>
        </p:txBody>
      </p:sp>
      <p:sp>
        <p:nvSpPr>
          <p:cNvPr id="6" name="TextBox 5"/>
          <p:cNvSpPr txBox="1"/>
          <p:nvPr/>
        </p:nvSpPr>
        <p:spPr>
          <a:xfrm>
            <a:off x="731520" y="1417320"/>
            <a:ext cx="10698480" cy="365760"/>
          </a:xfrm>
          <a:prstGeom prst="rect">
            <a:avLst/>
          </a:prstGeom>
          <a:noFill/>
        </p:spPr>
        <p:txBody>
          <a:bodyPr wrap="square" lIns="0" tIns="0" rIns="0" bIns="0">
            <a:spAutoFit/>
          </a:bodyPr>
          <a:lstStyle/>
          <a:p>
            <a:pPr>
              <a:defRPr sz="1300">
                <a:solidFill>
                  <a:srgbClr val="9CABC2"/>
                </a:solidFill>
                <a:latin typeface="Arial"/>
              </a:defRPr>
            </a:pPr>
            <a:r>
              <a:t>An intuitive explanation anyone can understand without getting lost in math.</a:t>
            </a:r>
          </a:p>
        </p:txBody>
      </p:sp>
      <p:sp>
        <p:nvSpPr>
          <p:cNvPr id="7" name="Rounded Rectangle 6"/>
          <p:cNvSpPr/>
          <p:nvPr/>
        </p:nvSpPr>
        <p:spPr>
          <a:xfrm>
            <a:off x="731520" y="1920240"/>
            <a:ext cx="5120640" cy="2926080"/>
          </a:xfrm>
          <a:prstGeom prst="roundRect">
            <a:avLst/>
          </a:prstGeom>
          <a:solidFill>
            <a:srgbClr val="141B29"/>
          </a:solidFill>
          <a:ln w="1905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663440" cy="2560320"/>
          </a:xfrm>
          <a:prstGeom prst="rect">
            <a:avLst/>
          </a:prstGeom>
          <a:noFill/>
        </p:spPr>
        <p:txBody>
          <a:bodyPr wrap="square" lIns="0" tIns="0" rIns="0" bIns="0">
            <a:spAutoFit/>
          </a:bodyPr>
          <a:lstStyle/>
          <a:p>
            <a:pPr>
              <a:spcAft>
                <a:spcPts val="1000"/>
              </a:spcAft>
              <a:defRPr sz="1600" b="1">
                <a:solidFill>
                  <a:srgbClr val="FB7185"/>
                </a:solidFill>
                <a:latin typeface="Arial"/>
              </a:defRPr>
            </a:pPr>
            <a:r>
              <a:t>The Problem: Too Many Numbers!</a:t>
            </a:r>
          </a:p>
          <a:p>
            <a:pPr>
              <a:spcAft>
                <a:spcPts val="600"/>
              </a:spcAft>
              <a:defRPr sz="1200">
                <a:solidFill>
                  <a:srgbClr val="F8FAFC"/>
                </a:solidFill>
                <a:latin typeface="Arial"/>
              </a:defRPr>
            </a:pPr>
            <a:r>
              <a:t>•  Every digital photo is a giant matrix of pixel numbers.</a:t>
            </a:r>
          </a:p>
          <a:p>
            <a:pPr>
              <a:spcAft>
                <a:spcPts val="600"/>
              </a:spcAft>
              <a:defRPr sz="1200">
                <a:solidFill>
                  <a:srgbClr val="F8FAFC"/>
                </a:solidFill>
                <a:latin typeface="Arial"/>
              </a:defRPr>
            </a:pPr>
            <a:r>
              <a:t>•  Even a tiny 64×64 image has 4,096 separate numbers.</a:t>
            </a:r>
          </a:p>
          <a:p>
            <a:pPr>
              <a:spcAft>
                <a:spcPts val="600"/>
              </a:spcAft>
              <a:defRPr sz="1200">
                <a:solidFill>
                  <a:srgbClr val="F8FAFC"/>
                </a:solidFill>
                <a:latin typeface="Arial"/>
              </a:defRPr>
            </a:pPr>
            <a:r>
              <a:t>•  Neighboring pixels are almost identical (lots of wasted repetition).</a:t>
            </a:r>
          </a:p>
          <a:p>
            <a:pPr>
              <a:spcAft>
                <a:spcPts val="600"/>
              </a:spcAft>
              <a:defRPr sz="1200">
                <a:solidFill>
                  <a:srgbClr val="F8FAFC"/>
                </a:solidFill>
                <a:latin typeface="Arial"/>
              </a:defRPr>
            </a:pPr>
            <a:r>
              <a:t>•  Storing or transmitting all 4,096 numbers is inefficient.</a:t>
            </a:r>
          </a:p>
        </p:txBody>
      </p:sp>
      <p:sp>
        <p:nvSpPr>
          <p:cNvPr id="9" name="Rounded Rectangle 8"/>
          <p:cNvSpPr/>
          <p:nvPr/>
        </p:nvSpPr>
        <p:spPr>
          <a:xfrm>
            <a:off x="6309360" y="1920240"/>
            <a:ext cx="5120640" cy="2926080"/>
          </a:xfrm>
          <a:prstGeom prst="roundRect">
            <a:avLst/>
          </a:prstGeom>
          <a:solidFill>
            <a:srgbClr val="141B29"/>
          </a:solidFill>
          <a:ln w="19050">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103120"/>
            <a:ext cx="4663440" cy="2560320"/>
          </a:xfrm>
          <a:prstGeom prst="rect">
            <a:avLst/>
          </a:prstGeom>
          <a:noFill/>
        </p:spPr>
        <p:txBody>
          <a:bodyPr wrap="square" lIns="0" tIns="0" rIns="0" bIns="0">
            <a:spAutoFit/>
          </a:bodyPr>
          <a:lstStyle/>
          <a:p>
            <a:pPr>
              <a:spcAft>
                <a:spcPts val="1000"/>
              </a:spcAft>
              <a:defRPr sz="1600" b="1">
                <a:solidFill>
                  <a:srgbClr val="E2B93B"/>
                </a:solidFill>
                <a:latin typeface="Arial"/>
              </a:defRPr>
            </a:pPr>
            <a:r>
              <a:t>The Solution: Keep Only The Strongest Patterns</a:t>
            </a:r>
          </a:p>
          <a:p>
            <a:pPr>
              <a:spcAft>
                <a:spcPts val="600"/>
              </a:spcAft>
              <a:defRPr sz="1200">
                <a:solidFill>
                  <a:srgbClr val="F8FAFC"/>
                </a:solidFill>
                <a:latin typeface="Arial"/>
              </a:defRPr>
            </a:pPr>
            <a:r>
              <a:t>•  Instead of storing all 64 columns, we find the 16 'Master Patterns' (Eigenvectors).</a:t>
            </a:r>
          </a:p>
          <a:p>
            <a:pPr>
              <a:spcAft>
                <a:spcPts val="600"/>
              </a:spcAft>
              <a:defRPr sz="1200">
                <a:solidFill>
                  <a:srgbClr val="F8FAFC"/>
                </a:solidFill>
                <a:latin typeface="Arial"/>
              </a:defRPr>
            </a:pPr>
            <a:r>
              <a:t>•  Each pattern has a strength score (Eigenvalue).</a:t>
            </a:r>
          </a:p>
          <a:p>
            <a:pPr>
              <a:spcAft>
                <a:spcPts val="600"/>
              </a:spcAft>
              <a:defRPr sz="1200">
                <a:solidFill>
                  <a:srgbClr val="F8FAFC"/>
                </a:solidFill>
                <a:latin typeface="Arial"/>
              </a:defRPr>
            </a:pPr>
            <a:r>
              <a:t>•  We keep the top 16 patterns and throw away the remaining 48.</a:t>
            </a:r>
          </a:p>
          <a:p>
            <a:pPr>
              <a:spcAft>
                <a:spcPts val="600"/>
              </a:spcAft>
              <a:defRPr sz="1200">
                <a:solidFill>
                  <a:srgbClr val="F8FAFC"/>
                </a:solidFill>
                <a:latin typeface="Arial"/>
              </a:defRPr>
            </a:pPr>
            <a:r>
              <a:t>•  Result: 75% reduction in basis vectors, while image stays clear!</a:t>
            </a:r>
          </a:p>
        </p:txBody>
      </p:sp>
      <p:sp>
        <p:nvSpPr>
          <p:cNvPr id="11" name="Rounded Rectangle 10"/>
          <p:cNvSpPr/>
          <p:nvPr/>
        </p:nvSpPr>
        <p:spPr>
          <a:xfrm>
            <a:off x="731520" y="5029200"/>
            <a:ext cx="10698480" cy="1371600"/>
          </a:xfrm>
          <a:prstGeom prst="roundRect">
            <a:avLst/>
          </a:prstGeom>
          <a:solidFill>
            <a:srgbClr val="10201C"/>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38928"/>
            <a:ext cx="10332720" cy="1152144"/>
          </a:xfrm>
          <a:prstGeom prst="rect">
            <a:avLst/>
          </a:prstGeom>
          <a:noFill/>
        </p:spPr>
        <p:txBody>
          <a:bodyPr wrap="square" lIns="0" tIns="0" rIns="0" bIns="0">
            <a:spAutoFit/>
          </a:bodyPr>
          <a:lstStyle/>
          <a:p>
            <a:pPr>
              <a:spcAft>
                <a:spcPts val="400"/>
              </a:spcAft>
              <a:defRPr sz="1000" b="1">
                <a:solidFill>
                  <a:srgbClr val="34D399"/>
                </a:solidFill>
                <a:latin typeface="Arial"/>
              </a:defRPr>
            </a:pPr>
            <a:r>
              <a:t>🗣️ WHAT TO SAY TO YOUR TEACHER:</a:t>
            </a:r>
          </a:p>
          <a:p>
            <a:pPr>
              <a:defRPr sz="1100">
                <a:solidFill>
                  <a:srgbClr val="DCFCE7"/>
                </a:solidFill>
                <a:latin typeface="Arial"/>
              </a:defRPr>
            </a:pPr>
            <a:r>
              <a:t>"Sir/Ma'am, a photo has too many redundant pixels. Think of eigenvectors as the 'main brush strokes' of the image, and eigenvalues as their importance. We keep only the top 16 brush strokes and throw away the rest, saving huge memory while preserving the image."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36576"/>
          </a:xfrm>
          <a:prstGeom prst="rect">
            <a:avLst/>
          </a:prstGeom>
          <a:solidFill>
            <a:srgbClr val="E2B93B"/>
          </a:solidFill>
          <a:ln>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698480" cy="274320"/>
          </a:xfrm>
          <a:prstGeom prst="rect">
            <a:avLst/>
          </a:prstGeom>
          <a:noFill/>
        </p:spPr>
        <p:txBody>
          <a:bodyPr wrap="square" lIns="0" tIns="0" rIns="0" bIns="0">
            <a:spAutoFit/>
          </a:bodyPr>
          <a:lstStyle/>
          <a:p>
            <a:pPr>
              <a:defRPr sz="1100" b="1">
                <a:solidFill>
                  <a:srgbClr val="E2B93B"/>
                </a:solidFill>
                <a:latin typeface="Arial"/>
              </a:defRPr>
            </a:pPr>
            <a:r>
              <a:t>STEP 1: THE INPUT MATRIX</a:t>
            </a:r>
          </a:p>
        </p:txBody>
      </p:sp>
      <p:sp>
        <p:nvSpPr>
          <p:cNvPr id="5" name="TextBox 4"/>
          <p:cNvSpPr txBox="1"/>
          <p:nvPr/>
        </p:nvSpPr>
        <p:spPr>
          <a:xfrm>
            <a:off x="731520" y="868680"/>
            <a:ext cx="10698480" cy="594360"/>
          </a:xfrm>
          <a:prstGeom prst="rect">
            <a:avLst/>
          </a:prstGeom>
          <a:noFill/>
        </p:spPr>
        <p:txBody>
          <a:bodyPr wrap="square" lIns="0" tIns="0" rIns="0" bIns="0">
            <a:spAutoFit/>
          </a:bodyPr>
          <a:lstStyle/>
          <a:p>
            <a:pPr>
              <a:defRPr sz="2500" b="1">
                <a:solidFill>
                  <a:srgbClr val="F8FAFC"/>
                </a:solidFill>
                <a:latin typeface="Arial"/>
              </a:defRPr>
            </a:pPr>
            <a:r>
              <a:t>How Does a Picture Become Numbers?</a:t>
            </a:r>
          </a:p>
        </p:txBody>
      </p:sp>
      <p:sp>
        <p:nvSpPr>
          <p:cNvPr id="6" name="TextBox 5"/>
          <p:cNvSpPr txBox="1"/>
          <p:nvPr/>
        </p:nvSpPr>
        <p:spPr>
          <a:xfrm>
            <a:off x="731520" y="1417320"/>
            <a:ext cx="10698480" cy="365760"/>
          </a:xfrm>
          <a:prstGeom prst="rect">
            <a:avLst/>
          </a:prstGeom>
          <a:noFill/>
        </p:spPr>
        <p:txBody>
          <a:bodyPr wrap="square" lIns="0" tIns="0" rIns="0" bIns="0">
            <a:spAutoFit/>
          </a:bodyPr>
          <a:lstStyle/>
          <a:p>
            <a:pPr>
              <a:defRPr sz="1300">
                <a:solidFill>
                  <a:srgbClr val="9CABC2"/>
                </a:solidFill>
                <a:latin typeface="Arial"/>
              </a:defRPr>
            </a:pPr>
            <a:r>
              <a:t>From JPEG/PNG upload to a normalized numerical matrix A.</a:t>
            </a:r>
          </a:p>
        </p:txBody>
      </p:sp>
      <p:sp>
        <p:nvSpPr>
          <p:cNvPr id="7" name="Rounded Rectangle 6"/>
          <p:cNvSpPr/>
          <p:nvPr/>
        </p:nvSpPr>
        <p:spPr>
          <a:xfrm>
            <a:off x="731520" y="1920240"/>
            <a:ext cx="5120640" cy="2926080"/>
          </a:xfrm>
          <a:prstGeom prst="roundRect">
            <a:avLst/>
          </a:prstGeom>
          <a:solidFill>
            <a:srgbClr val="141B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663440" cy="2560320"/>
          </a:xfrm>
          <a:prstGeom prst="rect">
            <a:avLst/>
          </a:prstGeom>
          <a:noFill/>
        </p:spPr>
        <p:txBody>
          <a:bodyPr wrap="square" lIns="0" tIns="0" rIns="0" bIns="0">
            <a:spAutoFit/>
          </a:bodyPr>
          <a:lstStyle/>
          <a:p>
            <a:pPr>
              <a:spcAft>
                <a:spcPts val="1000"/>
              </a:spcAft>
              <a:defRPr sz="1600" b="1">
                <a:solidFill>
                  <a:srgbClr val="38BDF8"/>
                </a:solidFill>
                <a:latin typeface="Arial"/>
              </a:defRPr>
            </a:pPr>
            <a:r>
              <a:t>1. Grayscale &amp; Resolution</a:t>
            </a:r>
          </a:p>
          <a:p>
            <a:pPr>
              <a:spcAft>
                <a:spcPts val="600"/>
              </a:spcAft>
              <a:defRPr sz="1200">
                <a:solidFill>
                  <a:srgbClr val="F8FAFC"/>
                </a:solidFill>
                <a:latin typeface="Arial"/>
              </a:defRPr>
            </a:pPr>
            <a:r>
              <a:t>•  Upload any image (PNG, JPEG, WebP).</a:t>
            </a:r>
          </a:p>
          <a:p>
            <a:pPr>
              <a:spcAft>
                <a:spcPts val="600"/>
              </a:spcAft>
              <a:defRPr sz="1200">
                <a:solidFill>
                  <a:srgbClr val="F8FAFC"/>
                </a:solidFill>
                <a:latin typeface="Arial"/>
              </a:defRPr>
            </a:pPr>
            <a:r>
              <a:t>•  Convert RGB to Grayscale: Y = 0.299R + 0.587G + 0.114B.</a:t>
            </a:r>
          </a:p>
          <a:p>
            <a:pPr>
              <a:spcAft>
                <a:spcPts val="600"/>
              </a:spcAft>
              <a:defRPr sz="1200">
                <a:solidFill>
                  <a:srgbClr val="F8FAFC"/>
                </a:solidFill>
                <a:latin typeface="Arial"/>
              </a:defRPr>
            </a:pPr>
            <a:r>
              <a:t>•  Resize to 64 × 64 pixels (4,096 numbers total).</a:t>
            </a:r>
          </a:p>
          <a:p>
            <a:pPr>
              <a:spcAft>
                <a:spcPts val="600"/>
              </a:spcAft>
              <a:defRPr sz="1200">
                <a:solidFill>
                  <a:srgbClr val="F8FAFC"/>
                </a:solidFill>
                <a:latin typeface="Arial"/>
              </a:defRPr>
            </a:pPr>
            <a:r>
              <a:t>•  Normalize values: Divide by 255.0 so all numbers are in [0.0, 1.0].</a:t>
            </a:r>
          </a:p>
          <a:p>
            <a:pPr>
              <a:spcAft>
                <a:spcPts val="600"/>
              </a:spcAft>
              <a:defRPr sz="1200">
                <a:solidFill>
                  <a:srgbClr val="F8FAFC"/>
                </a:solidFill>
                <a:latin typeface="Arial"/>
              </a:defRPr>
            </a:pPr>
            <a:r>
              <a:t>•  0.0 = Pure Black, 1.0 = Pure White.</a:t>
            </a:r>
          </a:p>
        </p:txBody>
      </p:sp>
      <p:sp>
        <p:nvSpPr>
          <p:cNvPr id="9" name="Rounded Rectangle 8"/>
          <p:cNvSpPr/>
          <p:nvPr/>
        </p:nvSpPr>
        <p:spPr>
          <a:xfrm>
            <a:off x="6309360" y="1920240"/>
            <a:ext cx="5120640" cy="2926080"/>
          </a:xfrm>
          <a:prstGeom prst="roundRect">
            <a:avLst/>
          </a:prstGeom>
          <a:solidFill>
            <a:srgbClr val="141B29"/>
          </a:solidFill>
          <a:ln w="19050">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103120"/>
            <a:ext cx="4663440" cy="2560320"/>
          </a:xfrm>
          <a:prstGeom prst="rect">
            <a:avLst/>
          </a:prstGeom>
          <a:noFill/>
        </p:spPr>
        <p:txBody>
          <a:bodyPr wrap="square" lIns="0" tIns="0" rIns="0" bIns="0">
            <a:spAutoFit/>
          </a:bodyPr>
          <a:lstStyle/>
          <a:p>
            <a:pPr>
              <a:spcAft>
                <a:spcPts val="1000"/>
              </a:spcAft>
              <a:defRPr sz="1600" b="1">
                <a:solidFill>
                  <a:srgbClr val="E2B93B"/>
                </a:solidFill>
                <a:latin typeface="Arial"/>
              </a:defRPr>
            </a:pPr>
            <a:r>
              <a:t>2. Mean Centering (Crucial Step)</a:t>
            </a:r>
          </a:p>
          <a:p>
            <a:pPr>
              <a:spcAft>
                <a:spcPts val="600"/>
              </a:spcAft>
              <a:defRPr sz="1200">
                <a:solidFill>
                  <a:srgbClr val="F8FAFC"/>
                </a:solidFill>
                <a:latin typeface="Arial"/>
              </a:defRPr>
            </a:pPr>
            <a:r>
              <a:t>•  We calculate the average brightness of each column: mu.</a:t>
            </a:r>
          </a:p>
          <a:p>
            <a:pPr>
              <a:spcAft>
                <a:spcPts val="600"/>
              </a:spcAft>
              <a:defRPr sz="1200">
                <a:solidFill>
                  <a:srgbClr val="F8FAFC"/>
                </a:solidFill>
                <a:latin typeface="Arial"/>
              </a:defRPr>
            </a:pPr>
            <a:r>
              <a:t>•  We subtract mu from every pixel: A_tilde = A - mu.</a:t>
            </a:r>
          </a:p>
          <a:p>
            <a:pPr>
              <a:spcAft>
                <a:spcPts val="600"/>
              </a:spcAft>
              <a:defRPr sz="1200">
                <a:solidFill>
                  <a:srgbClr val="F8FAFC"/>
                </a:solidFill>
                <a:latin typeface="Arial"/>
              </a:defRPr>
            </a:pPr>
            <a:r>
              <a:t>•  Why is this needed?</a:t>
            </a:r>
          </a:p>
          <a:p>
            <a:pPr>
              <a:spcAft>
                <a:spcPts val="600"/>
              </a:spcAft>
              <a:defRPr sz="1200">
                <a:solidFill>
                  <a:srgbClr val="F8FAFC"/>
                </a:solidFill>
                <a:latin typeface="Arial"/>
              </a:defRPr>
            </a:pPr>
            <a:r>
              <a:t>•  Because we want to measure CHANGES and CONTRAST, not overall brightness.</a:t>
            </a:r>
          </a:p>
          <a:p>
            <a:pPr>
              <a:spcAft>
                <a:spcPts val="600"/>
              </a:spcAft>
              <a:defRPr sz="1200">
                <a:solidFill>
                  <a:srgbClr val="F8FAFC"/>
                </a:solidFill>
                <a:latin typeface="Arial"/>
              </a:defRPr>
            </a:pPr>
            <a:r>
              <a:t>•  Centering puts the middle of the data at 0.0.</a:t>
            </a:r>
          </a:p>
        </p:txBody>
      </p:sp>
      <p:sp>
        <p:nvSpPr>
          <p:cNvPr id="11" name="Rounded Rectangle 10"/>
          <p:cNvSpPr/>
          <p:nvPr/>
        </p:nvSpPr>
        <p:spPr>
          <a:xfrm>
            <a:off x="731520" y="5029200"/>
            <a:ext cx="10698480" cy="1371600"/>
          </a:xfrm>
          <a:prstGeom prst="roundRect">
            <a:avLst/>
          </a:prstGeom>
          <a:solidFill>
            <a:srgbClr val="10201C"/>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38928"/>
            <a:ext cx="10332720" cy="1152144"/>
          </a:xfrm>
          <a:prstGeom prst="rect">
            <a:avLst/>
          </a:prstGeom>
          <a:noFill/>
        </p:spPr>
        <p:txBody>
          <a:bodyPr wrap="square" lIns="0" tIns="0" rIns="0" bIns="0">
            <a:spAutoFit/>
          </a:bodyPr>
          <a:lstStyle/>
          <a:p>
            <a:pPr>
              <a:spcAft>
                <a:spcPts val="400"/>
              </a:spcAft>
              <a:defRPr sz="1000" b="1">
                <a:solidFill>
                  <a:srgbClr val="34D399"/>
                </a:solidFill>
                <a:latin typeface="Arial"/>
              </a:defRPr>
            </a:pPr>
            <a:r>
              <a:t>🗣️ WHAT TO SAY TO YOUR TEACHER:</a:t>
            </a:r>
          </a:p>
          <a:p>
            <a:pPr>
              <a:defRPr sz="1100">
                <a:solidFill>
                  <a:srgbClr val="DCFCE7"/>
                </a:solidFill>
                <a:latin typeface="Arial"/>
              </a:defRPr>
            </a:pPr>
            <a:r>
              <a:t>"We take the image, turn it grayscale, and make it a 64×64 grid where 0 is black and 1 is white. Then we subtract the average brightness so our calculations focus on the contrast and features rather than background lighting."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36576"/>
          </a:xfrm>
          <a:prstGeom prst="rect">
            <a:avLst/>
          </a:prstGeom>
          <a:solidFill>
            <a:srgbClr val="E2B93B"/>
          </a:solidFill>
          <a:ln>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698480" cy="274320"/>
          </a:xfrm>
          <a:prstGeom prst="rect">
            <a:avLst/>
          </a:prstGeom>
          <a:noFill/>
        </p:spPr>
        <p:txBody>
          <a:bodyPr wrap="square" lIns="0" tIns="0" rIns="0" bIns="0">
            <a:spAutoFit/>
          </a:bodyPr>
          <a:lstStyle/>
          <a:p>
            <a:pPr>
              <a:defRPr sz="1100" b="1">
                <a:solidFill>
                  <a:srgbClr val="E2B93B"/>
                </a:solidFill>
                <a:latin typeface="Arial"/>
              </a:defRPr>
            </a:pPr>
            <a:r>
              <a:t>STEP 2: THE CORE MATH</a:t>
            </a:r>
          </a:p>
        </p:txBody>
      </p:sp>
      <p:sp>
        <p:nvSpPr>
          <p:cNvPr id="5" name="TextBox 4"/>
          <p:cNvSpPr txBox="1"/>
          <p:nvPr/>
        </p:nvSpPr>
        <p:spPr>
          <a:xfrm>
            <a:off x="731520" y="868680"/>
            <a:ext cx="10698480" cy="594360"/>
          </a:xfrm>
          <a:prstGeom prst="rect">
            <a:avLst/>
          </a:prstGeom>
          <a:noFill/>
        </p:spPr>
        <p:txBody>
          <a:bodyPr wrap="square" lIns="0" tIns="0" rIns="0" bIns="0">
            <a:spAutoFit/>
          </a:bodyPr>
          <a:lstStyle/>
          <a:p>
            <a:pPr>
              <a:defRPr sz="2500" b="1">
                <a:solidFill>
                  <a:srgbClr val="F8FAFC"/>
                </a:solidFill>
                <a:latin typeface="Arial"/>
              </a:defRPr>
            </a:pPr>
            <a:r>
              <a:t>Why Covariance Matrix C = A^T * A?</a:t>
            </a:r>
          </a:p>
        </p:txBody>
      </p:sp>
      <p:sp>
        <p:nvSpPr>
          <p:cNvPr id="6" name="TextBox 5"/>
          <p:cNvSpPr txBox="1"/>
          <p:nvPr/>
        </p:nvSpPr>
        <p:spPr>
          <a:xfrm>
            <a:off x="731520" y="1417320"/>
            <a:ext cx="10698480" cy="365760"/>
          </a:xfrm>
          <a:prstGeom prst="rect">
            <a:avLst/>
          </a:prstGeom>
          <a:noFill/>
        </p:spPr>
        <p:txBody>
          <a:bodyPr wrap="square" lIns="0" tIns="0" rIns="0" bIns="0">
            <a:spAutoFit/>
          </a:bodyPr>
          <a:lstStyle/>
          <a:p>
            <a:pPr>
              <a:defRPr sz="1300">
                <a:solidFill>
                  <a:srgbClr val="9CABC2"/>
                </a:solidFill>
                <a:latin typeface="Arial"/>
              </a:defRPr>
            </a:pPr>
            <a:r>
              <a:t>The #1 question teachers ask in vivas — explained in 3 simple points.</a:t>
            </a:r>
          </a:p>
        </p:txBody>
      </p:sp>
      <p:sp>
        <p:nvSpPr>
          <p:cNvPr id="7" name="Rounded Rectangle 6"/>
          <p:cNvSpPr/>
          <p:nvPr/>
        </p:nvSpPr>
        <p:spPr>
          <a:xfrm>
            <a:off x="731520" y="1920240"/>
            <a:ext cx="3291840" cy="2926080"/>
          </a:xfrm>
          <a:prstGeom prst="roundRect">
            <a:avLst/>
          </a:prstGeom>
          <a:solidFill>
            <a:srgbClr val="141B29"/>
          </a:solidFill>
          <a:ln w="19050">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2834640" cy="2560320"/>
          </a:xfrm>
          <a:prstGeom prst="rect">
            <a:avLst/>
          </a:prstGeom>
          <a:noFill/>
        </p:spPr>
        <p:txBody>
          <a:bodyPr wrap="square" lIns="0" tIns="0" rIns="0" bIns="0">
            <a:spAutoFit/>
          </a:bodyPr>
          <a:lstStyle/>
          <a:p>
            <a:pPr>
              <a:spcAft>
                <a:spcPts val="1000"/>
              </a:spcAft>
              <a:defRPr sz="1600" b="1">
                <a:solidFill>
                  <a:srgbClr val="E2B93B"/>
                </a:solidFill>
                <a:latin typeface="Arial"/>
              </a:defRPr>
            </a:pPr>
            <a:r>
              <a:t>1. Always Square (64×64)</a:t>
            </a:r>
          </a:p>
          <a:p>
            <a:pPr>
              <a:spcAft>
                <a:spcPts val="600"/>
              </a:spcAft>
              <a:defRPr sz="1200">
                <a:solidFill>
                  <a:srgbClr val="F8FAFC"/>
                </a:solidFill>
                <a:latin typeface="Arial"/>
              </a:defRPr>
            </a:pPr>
            <a:r>
              <a:t>•  Images can be any rectangular shape (e.g. 100×64).</a:t>
            </a:r>
          </a:p>
          <a:p>
            <a:pPr>
              <a:spcAft>
                <a:spcPts val="600"/>
              </a:spcAft>
              <a:defRPr sz="1200">
                <a:solidFill>
                  <a:srgbClr val="F8FAFC"/>
                </a:solidFill>
                <a:latin typeface="Arial"/>
              </a:defRPr>
            </a:pPr>
            <a:r>
              <a:t>•  Rectangular matrices cannot have standard eigenvalues!</a:t>
            </a:r>
          </a:p>
          <a:p>
            <a:pPr>
              <a:spcAft>
                <a:spcPts val="600"/>
              </a:spcAft>
              <a:defRPr sz="1200">
                <a:solidFill>
                  <a:srgbClr val="F8FAFC"/>
                </a:solidFill>
                <a:latin typeface="Arial"/>
              </a:defRPr>
            </a:pPr>
            <a:r>
              <a:t>•  C = A^T * A is GUARANTEED to be square (64×64).</a:t>
            </a:r>
          </a:p>
        </p:txBody>
      </p:sp>
      <p:sp>
        <p:nvSpPr>
          <p:cNvPr id="9" name="Rounded Rectangle 8"/>
          <p:cNvSpPr/>
          <p:nvPr/>
        </p:nvSpPr>
        <p:spPr>
          <a:xfrm>
            <a:off x="4434840" y="1920240"/>
            <a:ext cx="3291840" cy="2926080"/>
          </a:xfrm>
          <a:prstGeom prst="roundRect">
            <a:avLst/>
          </a:prstGeom>
          <a:solidFill>
            <a:srgbClr val="141B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2103120"/>
            <a:ext cx="2834640" cy="2560320"/>
          </a:xfrm>
          <a:prstGeom prst="rect">
            <a:avLst/>
          </a:prstGeom>
          <a:noFill/>
        </p:spPr>
        <p:txBody>
          <a:bodyPr wrap="square" lIns="0" tIns="0" rIns="0" bIns="0">
            <a:spAutoFit/>
          </a:bodyPr>
          <a:lstStyle/>
          <a:p>
            <a:pPr>
              <a:spcAft>
                <a:spcPts val="1000"/>
              </a:spcAft>
              <a:defRPr sz="1600" b="1">
                <a:solidFill>
                  <a:srgbClr val="38BDF8"/>
                </a:solidFill>
                <a:latin typeface="Arial"/>
              </a:defRPr>
            </a:pPr>
            <a:r>
              <a:t>2. Perfectly Symmetric</a:t>
            </a:r>
          </a:p>
          <a:p>
            <a:pPr>
              <a:spcAft>
                <a:spcPts val="600"/>
              </a:spcAft>
              <a:defRPr sz="1200">
                <a:solidFill>
                  <a:srgbClr val="F8FAFC"/>
                </a:solidFill>
                <a:latin typeface="Arial"/>
              </a:defRPr>
            </a:pPr>
            <a:r>
              <a:t>•  C is a mirror matrix: C = C^T.</a:t>
            </a:r>
          </a:p>
          <a:p>
            <a:pPr>
              <a:spcAft>
                <a:spcPts val="600"/>
              </a:spcAft>
              <a:defRPr sz="1200">
                <a:solidFill>
                  <a:srgbClr val="F8FAFC"/>
                </a:solidFill>
                <a:latin typeface="Arial"/>
              </a:defRPr>
            </a:pPr>
            <a:r>
              <a:t>•  The Spectral Theorem guarantees that all eigenvalues of a symmetric matrix are REAL numbers.</a:t>
            </a:r>
          </a:p>
          <a:p>
            <a:pPr>
              <a:spcAft>
                <a:spcPts val="600"/>
              </a:spcAft>
              <a:defRPr sz="1200">
                <a:solidFill>
                  <a:srgbClr val="F8FAFC"/>
                </a:solidFill>
                <a:latin typeface="Arial"/>
              </a:defRPr>
            </a:pPr>
            <a:r>
              <a:t>•  No imaginary (sqrt(-1)) numbers can ever appear!</a:t>
            </a:r>
          </a:p>
        </p:txBody>
      </p:sp>
      <p:sp>
        <p:nvSpPr>
          <p:cNvPr id="11" name="Rounded Rectangle 10"/>
          <p:cNvSpPr/>
          <p:nvPr/>
        </p:nvSpPr>
        <p:spPr>
          <a:xfrm>
            <a:off x="7955279" y="1920240"/>
            <a:ext cx="3291840" cy="2926080"/>
          </a:xfrm>
          <a:prstGeom prst="roundRect">
            <a:avLst/>
          </a:prstGeom>
          <a:solidFill>
            <a:srgbClr val="141B29"/>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2103120"/>
            <a:ext cx="2834640" cy="2560320"/>
          </a:xfrm>
          <a:prstGeom prst="rect">
            <a:avLst/>
          </a:prstGeom>
          <a:noFill/>
        </p:spPr>
        <p:txBody>
          <a:bodyPr wrap="square" lIns="0" tIns="0" rIns="0" bIns="0">
            <a:spAutoFit/>
          </a:bodyPr>
          <a:lstStyle/>
          <a:p>
            <a:pPr>
              <a:spcAft>
                <a:spcPts val="1000"/>
              </a:spcAft>
              <a:defRPr sz="1600" b="1">
                <a:solidFill>
                  <a:srgbClr val="34D399"/>
                </a:solidFill>
                <a:latin typeface="Arial"/>
              </a:defRPr>
            </a:pPr>
            <a:r>
              <a:t>3. Perpendicular Axes</a:t>
            </a:r>
          </a:p>
          <a:p>
            <a:pPr>
              <a:spcAft>
                <a:spcPts val="600"/>
              </a:spcAft>
              <a:defRPr sz="1200">
                <a:solidFill>
                  <a:srgbClr val="F8FAFC"/>
                </a:solidFill>
                <a:latin typeface="Arial"/>
              </a:defRPr>
            </a:pPr>
            <a:r>
              <a:t>•  Its eigenvectors are completely orthogonal (perpendicular: 90 degrees).</a:t>
            </a:r>
          </a:p>
          <a:p>
            <a:pPr>
              <a:spcAft>
                <a:spcPts val="600"/>
              </a:spcAft>
              <a:defRPr sz="1200">
                <a:solidFill>
                  <a:srgbClr val="F8FAFC"/>
                </a:solidFill>
                <a:latin typeface="Arial"/>
              </a:defRPr>
            </a:pPr>
            <a:r>
              <a:t>•  Zero overlap between features.</a:t>
            </a:r>
          </a:p>
          <a:p>
            <a:pPr>
              <a:spcAft>
                <a:spcPts val="600"/>
              </a:spcAft>
              <a:defRPr sz="1200">
                <a:solidFill>
                  <a:srgbClr val="F8FAFC"/>
                </a:solidFill>
                <a:latin typeface="Arial"/>
              </a:defRPr>
            </a:pPr>
            <a:r>
              <a:t>•  Positive Semi-Definite: All eigenvalues are &gt;= 0 (no negative energy).</a:t>
            </a:r>
          </a:p>
        </p:txBody>
      </p:sp>
      <p:sp>
        <p:nvSpPr>
          <p:cNvPr id="13" name="Rounded Rectangle 12"/>
          <p:cNvSpPr/>
          <p:nvPr/>
        </p:nvSpPr>
        <p:spPr>
          <a:xfrm>
            <a:off x="731520" y="5029200"/>
            <a:ext cx="10698480" cy="1371600"/>
          </a:xfrm>
          <a:prstGeom prst="roundRect">
            <a:avLst/>
          </a:prstGeom>
          <a:solidFill>
            <a:srgbClr val="10201C"/>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138928"/>
            <a:ext cx="10332720" cy="1152144"/>
          </a:xfrm>
          <a:prstGeom prst="rect">
            <a:avLst/>
          </a:prstGeom>
          <a:noFill/>
        </p:spPr>
        <p:txBody>
          <a:bodyPr wrap="square" lIns="0" tIns="0" rIns="0" bIns="0">
            <a:spAutoFit/>
          </a:bodyPr>
          <a:lstStyle/>
          <a:p>
            <a:pPr>
              <a:spcAft>
                <a:spcPts val="400"/>
              </a:spcAft>
              <a:defRPr sz="1000" b="1">
                <a:solidFill>
                  <a:srgbClr val="34D399"/>
                </a:solidFill>
                <a:latin typeface="Arial"/>
              </a:defRPr>
            </a:pPr>
            <a:r>
              <a:t>🗣️ WHAT TO SAY TO YOUR TEACHER:</a:t>
            </a:r>
          </a:p>
          <a:p>
            <a:pPr>
              <a:defRPr sz="1100">
                <a:solidFill>
                  <a:srgbClr val="DCFCE7"/>
                </a:solidFill>
                <a:latin typeface="Arial"/>
              </a:defRPr>
            </a:pPr>
            <a:r>
              <a:t>"Professor, images are rectangular, but eigenvalues only exist for square matrices. The covariance matrix C = A^T * A is always square and symmetric. By the Spectral Theorem, symmetry guarantees our eigenvalues are real numbers and the eigenvectors are 100% perpendicular."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36576"/>
          </a:xfrm>
          <a:prstGeom prst="rect">
            <a:avLst/>
          </a:prstGeom>
          <a:solidFill>
            <a:srgbClr val="E2B93B"/>
          </a:solidFill>
          <a:ln>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698480" cy="274320"/>
          </a:xfrm>
          <a:prstGeom prst="rect">
            <a:avLst/>
          </a:prstGeom>
          <a:noFill/>
        </p:spPr>
        <p:txBody>
          <a:bodyPr wrap="square" lIns="0" tIns="0" rIns="0" bIns="0">
            <a:spAutoFit/>
          </a:bodyPr>
          <a:lstStyle/>
          <a:p>
            <a:pPr>
              <a:defRPr sz="1100" b="1">
                <a:solidFill>
                  <a:srgbClr val="E2B93B"/>
                </a:solidFill>
                <a:latin typeface="Arial"/>
              </a:defRPr>
            </a:pPr>
            <a:r>
              <a:t>STEP 3: WHAT DO THEY MEAN?</a:t>
            </a:r>
          </a:p>
        </p:txBody>
      </p:sp>
      <p:sp>
        <p:nvSpPr>
          <p:cNvPr id="5" name="TextBox 4"/>
          <p:cNvSpPr txBox="1"/>
          <p:nvPr/>
        </p:nvSpPr>
        <p:spPr>
          <a:xfrm>
            <a:off x="731520" y="868680"/>
            <a:ext cx="10698480" cy="594360"/>
          </a:xfrm>
          <a:prstGeom prst="rect">
            <a:avLst/>
          </a:prstGeom>
          <a:noFill/>
        </p:spPr>
        <p:txBody>
          <a:bodyPr wrap="square" lIns="0" tIns="0" rIns="0" bIns="0">
            <a:spAutoFit/>
          </a:bodyPr>
          <a:lstStyle/>
          <a:p>
            <a:pPr>
              <a:defRPr sz="2500" b="1">
                <a:solidFill>
                  <a:srgbClr val="F8FAFC"/>
                </a:solidFill>
                <a:latin typeface="Arial"/>
              </a:defRPr>
            </a:pPr>
            <a:r>
              <a:t>Eigenvalues &amp; Eigenvectors Made Simple</a:t>
            </a:r>
          </a:p>
        </p:txBody>
      </p:sp>
      <p:sp>
        <p:nvSpPr>
          <p:cNvPr id="6" name="TextBox 5"/>
          <p:cNvSpPr txBox="1"/>
          <p:nvPr/>
        </p:nvSpPr>
        <p:spPr>
          <a:xfrm>
            <a:off x="731520" y="1417320"/>
            <a:ext cx="10698480" cy="365760"/>
          </a:xfrm>
          <a:prstGeom prst="rect">
            <a:avLst/>
          </a:prstGeom>
          <a:noFill/>
        </p:spPr>
        <p:txBody>
          <a:bodyPr wrap="square" lIns="0" tIns="0" rIns="0" bIns="0">
            <a:spAutoFit/>
          </a:bodyPr>
          <a:lstStyle/>
          <a:p>
            <a:pPr>
              <a:defRPr sz="1300">
                <a:solidFill>
                  <a:srgbClr val="9CABC2"/>
                </a:solidFill>
                <a:latin typeface="Arial"/>
              </a:defRPr>
            </a:pPr>
            <a:r>
              <a:t>Think of them as 'Feature Directions' and 'Importance Scores'.</a:t>
            </a:r>
          </a:p>
        </p:txBody>
      </p:sp>
      <p:sp>
        <p:nvSpPr>
          <p:cNvPr id="7" name="Rounded Rectangle 6"/>
          <p:cNvSpPr/>
          <p:nvPr/>
        </p:nvSpPr>
        <p:spPr>
          <a:xfrm>
            <a:off x="731520" y="1920240"/>
            <a:ext cx="5120640" cy="2926080"/>
          </a:xfrm>
          <a:prstGeom prst="roundRect">
            <a:avLst/>
          </a:prstGeom>
          <a:solidFill>
            <a:srgbClr val="141B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663440" cy="2560320"/>
          </a:xfrm>
          <a:prstGeom prst="rect">
            <a:avLst/>
          </a:prstGeom>
          <a:noFill/>
        </p:spPr>
        <p:txBody>
          <a:bodyPr wrap="square" lIns="0" tIns="0" rIns="0" bIns="0">
            <a:spAutoFit/>
          </a:bodyPr>
          <a:lstStyle/>
          <a:p>
            <a:pPr>
              <a:spcAft>
                <a:spcPts val="1000"/>
              </a:spcAft>
              <a:defRPr sz="1600" b="1">
                <a:solidFill>
                  <a:srgbClr val="38BDF8"/>
                </a:solidFill>
                <a:latin typeface="Arial"/>
              </a:defRPr>
            </a:pPr>
            <a:r>
              <a:t>Eigenvector (v) = The Direction</a:t>
            </a:r>
          </a:p>
          <a:p>
            <a:pPr>
              <a:spcAft>
                <a:spcPts val="600"/>
              </a:spcAft>
              <a:defRPr sz="1200">
                <a:solidFill>
                  <a:srgbClr val="F8FAFC"/>
                </a:solidFill>
                <a:latin typeface="Arial"/>
              </a:defRPr>
            </a:pPr>
            <a:r>
              <a:t>•  An eigenvector is a direction or axis in the image.</a:t>
            </a:r>
          </a:p>
          <a:p>
            <a:pPr>
              <a:spcAft>
                <a:spcPts val="600"/>
              </a:spcAft>
              <a:defRPr sz="1200">
                <a:solidFill>
                  <a:srgbClr val="F8FAFC"/>
                </a:solidFill>
                <a:latin typeface="Arial"/>
              </a:defRPr>
            </a:pPr>
            <a:r>
              <a:t>•  It points along a key visual pattern — like the horizontal boundary of a jawline, or the vertical shadow across a nose.</a:t>
            </a:r>
          </a:p>
          <a:p>
            <a:pPr>
              <a:spcAft>
                <a:spcPts val="600"/>
              </a:spcAft>
              <a:defRPr sz="1200">
                <a:solidFill>
                  <a:srgbClr val="F8FAFC"/>
                </a:solidFill>
                <a:latin typeface="Arial"/>
              </a:defRPr>
            </a:pPr>
            <a:r>
              <a:t>•  All eigenvectors are perpendicular to each other ($v_1 \perp v_2$).</a:t>
            </a:r>
          </a:p>
          <a:p>
            <a:pPr>
              <a:spcAft>
                <a:spcPts val="600"/>
              </a:spcAft>
              <a:defRPr sz="1200">
                <a:solidFill>
                  <a:srgbClr val="F8FAFC"/>
                </a:solidFill>
                <a:latin typeface="Arial"/>
              </a:defRPr>
            </a:pPr>
            <a:r>
              <a:t>•  They form a custom coordinate system tailored specifically to this picture.</a:t>
            </a:r>
          </a:p>
        </p:txBody>
      </p:sp>
      <p:sp>
        <p:nvSpPr>
          <p:cNvPr id="9" name="Rounded Rectangle 8"/>
          <p:cNvSpPr/>
          <p:nvPr/>
        </p:nvSpPr>
        <p:spPr>
          <a:xfrm>
            <a:off x="6309360" y="1920240"/>
            <a:ext cx="5120640" cy="2926080"/>
          </a:xfrm>
          <a:prstGeom prst="roundRect">
            <a:avLst/>
          </a:prstGeom>
          <a:solidFill>
            <a:srgbClr val="141B29"/>
          </a:solidFill>
          <a:ln w="19050">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103120"/>
            <a:ext cx="4663440" cy="2560320"/>
          </a:xfrm>
          <a:prstGeom prst="rect">
            <a:avLst/>
          </a:prstGeom>
          <a:noFill/>
        </p:spPr>
        <p:txBody>
          <a:bodyPr wrap="square" lIns="0" tIns="0" rIns="0" bIns="0">
            <a:spAutoFit/>
          </a:bodyPr>
          <a:lstStyle/>
          <a:p>
            <a:pPr>
              <a:spcAft>
                <a:spcPts val="1000"/>
              </a:spcAft>
              <a:defRPr sz="1600" b="1">
                <a:solidFill>
                  <a:srgbClr val="E2B93B"/>
                </a:solidFill>
                <a:latin typeface="Arial"/>
              </a:defRPr>
            </a:pPr>
            <a:r>
              <a:t>Eigenvalue (lambda) = The Importance Score</a:t>
            </a:r>
          </a:p>
          <a:p>
            <a:pPr>
              <a:spcAft>
                <a:spcPts val="600"/>
              </a:spcAft>
              <a:defRPr sz="1200">
                <a:solidFill>
                  <a:srgbClr val="F8FAFC"/>
                </a:solidFill>
                <a:latin typeface="Arial"/>
              </a:defRPr>
            </a:pPr>
            <a:r>
              <a:t>•  Each eigenvector has an eigenvalue: C v = lambda * v.</a:t>
            </a:r>
          </a:p>
          <a:p>
            <a:pPr>
              <a:spcAft>
                <a:spcPts val="600"/>
              </a:spcAft>
              <a:defRPr sz="1200">
                <a:solidFill>
                  <a:srgbClr val="F8FAFC"/>
                </a:solidFill>
                <a:latin typeface="Arial"/>
              </a:defRPr>
            </a:pPr>
            <a:r>
              <a:t>•  The eigenvalue equals the VARIANCE (amount of information) along that direction.</a:t>
            </a:r>
          </a:p>
          <a:p>
            <a:pPr>
              <a:spcAft>
                <a:spcPts val="600"/>
              </a:spcAft>
              <a:defRPr sz="1200">
                <a:solidFill>
                  <a:srgbClr val="F8FAFC"/>
                </a:solidFill>
                <a:latin typeface="Arial"/>
              </a:defRPr>
            </a:pPr>
            <a:r>
              <a:t>•  Big lambda (e.g. 8.4): Major shape, high contrast, strong lighting.</a:t>
            </a:r>
          </a:p>
          <a:p>
            <a:pPr>
              <a:spcAft>
                <a:spcPts val="600"/>
              </a:spcAft>
              <a:defRPr sz="1200">
                <a:solidFill>
                  <a:srgbClr val="F8FAFC"/>
                </a:solidFill>
                <a:latin typeface="Arial"/>
              </a:defRPr>
            </a:pPr>
            <a:r>
              <a:t>•  Tiny lambda (e.g. 0.001): Fine grain, background noise, invisible detail.</a:t>
            </a:r>
          </a:p>
        </p:txBody>
      </p:sp>
      <p:sp>
        <p:nvSpPr>
          <p:cNvPr id="11" name="Rounded Rectangle 10"/>
          <p:cNvSpPr/>
          <p:nvPr/>
        </p:nvSpPr>
        <p:spPr>
          <a:xfrm>
            <a:off x="731520" y="5029200"/>
            <a:ext cx="10698480" cy="1371600"/>
          </a:xfrm>
          <a:prstGeom prst="roundRect">
            <a:avLst/>
          </a:prstGeom>
          <a:solidFill>
            <a:srgbClr val="10201C"/>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38928"/>
            <a:ext cx="10332720" cy="1152144"/>
          </a:xfrm>
          <a:prstGeom prst="rect">
            <a:avLst/>
          </a:prstGeom>
          <a:noFill/>
        </p:spPr>
        <p:txBody>
          <a:bodyPr wrap="square" lIns="0" tIns="0" rIns="0" bIns="0">
            <a:spAutoFit/>
          </a:bodyPr>
          <a:lstStyle/>
          <a:p>
            <a:pPr>
              <a:spcAft>
                <a:spcPts val="400"/>
              </a:spcAft>
              <a:defRPr sz="1000" b="1">
                <a:solidFill>
                  <a:srgbClr val="34D399"/>
                </a:solidFill>
                <a:latin typeface="Arial"/>
              </a:defRPr>
            </a:pPr>
            <a:r>
              <a:t>🗣️ WHAT TO SAY TO YOUR TEACHER:</a:t>
            </a:r>
          </a:p>
          <a:p>
            <a:pPr>
              <a:defRPr sz="1100">
                <a:solidFill>
                  <a:srgbClr val="DCFCE7"/>
                </a:solidFill>
                <a:latin typeface="Arial"/>
              </a:defRPr>
            </a:pPr>
            <a:r>
              <a:t>"An eigenvector is an axis or pattern direction in the image, and the eigenvalue is its importance score. The bigger the eigenvalue, the more image details lie along that line. The top 16 eigenvalues carry over 91% of the entire picture's energy."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36576"/>
          </a:xfrm>
          <a:prstGeom prst="rect">
            <a:avLst/>
          </a:prstGeom>
          <a:solidFill>
            <a:srgbClr val="E2B93B"/>
          </a:solidFill>
          <a:ln>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698480" cy="274320"/>
          </a:xfrm>
          <a:prstGeom prst="rect">
            <a:avLst/>
          </a:prstGeom>
          <a:noFill/>
        </p:spPr>
        <p:txBody>
          <a:bodyPr wrap="square" lIns="0" tIns="0" rIns="0" bIns="0">
            <a:spAutoFit/>
          </a:bodyPr>
          <a:lstStyle/>
          <a:p>
            <a:pPr>
              <a:defRPr sz="1100" b="1">
                <a:solidFill>
                  <a:srgbClr val="E2B93B"/>
                </a:solidFill>
                <a:latin typeface="Arial"/>
              </a:defRPr>
            </a:pPr>
            <a:r>
              <a:t>STEP 4: COMPRESSING &amp; REBUILDING</a:t>
            </a:r>
          </a:p>
        </p:txBody>
      </p:sp>
      <p:sp>
        <p:nvSpPr>
          <p:cNvPr id="5" name="TextBox 4"/>
          <p:cNvSpPr txBox="1"/>
          <p:nvPr/>
        </p:nvSpPr>
        <p:spPr>
          <a:xfrm>
            <a:off x="731520" y="868680"/>
            <a:ext cx="10698480" cy="594360"/>
          </a:xfrm>
          <a:prstGeom prst="rect">
            <a:avLst/>
          </a:prstGeom>
          <a:noFill/>
        </p:spPr>
        <p:txBody>
          <a:bodyPr wrap="square" lIns="0" tIns="0" rIns="0" bIns="0">
            <a:spAutoFit/>
          </a:bodyPr>
          <a:lstStyle/>
          <a:p>
            <a:pPr>
              <a:defRPr sz="2500" b="1">
                <a:solidFill>
                  <a:srgbClr val="F8FAFC"/>
                </a:solidFill>
                <a:latin typeface="Arial"/>
              </a:defRPr>
            </a:pPr>
            <a:r>
              <a:t>Encoding to Top-16 and Reconstructing</a:t>
            </a:r>
          </a:p>
        </p:txBody>
      </p:sp>
      <p:sp>
        <p:nvSpPr>
          <p:cNvPr id="6" name="TextBox 5"/>
          <p:cNvSpPr txBox="1"/>
          <p:nvPr/>
        </p:nvSpPr>
        <p:spPr>
          <a:xfrm>
            <a:off x="731520" y="1417320"/>
            <a:ext cx="10698480" cy="365760"/>
          </a:xfrm>
          <a:prstGeom prst="rect">
            <a:avLst/>
          </a:prstGeom>
          <a:noFill/>
        </p:spPr>
        <p:txBody>
          <a:bodyPr wrap="square" lIns="0" tIns="0" rIns="0" bIns="0">
            <a:spAutoFit/>
          </a:bodyPr>
          <a:lstStyle/>
          <a:p>
            <a:pPr>
              <a:defRPr sz="1300">
                <a:solidFill>
                  <a:srgbClr val="9CABC2"/>
                </a:solidFill>
                <a:latin typeface="Arial"/>
              </a:defRPr>
            </a:pPr>
            <a:r>
              <a:t>How we compress 4,096 values and rebuild the picture.</a:t>
            </a:r>
          </a:p>
        </p:txBody>
      </p:sp>
      <p:sp>
        <p:nvSpPr>
          <p:cNvPr id="7" name="Rounded Rectangle 6"/>
          <p:cNvSpPr/>
          <p:nvPr/>
        </p:nvSpPr>
        <p:spPr>
          <a:xfrm>
            <a:off x="731520" y="1920240"/>
            <a:ext cx="5120640" cy="2926080"/>
          </a:xfrm>
          <a:prstGeom prst="roundRect">
            <a:avLst/>
          </a:prstGeom>
          <a:solidFill>
            <a:srgbClr val="141B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663440" cy="2560320"/>
          </a:xfrm>
          <a:prstGeom prst="rect">
            <a:avLst/>
          </a:prstGeom>
          <a:noFill/>
        </p:spPr>
        <p:txBody>
          <a:bodyPr wrap="square" lIns="0" tIns="0" rIns="0" bIns="0">
            <a:spAutoFit/>
          </a:bodyPr>
          <a:lstStyle/>
          <a:p>
            <a:pPr>
              <a:spcAft>
                <a:spcPts val="1000"/>
              </a:spcAft>
              <a:defRPr sz="1600" b="1">
                <a:solidFill>
                  <a:srgbClr val="38BDF8"/>
                </a:solidFill>
                <a:latin typeface="Arial"/>
              </a:defRPr>
            </a:pPr>
            <a:r>
              <a:t>Compression (Encoding to k=16)</a:t>
            </a:r>
          </a:p>
          <a:p>
            <a:pPr>
              <a:spcAft>
                <a:spcPts val="600"/>
              </a:spcAft>
              <a:defRPr sz="1200">
                <a:solidFill>
                  <a:srgbClr val="F8FAFC"/>
                </a:solidFill>
                <a:latin typeface="Arial"/>
              </a:defRPr>
            </a:pPr>
            <a:r>
              <a:t>•  We pick the top k = 16 eigenvectors: V_16 (size 64 × 16).</a:t>
            </a:r>
          </a:p>
          <a:p>
            <a:pPr>
              <a:spcAft>
                <a:spcPts val="600"/>
              </a:spcAft>
              <a:defRPr sz="1200">
                <a:solidFill>
                  <a:srgbClr val="F8FAFC"/>
                </a:solidFill>
                <a:latin typeface="Arial"/>
              </a:defRPr>
            </a:pPr>
            <a:r>
              <a:t>•  We project the image: Z = A_tilde * V_16 (size 64 × 16).</a:t>
            </a:r>
          </a:p>
          <a:p>
            <a:pPr>
              <a:spcAft>
                <a:spcPts val="600"/>
              </a:spcAft>
              <a:defRPr sz="1200">
                <a:solidFill>
                  <a:srgbClr val="F8FAFC"/>
                </a:solidFill>
                <a:latin typeface="Arial"/>
              </a:defRPr>
            </a:pPr>
            <a:r>
              <a:t>•  Instead of 64 columns, we now store only 16 columns!</a:t>
            </a:r>
          </a:p>
          <a:p>
            <a:pPr>
              <a:spcAft>
                <a:spcPts val="600"/>
              </a:spcAft>
              <a:defRPr sz="1200">
                <a:solidFill>
                  <a:srgbClr val="F8FAFC"/>
                </a:solidFill>
                <a:latin typeface="Arial"/>
              </a:defRPr>
            </a:pPr>
            <a:r>
              <a:t>•  75% of column data is completely removed.</a:t>
            </a:r>
          </a:p>
          <a:p>
            <a:pPr>
              <a:spcAft>
                <a:spcPts val="600"/>
              </a:spcAft>
              <a:defRPr sz="1200">
                <a:solidFill>
                  <a:srgbClr val="F8FAFC"/>
                </a:solidFill>
                <a:latin typeface="Arial"/>
              </a:defRPr>
            </a:pPr>
            <a:r>
              <a:t>•  Z holds the compressed coordinates.</a:t>
            </a:r>
          </a:p>
        </p:txBody>
      </p:sp>
      <p:sp>
        <p:nvSpPr>
          <p:cNvPr id="9" name="Rounded Rectangle 8"/>
          <p:cNvSpPr/>
          <p:nvPr/>
        </p:nvSpPr>
        <p:spPr>
          <a:xfrm>
            <a:off x="6309360" y="1920240"/>
            <a:ext cx="5120640" cy="2926080"/>
          </a:xfrm>
          <a:prstGeom prst="roundRect">
            <a:avLst/>
          </a:prstGeom>
          <a:solidFill>
            <a:srgbClr val="141B29"/>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103120"/>
            <a:ext cx="4663440" cy="2560320"/>
          </a:xfrm>
          <a:prstGeom prst="rect">
            <a:avLst/>
          </a:prstGeom>
          <a:noFill/>
        </p:spPr>
        <p:txBody>
          <a:bodyPr wrap="square" lIns="0" tIns="0" rIns="0" bIns="0">
            <a:spAutoFit/>
          </a:bodyPr>
          <a:lstStyle/>
          <a:p>
            <a:pPr>
              <a:spcAft>
                <a:spcPts val="1000"/>
              </a:spcAft>
              <a:defRPr sz="1600" b="1">
                <a:solidFill>
                  <a:srgbClr val="34D399"/>
                </a:solidFill>
                <a:latin typeface="Arial"/>
              </a:defRPr>
            </a:pPr>
            <a:r>
              <a:t>Reconstruction (Decoding)</a:t>
            </a:r>
          </a:p>
          <a:p>
            <a:pPr>
              <a:spcAft>
                <a:spcPts val="600"/>
              </a:spcAft>
              <a:defRPr sz="1200">
                <a:solidFill>
                  <a:srgbClr val="F8FAFC"/>
                </a:solidFill>
                <a:latin typeface="Arial"/>
              </a:defRPr>
            </a:pPr>
            <a:r>
              <a:t>•  To get the picture back, we multiply by V_16 transposed and add the mean:</a:t>
            </a:r>
          </a:p>
          <a:p>
            <a:pPr>
              <a:spcAft>
                <a:spcPts val="600"/>
              </a:spcAft>
              <a:defRPr sz="1200">
                <a:solidFill>
                  <a:srgbClr val="F8FAFC"/>
                </a:solidFill>
                <a:latin typeface="Arial"/>
              </a:defRPr>
            </a:pPr>
            <a:r>
              <a:t>•  Reconstructed A = Z * V_16^T + mu.</a:t>
            </a:r>
          </a:p>
          <a:p>
            <a:pPr>
              <a:spcAft>
                <a:spcPts val="600"/>
              </a:spcAft>
              <a:defRPr sz="1200">
                <a:solidFill>
                  <a:srgbClr val="F8FAFC"/>
                </a:solidFill>
                <a:latin typeface="Arial"/>
              </a:defRPr>
            </a:pPr>
            <a:r>
              <a:t>•  Eckart-Young Theorem (1936):</a:t>
            </a:r>
          </a:p>
          <a:p>
            <a:pPr>
              <a:spcAft>
                <a:spcPts val="600"/>
              </a:spcAft>
              <a:defRPr sz="1200">
                <a:solidFill>
                  <a:srgbClr val="F8FAFC"/>
                </a:solidFill>
                <a:latin typeface="Arial"/>
              </a:defRPr>
            </a:pPr>
            <a:r>
              <a:t>•  This mathematical theorem proves that NO OTHER 16-number formula can produce a closer match than this.</a:t>
            </a:r>
          </a:p>
          <a:p>
            <a:pPr>
              <a:spcAft>
                <a:spcPts val="600"/>
              </a:spcAft>
              <a:defRPr sz="1200">
                <a:solidFill>
                  <a:srgbClr val="F8FAFC"/>
                </a:solidFill>
                <a:latin typeface="Arial"/>
              </a:defRPr>
            </a:pPr>
            <a:r>
              <a:t>•  It is mathematically the optimal approximation.</a:t>
            </a:r>
          </a:p>
        </p:txBody>
      </p:sp>
      <p:sp>
        <p:nvSpPr>
          <p:cNvPr id="11" name="Rounded Rectangle 10"/>
          <p:cNvSpPr/>
          <p:nvPr/>
        </p:nvSpPr>
        <p:spPr>
          <a:xfrm>
            <a:off x="731520" y="5029200"/>
            <a:ext cx="10698480" cy="1371600"/>
          </a:xfrm>
          <a:prstGeom prst="roundRect">
            <a:avLst/>
          </a:prstGeom>
          <a:solidFill>
            <a:srgbClr val="10201C"/>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38928"/>
            <a:ext cx="10332720" cy="1152144"/>
          </a:xfrm>
          <a:prstGeom prst="rect">
            <a:avLst/>
          </a:prstGeom>
          <a:noFill/>
        </p:spPr>
        <p:txBody>
          <a:bodyPr wrap="square" lIns="0" tIns="0" rIns="0" bIns="0">
            <a:spAutoFit/>
          </a:bodyPr>
          <a:lstStyle/>
          <a:p>
            <a:pPr>
              <a:spcAft>
                <a:spcPts val="400"/>
              </a:spcAft>
              <a:defRPr sz="1000" b="1">
                <a:solidFill>
                  <a:srgbClr val="34D399"/>
                </a:solidFill>
                <a:latin typeface="Arial"/>
              </a:defRPr>
            </a:pPr>
            <a:r>
              <a:t>🗣️ WHAT TO SAY TO YOUR TEACHER:</a:t>
            </a:r>
          </a:p>
          <a:p>
            <a:pPr>
              <a:defRPr sz="1100">
                <a:solidFill>
                  <a:srgbClr val="DCFCE7"/>
                </a:solidFill>
                <a:latin typeface="Arial"/>
              </a:defRPr>
            </a:pPr>
            <a:r>
              <a:t>"We take the top 16 eigenvectors, project the image onto them (giving 75% compression), and multiply back to reconstruct. By the Eckart-Young theorem, this is provably the best possible 16-component approximation that exists in linear algebra."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36576"/>
          </a:xfrm>
          <a:prstGeom prst="rect">
            <a:avLst/>
          </a:prstGeom>
          <a:solidFill>
            <a:srgbClr val="E2B93B"/>
          </a:solidFill>
          <a:ln>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698480" cy="274320"/>
          </a:xfrm>
          <a:prstGeom prst="rect">
            <a:avLst/>
          </a:prstGeom>
          <a:noFill/>
        </p:spPr>
        <p:txBody>
          <a:bodyPr wrap="square" lIns="0" tIns="0" rIns="0" bIns="0">
            <a:spAutoFit/>
          </a:bodyPr>
          <a:lstStyle/>
          <a:p>
            <a:pPr>
              <a:defRPr sz="1100" b="1">
                <a:solidFill>
                  <a:srgbClr val="E2B93B"/>
                </a:solidFill>
                <a:latin typeface="Arial"/>
              </a:defRPr>
            </a:pPr>
            <a:r>
              <a:t>VISUAL ANALYSIS (IMPORTANT!)</a:t>
            </a:r>
          </a:p>
        </p:txBody>
      </p:sp>
      <p:sp>
        <p:nvSpPr>
          <p:cNvPr id="5" name="TextBox 4"/>
          <p:cNvSpPr txBox="1"/>
          <p:nvPr/>
        </p:nvSpPr>
        <p:spPr>
          <a:xfrm>
            <a:off x="731520" y="868680"/>
            <a:ext cx="10698480" cy="594360"/>
          </a:xfrm>
          <a:prstGeom prst="rect">
            <a:avLst/>
          </a:prstGeom>
          <a:noFill/>
        </p:spPr>
        <p:txBody>
          <a:bodyPr wrap="square" lIns="0" tIns="0" rIns="0" bIns="0">
            <a:spAutoFit/>
          </a:bodyPr>
          <a:lstStyle/>
          <a:p>
            <a:pPr>
              <a:defRPr sz="2500" b="1">
                <a:solidFill>
                  <a:srgbClr val="F8FAFC"/>
                </a:solidFill>
                <a:latin typeface="Arial"/>
              </a:defRPr>
            </a:pPr>
            <a:r>
              <a:t>Why Does the Reconstructed Image Look Blurred?</a:t>
            </a:r>
          </a:p>
        </p:txBody>
      </p:sp>
      <p:sp>
        <p:nvSpPr>
          <p:cNvPr id="6" name="TextBox 5"/>
          <p:cNvSpPr txBox="1"/>
          <p:nvPr/>
        </p:nvSpPr>
        <p:spPr>
          <a:xfrm>
            <a:off x="731520" y="1417320"/>
            <a:ext cx="10698480" cy="365760"/>
          </a:xfrm>
          <a:prstGeom prst="rect">
            <a:avLst/>
          </a:prstGeom>
          <a:noFill/>
        </p:spPr>
        <p:txBody>
          <a:bodyPr wrap="square" lIns="0" tIns="0" rIns="0" bIns="0">
            <a:spAutoFit/>
          </a:bodyPr>
          <a:lstStyle/>
          <a:p>
            <a:pPr>
              <a:defRPr sz="1300">
                <a:solidFill>
                  <a:srgbClr val="9CABC2"/>
                </a:solidFill>
                <a:latin typeface="Arial"/>
              </a:defRPr>
            </a:pPr>
            <a:r>
              <a:t>The blur is not an error — it is visual proof of data compression!</a:t>
            </a:r>
          </a:p>
        </p:txBody>
      </p:sp>
      <p:sp>
        <p:nvSpPr>
          <p:cNvPr id="7" name="Rounded Rectangle 6"/>
          <p:cNvSpPr/>
          <p:nvPr/>
        </p:nvSpPr>
        <p:spPr>
          <a:xfrm>
            <a:off x="731520" y="1920240"/>
            <a:ext cx="5120640" cy="2926080"/>
          </a:xfrm>
          <a:prstGeom prst="roundRect">
            <a:avLst/>
          </a:prstGeom>
          <a:solidFill>
            <a:srgbClr val="141B29"/>
          </a:solidFill>
          <a:ln w="1905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663440" cy="2560320"/>
          </a:xfrm>
          <a:prstGeom prst="rect">
            <a:avLst/>
          </a:prstGeom>
          <a:noFill/>
        </p:spPr>
        <p:txBody>
          <a:bodyPr wrap="square" lIns="0" tIns="0" rIns="0" bIns="0">
            <a:spAutoFit/>
          </a:bodyPr>
          <a:lstStyle/>
          <a:p>
            <a:pPr>
              <a:spcAft>
                <a:spcPts val="1000"/>
              </a:spcAft>
              <a:defRPr sz="1600" b="1">
                <a:solidFill>
                  <a:srgbClr val="FB7185"/>
                </a:solidFill>
                <a:latin typeface="Arial"/>
              </a:defRPr>
            </a:pPr>
            <a:r>
              <a:t>What Did We Throw Away?</a:t>
            </a:r>
          </a:p>
          <a:p>
            <a:pPr>
              <a:spcAft>
                <a:spcPts val="600"/>
              </a:spcAft>
              <a:defRPr sz="1200">
                <a:solidFill>
                  <a:srgbClr val="F8FAFC"/>
                </a:solidFill>
                <a:latin typeface="Arial"/>
              </a:defRPr>
            </a:pPr>
            <a:r>
              <a:t>•  We threw away 48 out of 64 eigenvalues.</a:t>
            </a:r>
          </a:p>
          <a:p>
            <a:pPr>
              <a:spcAft>
                <a:spcPts val="600"/>
              </a:spcAft>
              <a:defRPr sz="1200">
                <a:solidFill>
                  <a:srgbClr val="F8FAFC"/>
                </a:solidFill>
                <a:latin typeface="Arial"/>
              </a:defRPr>
            </a:pPr>
            <a:r>
              <a:t>•  The discarded eigenvalues represent HIGH FREQUENCIES (tiny sharp lines, hair strands, noise).</a:t>
            </a:r>
          </a:p>
          <a:p>
            <a:pPr>
              <a:spcAft>
                <a:spcPts val="600"/>
              </a:spcAft>
              <a:defRPr sz="1200">
                <a:solidFill>
                  <a:srgbClr val="F8FAFC"/>
                </a:solidFill>
                <a:latin typeface="Arial"/>
              </a:defRPr>
            </a:pPr>
            <a:r>
              <a:t>•  The kept eigenvalues represent LOW FREQUENCIES (main face shape, shadows, contours).</a:t>
            </a:r>
          </a:p>
          <a:p>
            <a:pPr>
              <a:spcAft>
                <a:spcPts val="600"/>
              </a:spcAft>
              <a:defRPr sz="1200">
                <a:solidFill>
                  <a:srgbClr val="F8FAFC"/>
                </a:solidFill>
                <a:latin typeface="Arial"/>
              </a:defRPr>
            </a:pPr>
            <a:r>
              <a:t>•  When you remove high-frequency noise, the image naturally looks softer/smoother!</a:t>
            </a:r>
          </a:p>
        </p:txBody>
      </p:sp>
      <p:sp>
        <p:nvSpPr>
          <p:cNvPr id="9" name="Rounded Rectangle 8"/>
          <p:cNvSpPr/>
          <p:nvPr/>
        </p:nvSpPr>
        <p:spPr>
          <a:xfrm>
            <a:off x="6309360" y="1920240"/>
            <a:ext cx="5120640" cy="2926080"/>
          </a:xfrm>
          <a:prstGeom prst="roundRect">
            <a:avLst/>
          </a:prstGeom>
          <a:solidFill>
            <a:srgbClr val="141B29"/>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103120"/>
            <a:ext cx="4663440" cy="2560320"/>
          </a:xfrm>
          <a:prstGeom prst="rect">
            <a:avLst/>
          </a:prstGeom>
          <a:noFill/>
        </p:spPr>
        <p:txBody>
          <a:bodyPr wrap="square" lIns="0" tIns="0" rIns="0" bIns="0">
            <a:spAutoFit/>
          </a:bodyPr>
          <a:lstStyle/>
          <a:p>
            <a:pPr>
              <a:spcAft>
                <a:spcPts val="1000"/>
              </a:spcAft>
              <a:defRPr sz="1600" b="1">
                <a:solidFill>
                  <a:srgbClr val="34D399"/>
                </a:solidFill>
                <a:latin typeface="Arial"/>
              </a:defRPr>
            </a:pPr>
            <a:r>
              <a:t>Why This Proves It Works!</a:t>
            </a:r>
          </a:p>
          <a:p>
            <a:pPr>
              <a:spcAft>
                <a:spcPts val="600"/>
              </a:spcAft>
              <a:defRPr sz="1200">
                <a:solidFill>
                  <a:srgbClr val="F8FAFC"/>
                </a:solidFill>
                <a:latin typeface="Arial"/>
              </a:defRPr>
            </a:pPr>
            <a:r>
              <a:t>•  If the reconstructed image was 100% sharp and identical, it would mean k = 64 (0% compression!).</a:t>
            </a:r>
          </a:p>
          <a:p>
            <a:pPr>
              <a:spcAft>
                <a:spcPts val="600"/>
              </a:spcAft>
              <a:defRPr sz="1200">
                <a:solidFill>
                  <a:srgbClr val="F8FAFC"/>
                </a:solidFill>
                <a:latin typeface="Arial"/>
              </a:defRPr>
            </a:pPr>
            <a:r>
              <a:t>•  The slight blur proves that 75% of dimensions were discarded.</a:t>
            </a:r>
          </a:p>
          <a:p>
            <a:pPr>
              <a:spcAft>
                <a:spcPts val="600"/>
              </a:spcAft>
              <a:defRPr sz="1200">
                <a:solidFill>
                  <a:srgbClr val="F8FAFC"/>
                </a:solidFill>
                <a:latin typeface="Arial"/>
              </a:defRPr>
            </a:pPr>
            <a:r>
              <a:t>•  Resolution factor: The matrix is 64×64 pixels, so zooming in reveals pixel blocks.</a:t>
            </a:r>
          </a:p>
          <a:p>
            <a:pPr>
              <a:spcAft>
                <a:spcPts val="600"/>
              </a:spcAft>
              <a:defRPr sz="1200">
                <a:solidFill>
                  <a:srgbClr val="F8FAFC"/>
                </a:solidFill>
                <a:latin typeface="Arial"/>
              </a:defRPr>
            </a:pPr>
            <a:r>
              <a:t>•  If we want it sharper: simply increase k to 32 or 48!</a:t>
            </a:r>
          </a:p>
        </p:txBody>
      </p:sp>
      <p:sp>
        <p:nvSpPr>
          <p:cNvPr id="11" name="Rounded Rectangle 10"/>
          <p:cNvSpPr/>
          <p:nvPr/>
        </p:nvSpPr>
        <p:spPr>
          <a:xfrm>
            <a:off x="731520" y="5029200"/>
            <a:ext cx="10698480" cy="1371600"/>
          </a:xfrm>
          <a:prstGeom prst="roundRect">
            <a:avLst/>
          </a:prstGeom>
          <a:solidFill>
            <a:srgbClr val="10201C"/>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38928"/>
            <a:ext cx="10332720" cy="1152144"/>
          </a:xfrm>
          <a:prstGeom prst="rect">
            <a:avLst/>
          </a:prstGeom>
          <a:noFill/>
        </p:spPr>
        <p:txBody>
          <a:bodyPr wrap="square" lIns="0" tIns="0" rIns="0" bIns="0">
            <a:spAutoFit/>
          </a:bodyPr>
          <a:lstStyle/>
          <a:p>
            <a:pPr>
              <a:spcAft>
                <a:spcPts val="400"/>
              </a:spcAft>
              <a:defRPr sz="1000" b="1">
                <a:solidFill>
                  <a:srgbClr val="34D399"/>
                </a:solidFill>
                <a:latin typeface="Arial"/>
              </a:defRPr>
            </a:pPr>
            <a:r>
              <a:t>🗣️ WHAT TO SAY TO YOUR TEACHER:</a:t>
            </a:r>
          </a:p>
          <a:p>
            <a:pPr>
              <a:defRPr sz="1100">
                <a:solidFill>
                  <a:srgbClr val="DCFCE7"/>
                </a:solidFill>
                <a:latin typeface="Arial"/>
              </a:defRPr>
            </a:pPr>
            <a:r>
              <a:t>"Sir/Ma'am, the slight blur is not a defect — it is the visual proof of compression! High eigenvalues hold the broad shape, while low eigenvalues hold sharp micro-details. By discarding the bottom 48 eigenvalues to save space, the image naturally softens. If it wasn't blurred at all, no compression occurred!"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36576"/>
          </a:xfrm>
          <a:prstGeom prst="rect">
            <a:avLst/>
          </a:prstGeom>
          <a:solidFill>
            <a:srgbClr val="E2B93B"/>
          </a:solidFill>
          <a:ln>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698480" cy="274320"/>
          </a:xfrm>
          <a:prstGeom prst="rect">
            <a:avLst/>
          </a:prstGeom>
          <a:noFill/>
        </p:spPr>
        <p:txBody>
          <a:bodyPr wrap="square" lIns="0" tIns="0" rIns="0" bIns="0">
            <a:spAutoFit/>
          </a:bodyPr>
          <a:lstStyle/>
          <a:p>
            <a:pPr>
              <a:defRPr sz="1100" b="1">
                <a:solidFill>
                  <a:srgbClr val="E2B93B"/>
                </a:solidFill>
                <a:latin typeface="Arial"/>
              </a:defRPr>
            </a:pPr>
            <a:r>
              <a:t>EXPERIMENTAL FINDINGS</a:t>
            </a:r>
          </a:p>
        </p:txBody>
      </p:sp>
      <p:sp>
        <p:nvSpPr>
          <p:cNvPr id="5" name="TextBox 4"/>
          <p:cNvSpPr txBox="1"/>
          <p:nvPr/>
        </p:nvSpPr>
        <p:spPr>
          <a:xfrm>
            <a:off x="731520" y="868680"/>
            <a:ext cx="10698480" cy="594360"/>
          </a:xfrm>
          <a:prstGeom prst="rect">
            <a:avLst/>
          </a:prstGeom>
          <a:noFill/>
        </p:spPr>
        <p:txBody>
          <a:bodyPr wrap="square" lIns="0" tIns="0" rIns="0" bIns="0">
            <a:spAutoFit/>
          </a:bodyPr>
          <a:lstStyle/>
          <a:p>
            <a:pPr>
              <a:defRPr sz="2500" b="1">
                <a:solidFill>
                  <a:srgbClr val="F8FAFC"/>
                </a:solidFill>
                <a:latin typeface="Arial"/>
              </a:defRPr>
            </a:pPr>
            <a:r>
              <a:t>Real Results on Our 64×64 Demo Image</a:t>
            </a:r>
          </a:p>
        </p:txBody>
      </p:sp>
      <p:sp>
        <p:nvSpPr>
          <p:cNvPr id="6" name="TextBox 5"/>
          <p:cNvSpPr txBox="1"/>
          <p:nvPr/>
        </p:nvSpPr>
        <p:spPr>
          <a:xfrm>
            <a:off x="731520" y="1417320"/>
            <a:ext cx="10698480" cy="365760"/>
          </a:xfrm>
          <a:prstGeom prst="rect">
            <a:avLst/>
          </a:prstGeom>
          <a:noFill/>
        </p:spPr>
        <p:txBody>
          <a:bodyPr wrap="square" lIns="0" tIns="0" rIns="0" bIns="0">
            <a:spAutoFit/>
          </a:bodyPr>
          <a:lstStyle/>
          <a:p>
            <a:pPr>
              <a:defRPr sz="1300">
                <a:solidFill>
                  <a:srgbClr val="9CABC2"/>
                </a:solidFill>
                <a:latin typeface="Arial"/>
              </a:defRPr>
            </a:pPr>
            <a:r>
              <a:t>Actual metrics calculated by NumPy inside the EigenLab app.</a:t>
            </a:r>
          </a:p>
        </p:txBody>
      </p:sp>
      <p:sp>
        <p:nvSpPr>
          <p:cNvPr id="7" name="Rounded Rectangle 6"/>
          <p:cNvSpPr/>
          <p:nvPr/>
        </p:nvSpPr>
        <p:spPr>
          <a:xfrm>
            <a:off x="731520" y="1920240"/>
            <a:ext cx="2468880" cy="1188720"/>
          </a:xfrm>
          <a:prstGeom prst="roundRect">
            <a:avLst/>
          </a:prstGeom>
          <a:solidFill>
            <a:srgbClr val="141B29"/>
          </a:solidFill>
          <a:ln>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11680"/>
            <a:ext cx="2468880" cy="914400"/>
          </a:xfrm>
          <a:prstGeom prst="rect">
            <a:avLst/>
          </a:prstGeom>
          <a:noFill/>
        </p:spPr>
        <p:txBody>
          <a:bodyPr wrap="square">
            <a:spAutoFit/>
          </a:bodyPr>
          <a:lstStyle/>
          <a:p>
            <a:pPr algn="ctr">
              <a:defRPr sz="2200" b="1">
                <a:solidFill>
                  <a:srgbClr val="E2B93B"/>
                </a:solidFill>
                <a:latin typeface="Arial"/>
              </a:defRPr>
            </a:pPr>
            <a:r>
              <a:t>64 → 16</a:t>
            </a:r>
          </a:p>
          <a:p>
            <a:pPr algn="ctr">
              <a:defRPr sz="1000">
                <a:solidFill>
                  <a:srgbClr val="9CABC2"/>
                </a:solidFill>
                <a:latin typeface="Arial"/>
              </a:defRPr>
            </a:pPr>
            <a:r>
              <a:t>Columns Reduced (75%)</a:t>
            </a:r>
          </a:p>
        </p:txBody>
      </p:sp>
      <p:sp>
        <p:nvSpPr>
          <p:cNvPr id="9" name="Rounded Rectangle 8"/>
          <p:cNvSpPr/>
          <p:nvPr/>
        </p:nvSpPr>
        <p:spPr>
          <a:xfrm>
            <a:off x="3474720" y="1920240"/>
            <a:ext cx="2468880" cy="1188720"/>
          </a:xfrm>
          <a:prstGeom prst="roundRect">
            <a:avLst/>
          </a:prstGeom>
          <a:solidFill>
            <a:srgbClr val="141B29"/>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2011680"/>
            <a:ext cx="2468880" cy="914400"/>
          </a:xfrm>
          <a:prstGeom prst="rect">
            <a:avLst/>
          </a:prstGeom>
          <a:noFill/>
        </p:spPr>
        <p:txBody>
          <a:bodyPr wrap="square">
            <a:spAutoFit/>
          </a:bodyPr>
          <a:lstStyle/>
          <a:p>
            <a:pPr algn="ctr">
              <a:defRPr sz="2200" b="1">
                <a:solidFill>
                  <a:srgbClr val="34D399"/>
                </a:solidFill>
                <a:latin typeface="Arial"/>
              </a:defRPr>
            </a:pPr>
            <a:r>
              <a:t>91.4%</a:t>
            </a:r>
          </a:p>
          <a:p>
            <a:pPr algn="ctr">
              <a:defRPr sz="1000">
                <a:solidFill>
                  <a:srgbClr val="9CABC2"/>
                </a:solidFill>
                <a:latin typeface="Arial"/>
              </a:defRPr>
            </a:pPr>
            <a:r>
              <a:t>Total Variance Kept</a:t>
            </a:r>
          </a:p>
        </p:txBody>
      </p:sp>
      <p:sp>
        <p:nvSpPr>
          <p:cNvPr id="11" name="Rounded Rectangle 10"/>
          <p:cNvSpPr/>
          <p:nvPr/>
        </p:nvSpPr>
        <p:spPr>
          <a:xfrm>
            <a:off x="6217920" y="1920240"/>
            <a:ext cx="2468880" cy="1188720"/>
          </a:xfrm>
          <a:prstGeom prst="roundRect">
            <a:avLst/>
          </a:prstGeom>
          <a:solidFill>
            <a:srgbClr val="141B29"/>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011680"/>
            <a:ext cx="2468880" cy="914400"/>
          </a:xfrm>
          <a:prstGeom prst="rect">
            <a:avLst/>
          </a:prstGeom>
          <a:noFill/>
        </p:spPr>
        <p:txBody>
          <a:bodyPr wrap="square">
            <a:spAutoFit/>
          </a:bodyPr>
          <a:lstStyle/>
          <a:p>
            <a:pPr algn="ctr">
              <a:defRPr sz="2200" b="1">
                <a:solidFill>
                  <a:srgbClr val="38BDF8"/>
                </a:solidFill>
                <a:latin typeface="Arial"/>
              </a:defRPr>
            </a:pPr>
            <a:r>
              <a:t>0.0084</a:t>
            </a:r>
          </a:p>
          <a:p>
            <a:pPr algn="ctr">
              <a:defRPr sz="1000">
                <a:solidFill>
                  <a:srgbClr val="9CABC2"/>
                </a:solidFill>
                <a:latin typeface="Arial"/>
              </a:defRPr>
            </a:pPr>
            <a:r>
              <a:t>Mean Squared Error</a:t>
            </a:r>
          </a:p>
        </p:txBody>
      </p:sp>
      <p:sp>
        <p:nvSpPr>
          <p:cNvPr id="13" name="Rounded Rectangle 12"/>
          <p:cNvSpPr/>
          <p:nvPr/>
        </p:nvSpPr>
        <p:spPr>
          <a:xfrm>
            <a:off x="8961120" y="1920240"/>
            <a:ext cx="2468880" cy="1188720"/>
          </a:xfrm>
          <a:prstGeom prst="roundRect">
            <a:avLst/>
          </a:prstGeom>
          <a:solidFill>
            <a:srgbClr val="141B29"/>
          </a:solidFill>
          <a:ln>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2011680"/>
            <a:ext cx="2468880" cy="914400"/>
          </a:xfrm>
          <a:prstGeom prst="rect">
            <a:avLst/>
          </a:prstGeom>
          <a:noFill/>
        </p:spPr>
        <p:txBody>
          <a:bodyPr wrap="square">
            <a:spAutoFit/>
          </a:bodyPr>
          <a:lstStyle/>
          <a:p>
            <a:pPr algn="ctr">
              <a:defRPr sz="2200" b="1">
                <a:solidFill>
                  <a:srgbClr val="FB7185"/>
                </a:solidFill>
                <a:latin typeface="Arial"/>
              </a:defRPr>
            </a:pPr>
            <a:r>
              <a:t>&lt; 9.8%</a:t>
            </a:r>
          </a:p>
          <a:p>
            <a:pPr algn="ctr">
              <a:defRPr sz="1000">
                <a:solidFill>
                  <a:srgbClr val="9CABC2"/>
                </a:solidFill>
                <a:latin typeface="Arial"/>
              </a:defRPr>
            </a:pPr>
            <a:r>
              <a:t>Relative Frobenius Error</a:t>
            </a:r>
          </a:p>
        </p:txBody>
      </p:sp>
      <p:sp>
        <p:nvSpPr>
          <p:cNvPr id="15" name="Rounded Rectangle 14"/>
          <p:cNvSpPr/>
          <p:nvPr/>
        </p:nvSpPr>
        <p:spPr>
          <a:xfrm>
            <a:off x="731520" y="3291840"/>
            <a:ext cx="5120640" cy="1554480"/>
          </a:xfrm>
          <a:prstGeom prst="roundRect">
            <a:avLst/>
          </a:prstGeom>
          <a:solidFill>
            <a:srgbClr val="141B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474720"/>
            <a:ext cx="4663440" cy="1188720"/>
          </a:xfrm>
          <a:prstGeom prst="rect">
            <a:avLst/>
          </a:prstGeom>
          <a:noFill/>
        </p:spPr>
        <p:txBody>
          <a:bodyPr wrap="square" lIns="0" tIns="0" rIns="0" bIns="0">
            <a:spAutoFit/>
          </a:bodyPr>
          <a:lstStyle/>
          <a:p>
            <a:pPr>
              <a:spcAft>
                <a:spcPts val="1000"/>
              </a:spcAft>
              <a:defRPr sz="1600" b="1">
                <a:solidFill>
                  <a:srgbClr val="38BDF8"/>
                </a:solidFill>
                <a:latin typeface="Arial"/>
              </a:defRPr>
            </a:pPr>
            <a:r>
              <a:t>Scree Plot Behavior</a:t>
            </a:r>
          </a:p>
          <a:p>
            <a:pPr>
              <a:spcAft>
                <a:spcPts val="600"/>
              </a:spcAft>
              <a:defRPr sz="1200">
                <a:solidFill>
                  <a:srgbClr val="F8FAFC"/>
                </a:solidFill>
                <a:latin typeface="Arial"/>
              </a:defRPr>
            </a:pPr>
            <a:r>
              <a:t>•  First 4 eigenvalues contain &gt; 58% of the image energy.</a:t>
            </a:r>
          </a:p>
          <a:p>
            <a:pPr>
              <a:spcAft>
                <a:spcPts val="600"/>
              </a:spcAft>
              <a:defRPr sz="1200">
                <a:solidFill>
                  <a:srgbClr val="F8FAFC"/>
                </a:solidFill>
                <a:latin typeface="Arial"/>
              </a:defRPr>
            </a:pPr>
            <a:r>
              <a:t>•  Eigenvalues 32 to 64 contribute almost nothing (&lt; 2%).</a:t>
            </a:r>
          </a:p>
        </p:txBody>
      </p:sp>
      <p:sp>
        <p:nvSpPr>
          <p:cNvPr id="17" name="Rounded Rectangle 16"/>
          <p:cNvSpPr/>
          <p:nvPr/>
        </p:nvSpPr>
        <p:spPr>
          <a:xfrm>
            <a:off x="6309360" y="3291840"/>
            <a:ext cx="5120640" cy="1554480"/>
          </a:xfrm>
          <a:prstGeom prst="roundRect">
            <a:avLst/>
          </a:prstGeom>
          <a:solidFill>
            <a:srgbClr val="141B29"/>
          </a:solidFill>
          <a:ln w="19050">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3474720"/>
            <a:ext cx="4663440" cy="1188720"/>
          </a:xfrm>
          <a:prstGeom prst="rect">
            <a:avLst/>
          </a:prstGeom>
          <a:noFill/>
        </p:spPr>
        <p:txBody>
          <a:bodyPr wrap="square" lIns="0" tIns="0" rIns="0" bIns="0">
            <a:spAutoFit/>
          </a:bodyPr>
          <a:lstStyle/>
          <a:p>
            <a:pPr>
              <a:spcAft>
                <a:spcPts val="1000"/>
              </a:spcAft>
              <a:defRPr sz="1600" b="1">
                <a:solidFill>
                  <a:srgbClr val="E2B93B"/>
                </a:solidFill>
                <a:latin typeface="Arial"/>
              </a:defRPr>
            </a:pPr>
            <a:r>
              <a:t>Component Trade-offs</a:t>
            </a:r>
          </a:p>
          <a:p>
            <a:pPr>
              <a:spcAft>
                <a:spcPts val="600"/>
              </a:spcAft>
              <a:defRPr sz="1200">
                <a:solidFill>
                  <a:srgbClr val="F8FAFC"/>
                </a:solidFill>
                <a:latin typeface="Arial"/>
              </a:defRPr>
            </a:pPr>
            <a:r>
              <a:t>•  k = 8: Rough silhouette, heavy blur.</a:t>
            </a:r>
          </a:p>
          <a:p>
            <a:pPr>
              <a:spcAft>
                <a:spcPts val="600"/>
              </a:spcAft>
              <a:defRPr sz="1200">
                <a:solidFill>
                  <a:srgbClr val="F8FAFC"/>
                </a:solidFill>
                <a:latin typeface="Arial"/>
              </a:defRPr>
            </a:pPr>
            <a:r>
              <a:t>•  k = 16: Optimal sweet-spot (sharp features, 75% savings).</a:t>
            </a:r>
          </a:p>
          <a:p>
            <a:pPr>
              <a:spcAft>
                <a:spcPts val="600"/>
              </a:spcAft>
              <a:defRPr sz="1200">
                <a:solidFill>
                  <a:srgbClr val="F8FAFC"/>
                </a:solidFill>
                <a:latin typeface="Arial"/>
              </a:defRPr>
            </a:pPr>
            <a:r>
              <a:t>•  k = 32: Near-perfect reproduction.</a:t>
            </a:r>
          </a:p>
        </p:txBody>
      </p:sp>
      <p:sp>
        <p:nvSpPr>
          <p:cNvPr id="19" name="Rounded Rectangle 18"/>
          <p:cNvSpPr/>
          <p:nvPr/>
        </p:nvSpPr>
        <p:spPr>
          <a:xfrm>
            <a:off x="731520" y="5029200"/>
            <a:ext cx="10698480" cy="1371600"/>
          </a:xfrm>
          <a:prstGeom prst="roundRect">
            <a:avLst/>
          </a:prstGeom>
          <a:solidFill>
            <a:srgbClr val="10201C"/>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138928"/>
            <a:ext cx="10332720" cy="1152144"/>
          </a:xfrm>
          <a:prstGeom prst="rect">
            <a:avLst/>
          </a:prstGeom>
          <a:noFill/>
        </p:spPr>
        <p:txBody>
          <a:bodyPr wrap="square" lIns="0" tIns="0" rIns="0" bIns="0">
            <a:spAutoFit/>
          </a:bodyPr>
          <a:lstStyle/>
          <a:p>
            <a:pPr>
              <a:spcAft>
                <a:spcPts val="400"/>
              </a:spcAft>
              <a:defRPr sz="1000" b="1">
                <a:solidFill>
                  <a:srgbClr val="34D399"/>
                </a:solidFill>
                <a:latin typeface="Arial"/>
              </a:defRPr>
            </a:pPr>
            <a:r>
              <a:t>🗣️ WHAT TO SAY TO YOUR TEACHER:</a:t>
            </a:r>
          </a:p>
          <a:p>
            <a:pPr>
              <a:defRPr sz="1100">
                <a:solidFill>
                  <a:srgbClr val="DCFCE7"/>
                </a:solidFill>
                <a:latin typeface="Arial"/>
              </a:defRPr>
            </a:pPr>
            <a:r>
              <a:t>"Our experimental data shows that using just 16 components out of 64 saves 75% of the data columns while keeping 91.4% of the image variance with an MSE error of only 0.0084."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36576"/>
          </a:xfrm>
          <a:prstGeom prst="rect">
            <a:avLst/>
          </a:prstGeom>
          <a:solidFill>
            <a:srgbClr val="E2B93B"/>
          </a:solidFill>
          <a:ln>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698480" cy="274320"/>
          </a:xfrm>
          <a:prstGeom prst="rect">
            <a:avLst/>
          </a:prstGeom>
          <a:noFill/>
        </p:spPr>
        <p:txBody>
          <a:bodyPr wrap="square" lIns="0" tIns="0" rIns="0" bIns="0">
            <a:spAutoFit/>
          </a:bodyPr>
          <a:lstStyle/>
          <a:p>
            <a:pPr>
              <a:defRPr sz="1100" b="1">
                <a:solidFill>
                  <a:srgbClr val="E2B93B"/>
                </a:solidFill>
                <a:latin typeface="Arial"/>
              </a:defRPr>
            </a:pPr>
            <a:r>
              <a:t>SOFTWARE &amp; ACCESSIBILITY</a:t>
            </a:r>
          </a:p>
        </p:txBody>
      </p:sp>
      <p:sp>
        <p:nvSpPr>
          <p:cNvPr id="5" name="TextBox 4"/>
          <p:cNvSpPr txBox="1"/>
          <p:nvPr/>
        </p:nvSpPr>
        <p:spPr>
          <a:xfrm>
            <a:off x="731520" y="868680"/>
            <a:ext cx="10698480" cy="594360"/>
          </a:xfrm>
          <a:prstGeom prst="rect">
            <a:avLst/>
          </a:prstGeom>
          <a:noFill/>
        </p:spPr>
        <p:txBody>
          <a:bodyPr wrap="square" lIns="0" tIns="0" rIns="0" bIns="0">
            <a:spAutoFit/>
          </a:bodyPr>
          <a:lstStyle/>
          <a:p>
            <a:pPr>
              <a:defRPr sz="2500" b="1">
                <a:solidFill>
                  <a:srgbClr val="F8FAFC"/>
                </a:solidFill>
                <a:latin typeface="Arial"/>
              </a:defRPr>
            </a:pPr>
            <a:r>
              <a:t>The EigenLab Web App &amp; Sarvam AI Tutor</a:t>
            </a:r>
          </a:p>
        </p:txBody>
      </p:sp>
      <p:sp>
        <p:nvSpPr>
          <p:cNvPr id="6" name="TextBox 5"/>
          <p:cNvSpPr txBox="1"/>
          <p:nvPr/>
        </p:nvSpPr>
        <p:spPr>
          <a:xfrm>
            <a:off x="731520" y="1417320"/>
            <a:ext cx="10698480" cy="365760"/>
          </a:xfrm>
          <a:prstGeom prst="rect">
            <a:avLst/>
          </a:prstGeom>
          <a:noFill/>
        </p:spPr>
        <p:txBody>
          <a:bodyPr wrap="square" lIns="0" tIns="0" rIns="0" bIns="0">
            <a:spAutoFit/>
          </a:bodyPr>
          <a:lstStyle/>
          <a:p>
            <a:pPr>
              <a:defRPr sz="1300">
                <a:solidFill>
                  <a:srgbClr val="9CABC2"/>
                </a:solidFill>
                <a:latin typeface="Arial"/>
              </a:defRPr>
            </a:pPr>
            <a:r>
              <a:t>A live interactive dashboard with multilingual educational assistance.</a:t>
            </a:r>
          </a:p>
        </p:txBody>
      </p:sp>
      <p:sp>
        <p:nvSpPr>
          <p:cNvPr id="7" name="Rounded Rectangle 6"/>
          <p:cNvSpPr/>
          <p:nvPr/>
        </p:nvSpPr>
        <p:spPr>
          <a:xfrm>
            <a:off x="731520" y="1920240"/>
            <a:ext cx="5120640" cy="2926080"/>
          </a:xfrm>
          <a:prstGeom prst="roundRect">
            <a:avLst/>
          </a:prstGeom>
          <a:solidFill>
            <a:srgbClr val="141B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663440" cy="2560320"/>
          </a:xfrm>
          <a:prstGeom prst="rect">
            <a:avLst/>
          </a:prstGeom>
          <a:noFill/>
        </p:spPr>
        <p:txBody>
          <a:bodyPr wrap="square" lIns="0" tIns="0" rIns="0" bIns="0">
            <a:spAutoFit/>
          </a:bodyPr>
          <a:lstStyle/>
          <a:p>
            <a:pPr>
              <a:spcAft>
                <a:spcPts val="1000"/>
              </a:spcAft>
              <a:defRPr sz="1600" b="1">
                <a:solidFill>
                  <a:srgbClr val="38BDF8"/>
                </a:solidFill>
                <a:latin typeface="Arial"/>
              </a:defRPr>
            </a:pPr>
            <a:r>
              <a:t>🖥️ Interactive Web Dashboard</a:t>
            </a:r>
          </a:p>
          <a:p>
            <a:pPr>
              <a:spcAft>
                <a:spcPts val="600"/>
              </a:spcAft>
              <a:defRPr sz="1200">
                <a:solidFill>
                  <a:srgbClr val="F8FAFC"/>
                </a:solidFill>
                <a:latin typeface="Arial"/>
              </a:defRPr>
            </a:pPr>
            <a:r>
              <a:t>•  Built with Django &amp; Python.</a:t>
            </a:r>
          </a:p>
          <a:p>
            <a:pPr>
              <a:spcAft>
                <a:spcPts val="600"/>
              </a:spcAft>
              <a:defRPr sz="1200">
                <a:solidFill>
                  <a:srgbClr val="F8FAFC"/>
                </a:solidFill>
                <a:latin typeface="Arial"/>
              </a:defRPr>
            </a:pPr>
            <a:r>
              <a:t>•  Drag-and-drop any photo from your computer.</a:t>
            </a:r>
          </a:p>
          <a:p>
            <a:pPr>
              <a:spcAft>
                <a:spcPts val="600"/>
              </a:spcAft>
              <a:defRPr sz="1200">
                <a:solidFill>
                  <a:srgbClr val="F8FAFC"/>
                </a:solidFill>
                <a:latin typeface="Arial"/>
              </a:defRPr>
            </a:pPr>
            <a:r>
              <a:t>•  Live interactive heatmap previews of Covariance Matrix C.</a:t>
            </a:r>
          </a:p>
          <a:p>
            <a:pPr>
              <a:spcAft>
                <a:spcPts val="600"/>
              </a:spcAft>
              <a:defRPr sz="1200">
                <a:solidFill>
                  <a:srgbClr val="F8FAFC"/>
                </a:solidFill>
                <a:latin typeface="Arial"/>
              </a:defRPr>
            </a:pPr>
            <a:r>
              <a:t>•  Side-by-side original vs. reconstructed image comparison.</a:t>
            </a:r>
          </a:p>
          <a:p>
            <a:pPr>
              <a:spcAft>
                <a:spcPts val="600"/>
              </a:spcAft>
              <a:defRPr sz="1200">
                <a:solidFill>
                  <a:srgbClr val="F8FAFC"/>
                </a:solidFill>
                <a:latin typeface="Arial"/>
              </a:defRPr>
            </a:pPr>
            <a:r>
              <a:t>•  Instant error badge showing MSE and Relative Error %.</a:t>
            </a:r>
          </a:p>
        </p:txBody>
      </p:sp>
      <p:sp>
        <p:nvSpPr>
          <p:cNvPr id="9" name="Rounded Rectangle 8"/>
          <p:cNvSpPr/>
          <p:nvPr/>
        </p:nvSpPr>
        <p:spPr>
          <a:xfrm>
            <a:off x="6309360" y="1920240"/>
            <a:ext cx="5120640" cy="2926080"/>
          </a:xfrm>
          <a:prstGeom prst="roundRect">
            <a:avLst/>
          </a:prstGeom>
          <a:solidFill>
            <a:srgbClr val="141B29"/>
          </a:solidFill>
          <a:ln w="19050">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103120"/>
            <a:ext cx="4663440" cy="2560320"/>
          </a:xfrm>
          <a:prstGeom prst="rect">
            <a:avLst/>
          </a:prstGeom>
          <a:noFill/>
        </p:spPr>
        <p:txBody>
          <a:bodyPr wrap="square" lIns="0" tIns="0" rIns="0" bIns="0">
            <a:spAutoFit/>
          </a:bodyPr>
          <a:lstStyle/>
          <a:p>
            <a:pPr>
              <a:spcAft>
                <a:spcPts val="1000"/>
              </a:spcAft>
              <a:defRPr sz="1600" b="1">
                <a:solidFill>
                  <a:srgbClr val="E2B93B"/>
                </a:solidFill>
                <a:latin typeface="Arial"/>
              </a:defRPr>
            </a:pPr>
            <a:r>
              <a:t>🇮🇳 Sarvam AI Multilingual Tutor</a:t>
            </a:r>
          </a:p>
          <a:p>
            <a:pPr>
              <a:spcAft>
                <a:spcPts val="600"/>
              </a:spcAft>
              <a:defRPr sz="1200">
                <a:solidFill>
                  <a:srgbClr val="F8FAFC"/>
                </a:solidFill>
                <a:latin typeface="Arial"/>
              </a:defRPr>
            </a:pPr>
            <a:r>
              <a:t>•  Integrated with India's Sarvam AI models.</a:t>
            </a:r>
          </a:p>
          <a:p>
            <a:pPr>
              <a:spcAft>
                <a:spcPts val="600"/>
              </a:spcAft>
              <a:defRPr sz="1200">
                <a:solidFill>
                  <a:srgbClr val="F8FAFC"/>
                </a:solidFill>
                <a:latin typeface="Arial"/>
              </a:defRPr>
            </a:pPr>
            <a:r>
              <a:t>•  Passes live image eigenvalues directly to the AI.</a:t>
            </a:r>
          </a:p>
          <a:p>
            <a:pPr>
              <a:spcAft>
                <a:spcPts val="600"/>
              </a:spcAft>
              <a:defRPr sz="1200">
                <a:solidFill>
                  <a:srgbClr val="F8FAFC"/>
                </a:solidFill>
                <a:latin typeface="Arial"/>
              </a:defRPr>
            </a:pPr>
            <a:r>
              <a:t>•  Explains what the eigenvalues mean in simple English or 10 Indian languages (Hindi, Kannada, Telugu, Tamil, etc.).</a:t>
            </a:r>
          </a:p>
          <a:p>
            <a:pPr>
              <a:spcAft>
                <a:spcPts val="600"/>
              </a:spcAft>
              <a:defRPr sz="1200">
                <a:solidFill>
                  <a:srgbClr val="F8FAFC"/>
                </a:solidFill>
                <a:latin typeface="Arial"/>
              </a:defRPr>
            </a:pPr>
            <a:r>
              <a:t>•  Enables any engineering student to learn linear algebra in their native tongue.</a:t>
            </a:r>
          </a:p>
        </p:txBody>
      </p:sp>
      <p:sp>
        <p:nvSpPr>
          <p:cNvPr id="11" name="Rounded Rectangle 10"/>
          <p:cNvSpPr/>
          <p:nvPr/>
        </p:nvSpPr>
        <p:spPr>
          <a:xfrm>
            <a:off x="731520" y="5029200"/>
            <a:ext cx="10698480" cy="1371600"/>
          </a:xfrm>
          <a:prstGeom prst="roundRect">
            <a:avLst/>
          </a:prstGeom>
          <a:solidFill>
            <a:srgbClr val="10201C"/>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38928"/>
            <a:ext cx="10332720" cy="1152144"/>
          </a:xfrm>
          <a:prstGeom prst="rect">
            <a:avLst/>
          </a:prstGeom>
          <a:noFill/>
        </p:spPr>
        <p:txBody>
          <a:bodyPr wrap="square" lIns="0" tIns="0" rIns="0" bIns="0">
            <a:spAutoFit/>
          </a:bodyPr>
          <a:lstStyle/>
          <a:p>
            <a:pPr>
              <a:spcAft>
                <a:spcPts val="400"/>
              </a:spcAft>
              <a:defRPr sz="1000" b="1">
                <a:solidFill>
                  <a:srgbClr val="34D399"/>
                </a:solidFill>
                <a:latin typeface="Arial"/>
              </a:defRPr>
            </a:pPr>
            <a:r>
              <a:t>🗣️ WHAT TO SAY TO YOUR TEACHER:</a:t>
            </a:r>
          </a:p>
          <a:p>
            <a:pPr>
              <a:defRPr sz="1100">
                <a:solidFill>
                  <a:srgbClr val="DCFCE7"/>
                </a:solidFill>
                <a:latin typeface="Arial"/>
              </a:defRPr>
            </a:pPr>
            <a:r>
              <a:t>"We built a complete web application with Django where anyone can upload an image and see the matrix transformations in real time. We also integrated Sarvam AI to explain the eigenvalues in Indian regional languages for educational accessibility."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solidFill>
              <a:srgbClr val="0B0F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36576"/>
          </a:xfrm>
          <a:prstGeom prst="rect">
            <a:avLst/>
          </a:prstGeom>
          <a:solidFill>
            <a:srgbClr val="E2B93B"/>
          </a:solidFill>
          <a:ln>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698480" cy="274320"/>
          </a:xfrm>
          <a:prstGeom prst="rect">
            <a:avLst/>
          </a:prstGeom>
          <a:noFill/>
        </p:spPr>
        <p:txBody>
          <a:bodyPr wrap="square" lIns="0" tIns="0" rIns="0" bIns="0">
            <a:spAutoFit/>
          </a:bodyPr>
          <a:lstStyle/>
          <a:p>
            <a:pPr>
              <a:defRPr sz="1100" b="1">
                <a:solidFill>
                  <a:srgbClr val="E2B93B"/>
                </a:solidFill>
                <a:latin typeface="Arial"/>
              </a:defRPr>
            </a:pPr>
            <a:r>
              <a:t>VIVA DEFENSE CHEAT SHEET</a:t>
            </a:r>
          </a:p>
        </p:txBody>
      </p:sp>
      <p:sp>
        <p:nvSpPr>
          <p:cNvPr id="5" name="TextBox 4"/>
          <p:cNvSpPr txBox="1"/>
          <p:nvPr/>
        </p:nvSpPr>
        <p:spPr>
          <a:xfrm>
            <a:off x="731520" y="868680"/>
            <a:ext cx="10698480" cy="594360"/>
          </a:xfrm>
          <a:prstGeom prst="rect">
            <a:avLst/>
          </a:prstGeom>
          <a:noFill/>
        </p:spPr>
        <p:txBody>
          <a:bodyPr wrap="square" lIns="0" tIns="0" rIns="0" bIns="0">
            <a:spAutoFit/>
          </a:bodyPr>
          <a:lstStyle/>
          <a:p>
            <a:pPr>
              <a:defRPr sz="2500" b="1">
                <a:solidFill>
                  <a:srgbClr val="F8FAFC"/>
                </a:solidFill>
                <a:latin typeface="Arial"/>
              </a:defRPr>
            </a:pPr>
            <a:r>
              <a:t>Top 4 Teacher Questions &amp; 1-Line Answers</a:t>
            </a:r>
          </a:p>
        </p:txBody>
      </p:sp>
      <p:sp>
        <p:nvSpPr>
          <p:cNvPr id="6" name="TextBox 5"/>
          <p:cNvSpPr txBox="1"/>
          <p:nvPr/>
        </p:nvSpPr>
        <p:spPr>
          <a:xfrm>
            <a:off x="731520" y="1417320"/>
            <a:ext cx="10698480" cy="365760"/>
          </a:xfrm>
          <a:prstGeom prst="rect">
            <a:avLst/>
          </a:prstGeom>
          <a:noFill/>
        </p:spPr>
        <p:txBody>
          <a:bodyPr wrap="square" lIns="0" tIns="0" rIns="0" bIns="0">
            <a:spAutoFit/>
          </a:bodyPr>
          <a:lstStyle/>
          <a:p>
            <a:pPr>
              <a:defRPr sz="1300">
                <a:solidFill>
                  <a:srgbClr val="9CABC2"/>
                </a:solidFill>
                <a:latin typeface="Arial"/>
              </a:defRPr>
            </a:pPr>
            <a:r>
              <a:t>Keep this slide in mind during your professor's questions!</a:t>
            </a:r>
          </a:p>
        </p:txBody>
      </p:sp>
      <p:sp>
        <p:nvSpPr>
          <p:cNvPr id="7" name="Rounded Rectangle 6"/>
          <p:cNvSpPr/>
          <p:nvPr/>
        </p:nvSpPr>
        <p:spPr>
          <a:xfrm>
            <a:off x="731520" y="1920240"/>
            <a:ext cx="5120640" cy="2103120"/>
          </a:xfrm>
          <a:prstGeom prst="roundRect">
            <a:avLst/>
          </a:prstGeom>
          <a:solidFill>
            <a:srgbClr val="141B29"/>
          </a:solidFill>
          <a:ln w="19050">
            <a:solidFill>
              <a:srgbClr val="E2B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663440" cy="1737360"/>
          </a:xfrm>
          <a:prstGeom prst="rect">
            <a:avLst/>
          </a:prstGeom>
          <a:noFill/>
        </p:spPr>
        <p:txBody>
          <a:bodyPr wrap="square" lIns="0" tIns="0" rIns="0" bIns="0">
            <a:spAutoFit/>
          </a:bodyPr>
          <a:lstStyle/>
          <a:p>
            <a:pPr>
              <a:spcAft>
                <a:spcPts val="1000"/>
              </a:spcAft>
              <a:defRPr sz="1600" b="1">
                <a:solidFill>
                  <a:srgbClr val="E2B93B"/>
                </a:solidFill>
                <a:latin typeface="Arial"/>
              </a:defRPr>
            </a:pPr>
            <a:r>
              <a:t>1. What is an eigenvalue in an image?</a:t>
            </a:r>
          </a:p>
          <a:p>
            <a:pPr>
              <a:spcAft>
                <a:spcPts val="600"/>
              </a:spcAft>
              <a:defRPr sz="1200">
                <a:solidFill>
                  <a:srgbClr val="F8FAFC"/>
                </a:solidFill>
                <a:latin typeface="Arial"/>
              </a:defRPr>
            </a:pPr>
            <a:r>
              <a:t>•  Answer: It is the VARIANCE (amount of information) along an eigenvector direction.</a:t>
            </a:r>
          </a:p>
          <a:p>
            <a:pPr>
              <a:spcAft>
                <a:spcPts val="600"/>
              </a:spcAft>
              <a:defRPr sz="1200">
                <a:solidFill>
                  <a:srgbClr val="F8FAFC"/>
                </a:solidFill>
                <a:latin typeface="Arial"/>
              </a:defRPr>
            </a:pPr>
            <a:r>
              <a:t>•  A bigger eigenvalue means more visual shape and contrast is captured.</a:t>
            </a:r>
          </a:p>
        </p:txBody>
      </p:sp>
      <p:sp>
        <p:nvSpPr>
          <p:cNvPr id="9" name="Rounded Rectangle 8"/>
          <p:cNvSpPr/>
          <p:nvPr/>
        </p:nvSpPr>
        <p:spPr>
          <a:xfrm>
            <a:off x="6309360" y="1920240"/>
            <a:ext cx="5120640" cy="2103120"/>
          </a:xfrm>
          <a:prstGeom prst="roundRect">
            <a:avLst/>
          </a:prstGeom>
          <a:solidFill>
            <a:srgbClr val="141B2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103120"/>
            <a:ext cx="4663440" cy="1737360"/>
          </a:xfrm>
          <a:prstGeom prst="rect">
            <a:avLst/>
          </a:prstGeom>
          <a:noFill/>
        </p:spPr>
        <p:txBody>
          <a:bodyPr wrap="square" lIns="0" tIns="0" rIns="0" bIns="0">
            <a:spAutoFit/>
          </a:bodyPr>
          <a:lstStyle/>
          <a:p>
            <a:pPr>
              <a:spcAft>
                <a:spcPts val="1000"/>
              </a:spcAft>
              <a:defRPr sz="1600" b="1">
                <a:solidFill>
                  <a:srgbClr val="38BDF8"/>
                </a:solidFill>
                <a:latin typeface="Arial"/>
              </a:defRPr>
            </a:pPr>
            <a:r>
              <a:t>2. Why use np.linalg.eigh instead of eig?</a:t>
            </a:r>
          </a:p>
          <a:p>
            <a:pPr>
              <a:spcAft>
                <a:spcPts val="600"/>
              </a:spcAft>
              <a:defRPr sz="1200">
                <a:solidFill>
                  <a:srgbClr val="F8FAFC"/>
                </a:solidFill>
                <a:latin typeface="Arial"/>
              </a:defRPr>
            </a:pPr>
            <a:r>
              <a:t>•  Answer: 'eigh' is specialized for SYMMETRIC matrices.</a:t>
            </a:r>
          </a:p>
          <a:p>
            <a:pPr>
              <a:spcAft>
                <a:spcPts val="600"/>
              </a:spcAft>
              <a:defRPr sz="1200">
                <a:solidFill>
                  <a:srgbClr val="F8FAFC"/>
                </a:solidFill>
                <a:latin typeface="Arial"/>
              </a:defRPr>
            </a:pPr>
            <a:r>
              <a:t>•  It runs 2× faster and guarantees purely real eigenvalues without numerical noise.</a:t>
            </a:r>
          </a:p>
        </p:txBody>
      </p:sp>
      <p:sp>
        <p:nvSpPr>
          <p:cNvPr id="11" name="Rounded Rectangle 10"/>
          <p:cNvSpPr/>
          <p:nvPr/>
        </p:nvSpPr>
        <p:spPr>
          <a:xfrm>
            <a:off x="731520" y="4297680"/>
            <a:ext cx="5120640" cy="2103120"/>
          </a:xfrm>
          <a:prstGeom prst="roundRect">
            <a:avLst/>
          </a:prstGeom>
          <a:solidFill>
            <a:srgbClr val="141B29"/>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480560"/>
            <a:ext cx="4663440" cy="1737360"/>
          </a:xfrm>
          <a:prstGeom prst="rect">
            <a:avLst/>
          </a:prstGeom>
          <a:noFill/>
        </p:spPr>
        <p:txBody>
          <a:bodyPr wrap="square" lIns="0" tIns="0" rIns="0" bIns="0">
            <a:spAutoFit/>
          </a:bodyPr>
          <a:lstStyle/>
          <a:p>
            <a:pPr>
              <a:spcAft>
                <a:spcPts val="1000"/>
              </a:spcAft>
              <a:defRPr sz="1600" b="1">
                <a:solidFill>
                  <a:srgbClr val="34D399"/>
                </a:solidFill>
                <a:latin typeface="Arial"/>
              </a:defRPr>
            </a:pPr>
            <a:r>
              <a:t>3. Can eigenvalues ever be negative here?</a:t>
            </a:r>
          </a:p>
          <a:p>
            <a:pPr>
              <a:spcAft>
                <a:spcPts val="600"/>
              </a:spcAft>
              <a:defRPr sz="1200">
                <a:solidFill>
                  <a:srgbClr val="F8FAFC"/>
                </a:solidFill>
                <a:latin typeface="Arial"/>
              </a:defRPr>
            </a:pPr>
            <a:r>
              <a:t>•  Answer: No. Covariance matrix C is Positive Semi-Definite (x^T C x = ||Ax||^2 &gt;= 0).</a:t>
            </a:r>
          </a:p>
          <a:p>
            <a:pPr>
              <a:spcAft>
                <a:spcPts val="600"/>
              </a:spcAft>
              <a:defRPr sz="1200">
                <a:solidFill>
                  <a:srgbClr val="F8FAFC"/>
                </a:solidFill>
                <a:latin typeface="Arial"/>
              </a:defRPr>
            </a:pPr>
            <a:r>
              <a:t>•  Therefore, all eigenvalues must be greater than or equal to zero.</a:t>
            </a:r>
          </a:p>
        </p:txBody>
      </p:sp>
      <p:sp>
        <p:nvSpPr>
          <p:cNvPr id="13" name="Rounded Rectangle 12"/>
          <p:cNvSpPr/>
          <p:nvPr/>
        </p:nvSpPr>
        <p:spPr>
          <a:xfrm>
            <a:off x="6309360" y="4297680"/>
            <a:ext cx="5120640" cy="2103120"/>
          </a:xfrm>
          <a:prstGeom prst="roundRect">
            <a:avLst/>
          </a:prstGeom>
          <a:solidFill>
            <a:srgbClr val="141B29"/>
          </a:solidFill>
          <a:ln w="1905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4480560"/>
            <a:ext cx="4663440" cy="1737360"/>
          </a:xfrm>
          <a:prstGeom prst="rect">
            <a:avLst/>
          </a:prstGeom>
          <a:noFill/>
        </p:spPr>
        <p:txBody>
          <a:bodyPr wrap="square" lIns="0" tIns="0" rIns="0" bIns="0">
            <a:spAutoFit/>
          </a:bodyPr>
          <a:lstStyle/>
          <a:p>
            <a:pPr>
              <a:spcAft>
                <a:spcPts val="1000"/>
              </a:spcAft>
              <a:defRPr sz="1600" b="1">
                <a:solidFill>
                  <a:srgbClr val="FB7185"/>
                </a:solidFill>
                <a:latin typeface="Arial"/>
              </a:defRPr>
            </a:pPr>
            <a:r>
              <a:t>4. Why is the reconstruction blurred?</a:t>
            </a:r>
          </a:p>
          <a:p>
            <a:pPr>
              <a:spcAft>
                <a:spcPts val="600"/>
              </a:spcAft>
              <a:defRPr sz="1200">
                <a:solidFill>
                  <a:srgbClr val="F8FAFC"/>
                </a:solidFill>
                <a:latin typeface="Arial"/>
              </a:defRPr>
            </a:pPr>
            <a:r>
              <a:t>•  Answer: Because we deliberately dropped 48 high-frequency eigenvalues.</a:t>
            </a:r>
          </a:p>
          <a:p>
            <a:pPr>
              <a:spcAft>
                <a:spcPts val="600"/>
              </a:spcAft>
              <a:defRPr sz="1200">
                <a:solidFill>
                  <a:srgbClr val="F8FAFC"/>
                </a:solidFill>
                <a:latin typeface="Arial"/>
              </a:defRPr>
            </a:pPr>
            <a:r>
              <a:t>•  The blur proves compression occurred; keeping all 64 would give 0% compression.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