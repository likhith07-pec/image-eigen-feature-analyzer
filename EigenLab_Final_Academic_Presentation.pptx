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4" d="100"/>
          <a:sy n="64" d="100"/>
        </p:scale>
        <p:origin x="954"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498471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ORAL OPENING STATEMENT:</a:t>
            </a:r>
          </a:p>
          <a:p>
            <a:r>
              <a:t>'Respected Guide and Members of the Faculty Evaluation Committee, good morning. Today, I present my academic mini-project titled: EigenLab: Image Compression and Eigen-Feature Analyzer Using Linear Algebra. The objective of this project is to investigate and implement how core theorems of linear algebra—specifically spectral decomposition of symmetric matrices, orthonormal projection, and low-rank matrix approximation—can be applied to digital image representation and dimensionality reduction. Over the next 15 minutes, I will walk you through the theoretical mathematical derivation, the software architecture implemented in Python and Django, the verified numerical findings on standardized image benchmarks, and a critical analysis of its performance and limitations.'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SCRIPT:</a:t>
            </a:r>
          </a:p>
          <a:p>
            <a:r>
              <a:t>'The abstract outlines our complete engineering investigation. We treat a digital grayscale image as a discrete 2D matrix A in R^{64 x 64}. Because natural images exhibit high spatial coherence, adjacent columns are linearly correlated, implying that the matrix has low intrinsic numerical rank. We construct the Gram matrix G = A^T A, compute its spectral decomposition, select the top-k eigenvectors, and project the matrix into a lower-dimensional coordinate system. Our empirical tests demonstrate that 16 orthogonal vectors out of 64 are sufficient to capture the dominant structural information of the test image, yielding an error of less than 0.04%.'</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SCRIPT:</a:t>
            </a:r>
          </a:p>
          <a:p>
            <a:r>
              <a:t>'To understand this project from a linear algebra standpoint, we first formalize what an image is. When an image is loaded into memory, it is represented as a real matrix A with m rows and n columns. Each entry represents normalized luminance between 0 (black) and 1 (white). If you examine any real photograph, adjacent pixels are rarely independent. A cheek, a forehead, or a wall consists of smooth patches of similar intensity. In linear algebra terms, this means the columns of matrix A are highly correlated and lie close to a low-dimensional subspace. The standard pixel basis is inefficient because it records every single pixel individually. Our goal is to compute an optimal orthonormal basis tailored to the specific image matrix.'</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SCRIPT:</a:t>
            </a:r>
          </a:p>
          <a:p>
            <a:r>
              <a:t>'The formal problem statement is twofold. First, raw digital images store data in an uncoupled spatial grid that ignores inter-pixel correlation, leading to unnecessary data dimensionality. Second, in engineering education, students frequently learn about eigenvalues, characteristic polynomials, and the spectral theorem purely as textbook equations without seeing how they operate on real-world 2D signals. Therefore, our motivation was to construct an end-to-end framework that takes an uncompressed image matrix, computes its eigen-basis, projects it onto a reduced k-dimensional subspace, and quantifies the exact approximation error.'</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SCRIPT:</a:t>
            </a:r>
          </a:p>
          <a:p>
            <a:r>
              <a:t>'Here we clearly define what this project achieves and its explicit boundaries. Our primary objective is to implement the complete 8-step linear algebra pipeline: from image ingestion, to Gram matrix construction, spectral decomposition, subspace projection, low-rank synthesis, and quantitative error benchmarking. It is equally important to state our academic boundaries: this project investigates linear algebraic dimension reduction on 64 x 64 grayscale matrices. We are evaluating basis-vector reduction and low-rank approximation, not building a commercial binary codec like JPEG that involves discrete cosine transforms, quantization tables, and Huffman coding.'</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SCRIPT:</a:t>
            </a:r>
          </a:p>
          <a:p>
            <a:r>
              <a:t>'Slide 6 illustrates our actual software architecture, verified directly from our repository codebase. The system follows a modular, decoupled structure: The ingestion module in image_processing.py normalizes the image. The linear algebra core in eigen_analysis.py invokes NumPy's eigh solver, which wraps LAPACK's symmetric divide-and-conquer algorithm. The reconstruction module in reconstruction.py performs the matrix products to generate the projection and low-rank approximation. Finally, the visualization module converts raw NumPy arrays directly into Base64 PNG data streams, completely eliminating intermediate disk writes and ensuring fast server response times.'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SCRIPT:</a:t>
            </a:r>
          </a:p>
          <a:p>
            <a:r>
              <a:t>'On Slide 7, we detail the image preprocessing operations. First, RGB pixels are converted to scalar luminance values using the standard ITU-R BT.601 coefficients. Second, the image is resampled to a standardized 64 x 64 grid using Lanczos interpolation to preserve sharp edge boundaries. Third, pixel values are divided by 255.0 to yield normalized double-precision numbers between 0.0 and 1.0. I would like to draw your attention to an important mathematical nuance: our implementation performs decomposition directly on the uncentered matrix A rather than a mean-centered matrix. In linear algebra, this means we are computing the uncentered SVD basis. The dominant first eigenvalue captures overall image luminance, while the remaining eigenvalues capture fine contrast details. Both approaches are mathematically sound, and we explicitly account for this in our derivations.'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SCRIPT:</a:t>
            </a:r>
          </a:p>
          <a:p>
            <a:r>
              <a:t>'Slide 8 establishes the theoretical foundation of our project: the Spectral Theorem for real symmetric matrices. The Spectral Theorem is one of the crown jewels of linear algebra. It proves that any real symmetric matrix S can be factored into V Lambda V^T, where V is an orthogonal matrix whose columns are eigenvectors, and Lambda is a diagonal matrix of real eigenvalues. Why is this theorem so vital to our project? First, because our constructed matrix is symmetric, we are guaranteed that all eigenvalues are purely real numbers. Second, because distinct eigenvectors are mutually perpendicular, each eigenvector captures a completely unique, non-overlapping visual feature direction. This allows us to rank components objectively by their eigenvalue magnitude.'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SCRIPT:</a:t>
            </a:r>
          </a:p>
          <a:p>
            <a:r>
              <a:t>'On Slide 9, we address a critical distinction that faculty examiners frequently probe: Is the matrix computed in our code a true sample covariance matrix or a Gram matrix? In our source code file eigen_analysis.py, the function executes matrix.T @ matrix. Mathematically, this is the Gram matrix G = A^T A. A true covariance matrix requires subtracting column means and dividing by m - 1. However, using G = A^T A directly is mathematically advantageous because it connects directly to Singular Value Decomposition. Because A = U Sigma V^T, A^T A equals V Sigma^2 V^T. This proves that the eigenvectors of our Gram matrix are identical to the right singular vectors of the original image, and its eigenvalues are the squared singular values sigma_i^2. This theoretical link enables us to invoke the Eckart-Young optimality theorem directly.'</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SCRIPT:</a:t>
            </a:r>
          </a:p>
          <a:p>
            <a:r>
              <a:t>'On Slide 10, we examine the eigendecomposition process. The fundamental equation is G v_i = lambda_i v_i. Notice what the eigenvalue actually represents: the squared norm ||A v_i||^2 equals v_i^T (A^T A) v_i, which simplifies to lambda_i. Therefore, lambda_i directly measures the total squared energy of the image projected along that axis! In our implementation, we sort the eigenvalues in strictly descending order so that lambda_1 contains the maximum energy. We use NumPy's eigh function, which invokes LAPACK's symmetric solver. As shown in our verified test outputs, the numerical orthogonality error ||V^T V - I||_F is 2.48 x 10^{-15}, which confirms machine-precision orthonormality.'</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SCRIPT:</a:t>
            </a:r>
          </a:p>
          <a:p>
            <a:r>
              <a:t>'On Slide 11, we provide a complete worked numerical example on a 3 x 3 matrix so the committee can verify our mathematical pipeline by hand. We start with a symmetric 3 x 3 image matrix A. We compute the Gram matrix G = A^T A, which gives diagonal values 1.25, 1.50, and 1.25. Solving the characteristic polynomial yields three eigenvalues: lambda_1 = 3.0, lambda_2 = 1.0, and lambda_3 = 0.0. Notice that the trace of G is 4.0. The first eigenvalue alone accounts for 3.0 / 4.0, or exactly 75% of the total energy! When we truncate to k = 1, we project A onto v_1 to obtain a 3 x 1 vector Z, and reconstruct A_hat = Z V_1^T. The theoretical Frobenius error between A and A_hat is exactly sqrt(lambda_2 + lambda_3) = sqrt(1.0) = 1.0. This manually validates the exact equations implemented in our Python code.'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SCRIPT:</a:t>
            </a:r>
          </a:p>
          <a:p>
            <a:r>
              <a:t>'Slide 12 addresses a very common misconception that project examiners frequently challenge: Does selecting 16 out of 64 components automatically reduce the file size on disk by 75%? The answer is no, and we must be precise about the distinction between dimensionality reduction and file compression. Selecting 16 eigenvectors reduces the basis vector count by 75%. However, to reconstruct a single isolated image, you must store both the projection coordinates Z (1,024 numbers) and the basis vectors V_k (1,024 numbers), totaling 2,048 numbers. That represents a 50% raw parameter reduction for one image. Where does the 75% savings truly apply? In multi-image datasets—such as facial recognition databases—where the basis V_k is shared across thousands of images. Furthermore, true file compression requires entropy coding like Huffman coding. Our project demonstrates linear algebraic subspace reduction.'</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SCRIPT:</a:t>
            </a:r>
          </a:p>
          <a:p>
            <a:r>
              <a:t>'On Slide 13, we examine the reconstruction equations and the Eckart-Young-Mirsky theorem. The reconstruction is given by A_hat = A V_k V_k^T. Notice that V_k V_k^T is an orthogonal projection operator—it is idempotent (P^2 = P) and symmetric (P^T = P). Why is this specific reconstruction optimal? The Eckart-Young-Mirsky theorem proves that if you search through ALL possible matrices B of rank at most k, the matrix that minimizes the Frobenius distance ||A - B||_F is uniquely the truncated singular value expansion. Because our eigen-basis V_k directly supplies the right singular vectors of A, our reconstruction A V_k V_k^T matches the truncated SVD expansion identically. This proves our reconstruction is mathematically optimal in the least-squares sense.'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SCRIPT:</a:t>
            </a:r>
          </a:p>
          <a:p>
            <a:r>
              <a:t>'Slide 14 details the engineering implementation of our web application. The architecture adheres to Django's Model-Template-View pattern. When a user uploads an image, the request is processed by views.py, which invokes our numerical pipeline in math_pipeline.py. NumPy executes the matrix operations using BLAS-level vectorization. To render the matrices visually, visualization.py serializes the 2D arrays into in-memory PNG byte buffers and encodes them as Base64 data URIs. The frontend template renders a side-by-side comparison, a matrix inspection heatmap, dynamic dimensionality equations, and an error benchmarking table. The web application also integrates Sarvam AI to provide multilingual educational explanations in regional Indian languages.'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SCRIPT:</a:t>
            </a:r>
          </a:p>
          <a:p>
            <a:r>
              <a:t>'Slide 15 presents the verified empirical results obtained directly from running our test script get_metrics.py on the project benchmark. The table shows the exact Frobenius error and relative error percentage across ranks 1 through 64. Notice the dramatic decay of error: At k = 1, the relative error is 19.2%. By k = 5, the error drops by almost a factor of 10 to 2.03%. At k = 16—our default operating point—the relative error is just 0.0341%, meaning 99.96% of the matrix norm is preserved using only 16 basis directions! Notice also that at k = 34, the error reaches zero within machine precision. Why? Because our matrix analysis revealed that the numerical rank of the benchmark matrix is 34. Beyond rank 34, remaining eigenvalues are near zero, proving that natural images possess low intrinsic dimensionality.'</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SCRIPT:</a:t>
            </a:r>
          </a:p>
          <a:p>
            <a:r>
              <a:t>'On Slide 16, we present a realistic, critical appraisal of our project limitations and future scope. First, full eigendecomposition scales as O(n^3). While 64 x 64 executes in less than one millisecond, full decomposition of a 4K image would be computationally infeasible without iterative Krylov subspace or randomized SVD methods. Second, our current system processes single-channel grayscale data; extending this to 3D color tensors requires multi-way tensor decomposition. Third, an eigen-basis is global across the entire image. Standard JPEG overcomes this by dividing images into 8 x 8 blocks. Our future work aims to implement block-based eigen-transforms, adaptive energy-threshold selection, and true binary entropy coding.'</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SCRIPT:</a:t>
            </a:r>
          </a:p>
          <a:p>
            <a:r>
              <a:t>'To conclude: EigenLab successfully demonstrates how core theorems of linear algebra—specifically spectral decomposition and orthonormal projections—can be harnessed for digital image dimensionality reduction. We empirically validated the Eckart-Young theorem, showing that a 64 x 64 image can be compressed to 16 orthogonal components with less than 0.04% relative error. We backed this theory with a robust, interactive web platform. Our mathematical framework is grounded in authoritative literature from Gilbert Strang, Golub and Van Loan, and the landmark 1936 paper by Eckart and Young. Thank you for your time and attention. I am now prepared to answer any questions from the examination committee.'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1221"/>
          </a:solidFill>
          <a:ln>
            <a:solidFill>
              <a:srgbClr val="0A122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914400" y="731520"/>
            <a:ext cx="10362895" cy="45720"/>
          </a:xfrm>
          <a:prstGeom prst="rect">
            <a:avLst/>
          </a:prstGeom>
          <a:solidFill>
            <a:srgbClr val="D4AF37"/>
          </a:solidFill>
          <a:ln>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097280"/>
            <a:ext cx="10362895" cy="2377440"/>
          </a:xfrm>
          <a:prstGeom prst="rect">
            <a:avLst/>
          </a:prstGeom>
          <a:noFill/>
        </p:spPr>
        <p:txBody>
          <a:bodyPr wrap="square">
            <a:spAutoFit/>
          </a:bodyPr>
          <a:lstStyle/>
          <a:p>
            <a:pPr>
              <a:spcAft>
                <a:spcPts val="1200"/>
              </a:spcAft>
              <a:defRPr sz="1100" b="1">
                <a:solidFill>
                  <a:srgbClr val="D4AF37"/>
                </a:solidFill>
                <a:latin typeface="Calibri"/>
              </a:defRPr>
            </a:pPr>
            <a:r>
              <a:t>ACADEMIC MINI-PROJECT PRESENTATION  |  DEPARTMENT OF COMPUTER SCIENCE &amp; ENGINEERING</a:t>
            </a:r>
          </a:p>
          <a:p>
            <a:pPr>
              <a:spcAft>
                <a:spcPts val="1000"/>
              </a:spcAft>
              <a:defRPr sz="3200" b="1">
                <a:solidFill>
                  <a:srgbClr val="F8FAFC"/>
                </a:solidFill>
                <a:latin typeface="Calibri"/>
              </a:defRPr>
            </a:pPr>
            <a:r>
              <a:t>EigenLab: Image Compression and</a:t>
            </a:r>
            <a:br/>
            <a:r>
              <a:t>Eigen-Feature Analyzer Using Linear Algebra</a:t>
            </a:r>
          </a:p>
          <a:p>
            <a:pPr>
              <a:defRPr sz="1500">
                <a:solidFill>
                  <a:srgbClr val="38BDF8"/>
                </a:solidFill>
                <a:latin typeface="Calibri"/>
              </a:defRPr>
            </a:pPr>
            <a:r>
              <a:t>Dimensionality Reduction, Spectral Decomposition of the Gram Matrix, and Low-Rank Approximations</a:t>
            </a:r>
          </a:p>
        </p:txBody>
      </p:sp>
      <p:sp>
        <p:nvSpPr>
          <p:cNvPr id="5" name="Rounded Rectangle 4"/>
          <p:cNvSpPr/>
          <p:nvPr/>
        </p:nvSpPr>
        <p:spPr>
          <a:xfrm>
            <a:off x="914400" y="3931920"/>
            <a:ext cx="4937760" cy="2103120"/>
          </a:xfrm>
          <a:prstGeom prst="roundRect">
            <a:avLst/>
          </a:prstGeom>
          <a:solidFill>
            <a:srgbClr val="101C32"/>
          </a:solidFill>
          <a:ln w="15240">
            <a:solidFill>
              <a:srgbClr val="2438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43000" y="4096512"/>
            <a:ext cx="4480560" cy="1773936"/>
          </a:xfrm>
          <a:prstGeom prst="rect">
            <a:avLst/>
          </a:prstGeom>
          <a:noFill/>
        </p:spPr>
        <p:txBody>
          <a:bodyPr wrap="square" lIns="0" tIns="0" rIns="0" bIns="0">
            <a:spAutoFit/>
          </a:bodyPr>
          <a:lstStyle/>
          <a:p>
            <a:pPr>
              <a:spcAft>
                <a:spcPts val="800"/>
              </a:spcAft>
              <a:defRPr sz="1400" b="1">
                <a:solidFill>
                  <a:srgbClr val="D4AF37"/>
                </a:solidFill>
                <a:latin typeface="Calibri"/>
              </a:defRPr>
            </a:pPr>
            <a:r>
              <a:t>Student &amp; Course Details</a:t>
            </a:r>
          </a:p>
          <a:p>
            <a:pPr>
              <a:spcAft>
                <a:spcPts val="500"/>
              </a:spcAft>
              <a:defRPr sz="1100">
                <a:solidFill>
                  <a:srgbClr val="E2E8F0"/>
                </a:solidFill>
                <a:latin typeface="Calibri"/>
              </a:defRPr>
            </a:pPr>
            <a:r>
              <a:t>•  Candidate Name: [Student Name]</a:t>
            </a:r>
          </a:p>
          <a:p>
            <a:pPr>
              <a:spcAft>
                <a:spcPts val="500"/>
              </a:spcAft>
              <a:defRPr sz="1100">
                <a:solidFill>
                  <a:srgbClr val="E2E8F0"/>
                </a:solidFill>
                <a:latin typeface="Calibri"/>
              </a:defRPr>
            </a:pPr>
            <a:r>
              <a:t>•  USN / Student ID: [University Serial Number]</a:t>
            </a:r>
          </a:p>
          <a:p>
            <a:pPr>
              <a:spcAft>
                <a:spcPts val="500"/>
              </a:spcAft>
              <a:defRPr sz="1100">
                <a:solidFill>
                  <a:srgbClr val="E2E8F0"/>
                </a:solidFill>
                <a:latin typeface="Calibri"/>
              </a:defRPr>
            </a:pPr>
            <a:r>
              <a:t>•  Course Title: Linear Algebra &amp; Numerical Analysis</a:t>
            </a:r>
          </a:p>
          <a:p>
            <a:pPr>
              <a:spcAft>
                <a:spcPts val="500"/>
              </a:spcAft>
              <a:defRPr sz="1100">
                <a:solidFill>
                  <a:srgbClr val="E2E8F0"/>
                </a:solidFill>
                <a:latin typeface="Calibri"/>
              </a:defRPr>
            </a:pPr>
            <a:r>
              <a:t>•  Degree &amp; Semester: B.Tech / B.E., Semester IV / V</a:t>
            </a:r>
          </a:p>
          <a:p>
            <a:pPr>
              <a:spcAft>
                <a:spcPts val="500"/>
              </a:spcAft>
              <a:defRPr sz="1100">
                <a:solidFill>
                  <a:srgbClr val="E2E8F0"/>
                </a:solidFill>
                <a:latin typeface="Calibri"/>
              </a:defRPr>
            </a:pPr>
            <a:r>
              <a:t>•  Academic Year: 2025–2026</a:t>
            </a:r>
          </a:p>
        </p:txBody>
      </p:sp>
      <p:sp>
        <p:nvSpPr>
          <p:cNvPr id="7" name="Rounded Rectangle 6"/>
          <p:cNvSpPr/>
          <p:nvPr/>
        </p:nvSpPr>
        <p:spPr>
          <a:xfrm>
            <a:off x="6309360" y="3931920"/>
            <a:ext cx="4937760" cy="2103120"/>
          </a:xfrm>
          <a:prstGeom prst="roundRect">
            <a:avLst/>
          </a:prstGeom>
          <a:solidFill>
            <a:srgbClr val="101C32"/>
          </a:solidFill>
          <a:ln w="15240">
            <a:solidFill>
              <a:srgbClr val="2438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37960" y="4096512"/>
            <a:ext cx="4480560" cy="1773936"/>
          </a:xfrm>
          <a:prstGeom prst="rect">
            <a:avLst/>
          </a:prstGeom>
          <a:noFill/>
        </p:spPr>
        <p:txBody>
          <a:bodyPr wrap="square" lIns="0" tIns="0" rIns="0" bIns="0">
            <a:spAutoFit/>
          </a:bodyPr>
          <a:lstStyle/>
          <a:p>
            <a:pPr>
              <a:spcAft>
                <a:spcPts val="800"/>
              </a:spcAft>
              <a:defRPr sz="1400" b="1">
                <a:solidFill>
                  <a:srgbClr val="38BDF8"/>
                </a:solidFill>
                <a:latin typeface="Calibri"/>
              </a:defRPr>
            </a:pPr>
            <a:r>
              <a:t>Institutional &amp; Evaluation Details</a:t>
            </a:r>
          </a:p>
          <a:p>
            <a:pPr>
              <a:spcAft>
                <a:spcPts val="500"/>
              </a:spcAft>
              <a:defRPr sz="1100">
                <a:solidFill>
                  <a:srgbClr val="E2E8F0"/>
                </a:solidFill>
                <a:latin typeface="Calibri"/>
              </a:defRPr>
            </a:pPr>
            <a:r>
              <a:t>•  Faculty Guide: [Guide Name / Designation]</a:t>
            </a:r>
          </a:p>
          <a:p>
            <a:pPr>
              <a:spcAft>
                <a:spcPts val="500"/>
              </a:spcAft>
              <a:defRPr sz="1100">
                <a:solidFill>
                  <a:srgbClr val="E2E8F0"/>
                </a:solidFill>
                <a:latin typeface="Calibri"/>
              </a:defRPr>
            </a:pPr>
            <a:r>
              <a:t>•  Department: Department of Computer Science &amp; Engineering</a:t>
            </a:r>
          </a:p>
          <a:p>
            <a:pPr>
              <a:spcAft>
                <a:spcPts val="500"/>
              </a:spcAft>
              <a:defRPr sz="1100">
                <a:solidFill>
                  <a:srgbClr val="E2E8F0"/>
                </a:solidFill>
                <a:latin typeface="Calibri"/>
              </a:defRPr>
            </a:pPr>
            <a:r>
              <a:t>•  Institution: [College / University Name]</a:t>
            </a:r>
          </a:p>
          <a:p>
            <a:pPr>
              <a:spcAft>
                <a:spcPts val="500"/>
              </a:spcAft>
              <a:defRPr sz="1100">
                <a:solidFill>
                  <a:srgbClr val="E2E8F0"/>
                </a:solidFill>
                <a:latin typeface="Calibri"/>
              </a:defRPr>
            </a:pPr>
            <a:r>
              <a:t>•  Evaluation Type: Mini-Project &amp; Oral Viva Voce (100 Marks)</a:t>
            </a:r>
          </a:p>
          <a:p>
            <a:pPr>
              <a:spcAft>
                <a:spcPts val="500"/>
              </a:spcAft>
              <a:defRPr sz="1100">
                <a:solidFill>
                  <a:srgbClr val="E2E8F0"/>
                </a:solidFill>
                <a:latin typeface="Calibri"/>
              </a:defRPr>
            </a:pPr>
            <a:r>
              <a:t>•  Date of Presentation: October 2026</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1221"/>
          </a:solidFill>
          <a:ln>
            <a:solidFill>
              <a:srgbClr val="0A122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411480"/>
            <a:ext cx="10728655" cy="27432"/>
          </a:xfrm>
          <a:prstGeom prst="rect">
            <a:avLst/>
          </a:prstGeom>
          <a:solidFill>
            <a:srgbClr val="D4AF37"/>
          </a:solidFill>
          <a:ln>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502920"/>
            <a:ext cx="10728655" cy="274320"/>
          </a:xfrm>
          <a:prstGeom prst="rect">
            <a:avLst/>
          </a:prstGeom>
          <a:noFill/>
        </p:spPr>
        <p:txBody>
          <a:bodyPr wrap="square" lIns="0" tIns="0" rIns="0" bIns="0">
            <a:spAutoFit/>
          </a:bodyPr>
          <a:lstStyle/>
          <a:p>
            <a:pPr>
              <a:defRPr sz="1000" b="1">
                <a:solidFill>
                  <a:srgbClr val="D4AF37"/>
                </a:solidFill>
                <a:latin typeface="Calibri"/>
              </a:defRPr>
            </a:pPr>
            <a:r>
              <a:t>PROJECT ABSTRACT   |   SLIDE 2 OF 17</a:t>
            </a:r>
          </a:p>
        </p:txBody>
      </p:sp>
      <p:sp>
        <p:nvSpPr>
          <p:cNvPr id="5" name="TextBox 4"/>
          <p:cNvSpPr txBox="1"/>
          <p:nvPr/>
        </p:nvSpPr>
        <p:spPr>
          <a:xfrm>
            <a:off x="731520" y="777240"/>
            <a:ext cx="10728655" cy="594360"/>
          </a:xfrm>
          <a:prstGeom prst="rect">
            <a:avLst/>
          </a:prstGeom>
          <a:noFill/>
        </p:spPr>
        <p:txBody>
          <a:bodyPr wrap="square" lIns="0" tIns="0" rIns="0" bIns="0">
            <a:spAutoFit/>
          </a:bodyPr>
          <a:lstStyle/>
          <a:p>
            <a:pPr>
              <a:defRPr sz="2400" b="1">
                <a:solidFill>
                  <a:srgbClr val="F8FAFC"/>
                </a:solidFill>
                <a:latin typeface="Calibri"/>
              </a:defRPr>
            </a:pPr>
            <a:r>
              <a:t>Executive Summary of Problem, Methodology, and Findings</a:t>
            </a:r>
          </a:p>
        </p:txBody>
      </p:sp>
      <p:sp>
        <p:nvSpPr>
          <p:cNvPr id="6" name="TextBox 5"/>
          <p:cNvSpPr txBox="1"/>
          <p:nvPr/>
        </p:nvSpPr>
        <p:spPr>
          <a:xfrm>
            <a:off x="731520" y="1353312"/>
            <a:ext cx="10728655" cy="320040"/>
          </a:xfrm>
          <a:prstGeom prst="rect">
            <a:avLst/>
          </a:prstGeom>
          <a:noFill/>
        </p:spPr>
        <p:txBody>
          <a:bodyPr wrap="square" lIns="0" tIns="0" rIns="0" bIns="0">
            <a:spAutoFit/>
          </a:bodyPr>
          <a:lstStyle/>
          <a:p>
            <a:pPr>
              <a:defRPr sz="1200">
                <a:solidFill>
                  <a:srgbClr val="9CABC2"/>
                </a:solidFill>
                <a:latin typeface="Calibri"/>
              </a:defRPr>
            </a:pPr>
            <a:r>
              <a:t>Concise academic overview of the mathematical formulation, implementation, and empirical results.</a:t>
            </a:r>
          </a:p>
        </p:txBody>
      </p:sp>
      <p:sp>
        <p:nvSpPr>
          <p:cNvPr id="7" name="Rounded Rectangle 6"/>
          <p:cNvSpPr/>
          <p:nvPr/>
        </p:nvSpPr>
        <p:spPr>
          <a:xfrm>
            <a:off x="731520" y="1737360"/>
            <a:ext cx="10728655" cy="2194560"/>
          </a:xfrm>
          <a:prstGeom prst="roundRect">
            <a:avLst/>
          </a:prstGeom>
          <a:solidFill>
            <a:srgbClr val="101C32"/>
          </a:solidFill>
          <a:ln w="1524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60120" y="1901952"/>
            <a:ext cx="10271455" cy="1865376"/>
          </a:xfrm>
          <a:prstGeom prst="rect">
            <a:avLst/>
          </a:prstGeom>
          <a:noFill/>
        </p:spPr>
        <p:txBody>
          <a:bodyPr wrap="square" lIns="0" tIns="0" rIns="0" bIns="0">
            <a:spAutoFit/>
          </a:bodyPr>
          <a:lstStyle/>
          <a:p>
            <a:pPr>
              <a:spcAft>
                <a:spcPts val="800"/>
              </a:spcAft>
              <a:defRPr sz="1400" b="1">
                <a:solidFill>
                  <a:srgbClr val="D4AF37"/>
                </a:solidFill>
                <a:latin typeface="Calibri"/>
              </a:defRPr>
            </a:pPr>
            <a:r>
              <a:t>Project Abstract</a:t>
            </a:r>
          </a:p>
          <a:p>
            <a:pPr>
              <a:spcAft>
                <a:spcPts val="500"/>
              </a:spcAft>
              <a:defRPr sz="1100">
                <a:solidFill>
                  <a:srgbClr val="E2E8F0"/>
                </a:solidFill>
                <a:latin typeface="Calibri"/>
              </a:defRPr>
            </a:pPr>
            <a:r>
              <a:t>•  Digital images natively reside in high-dimensional Euclidean vector spaces where spatial autocorrelation creates severe redundancy.</a:t>
            </a:r>
          </a:p>
          <a:p>
            <a:pPr>
              <a:spcAft>
                <a:spcPts val="500"/>
              </a:spcAft>
              <a:defRPr sz="1100">
                <a:solidFill>
                  <a:srgbClr val="E2E8F0"/>
                </a:solidFill>
                <a:latin typeface="Calibri"/>
              </a:defRPr>
            </a:pPr>
            <a:r>
              <a:t>•  This project develops EigenLab, an interactive numerical computational framework that investigates eigen-based dimensionality reduction on digitized grayscale image matrices A in R^{64 x 64}.</a:t>
            </a:r>
          </a:p>
          <a:p>
            <a:pPr>
              <a:spcAft>
                <a:spcPts val="500"/>
              </a:spcAft>
              <a:defRPr sz="1100">
                <a:solidFill>
                  <a:srgbClr val="E2E8F0"/>
                </a:solidFill>
                <a:latin typeface="Calibri"/>
              </a:defRPr>
            </a:pPr>
            <a:r>
              <a:t>•  By computing the symmetric Gram matrix G = A^T A in R^{64 x 64} and performing spectral decomposition via Hermitian divide-and-conquer solvers, we extract an orthonormal eigen-basis V in R^{64 x 64} ranked by eigenvalue magnitude.</a:t>
            </a:r>
          </a:p>
          <a:p>
            <a:pPr>
              <a:spcAft>
                <a:spcPts val="500"/>
              </a:spcAft>
              <a:defRPr sz="1100">
                <a:solidFill>
                  <a:srgbClr val="E2E8F0"/>
                </a:solidFill>
                <a:latin typeface="Calibri"/>
              </a:defRPr>
            </a:pPr>
            <a:r>
              <a:t>•  Projecting the image onto a truncated k-dimensional subspace (V_k) achieves significant basis reduction; subsequent synthesis reconstructs an optimal low-rank matrix A_hat.</a:t>
            </a:r>
          </a:p>
          <a:p>
            <a:pPr>
              <a:spcAft>
                <a:spcPts val="500"/>
              </a:spcAft>
              <a:defRPr sz="1100">
                <a:solidFill>
                  <a:srgbClr val="E2E8F0"/>
                </a:solidFill>
                <a:latin typeface="Calibri"/>
              </a:defRPr>
            </a:pPr>
            <a:r>
              <a:t>•  Empirical evaluation reveals that retaining k = 16 components out of 64 preserves 99.96% of the Frobenius energy (relative Frobenius error &lt; 0.04%), verifying the Eckart-Young-Mirsky optimality theorem while providing an intuitive web-based pedagogical platform.</a:t>
            </a:r>
          </a:p>
        </p:txBody>
      </p:sp>
      <p:sp>
        <p:nvSpPr>
          <p:cNvPr id="9" name="Rounded Rectangle 8"/>
          <p:cNvSpPr/>
          <p:nvPr/>
        </p:nvSpPr>
        <p:spPr>
          <a:xfrm>
            <a:off x="731520" y="4206240"/>
            <a:ext cx="3291840" cy="2011680"/>
          </a:xfrm>
          <a:prstGeom prst="roundRect">
            <a:avLst/>
          </a:prstGeom>
          <a:solidFill>
            <a:srgbClr val="101C32"/>
          </a:solidFill>
          <a:ln w="15240">
            <a:solidFill>
              <a:srgbClr val="2438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60120" y="4370832"/>
            <a:ext cx="2834640" cy="1682496"/>
          </a:xfrm>
          <a:prstGeom prst="rect">
            <a:avLst/>
          </a:prstGeom>
          <a:noFill/>
        </p:spPr>
        <p:txBody>
          <a:bodyPr wrap="square" lIns="0" tIns="0" rIns="0" bIns="0">
            <a:spAutoFit/>
          </a:bodyPr>
          <a:lstStyle/>
          <a:p>
            <a:pPr>
              <a:spcAft>
                <a:spcPts val="800"/>
              </a:spcAft>
              <a:defRPr sz="1300" b="1">
                <a:solidFill>
                  <a:srgbClr val="38BDF8"/>
                </a:solidFill>
                <a:latin typeface="Calibri"/>
              </a:defRPr>
            </a:pPr>
            <a:r>
              <a:t>Theoretical Core</a:t>
            </a:r>
          </a:p>
          <a:p>
            <a:pPr>
              <a:spcAft>
                <a:spcPts val="500"/>
              </a:spcAft>
              <a:defRPr sz="1000">
                <a:solidFill>
                  <a:srgbClr val="E2E8F0"/>
                </a:solidFill>
                <a:latin typeface="Calibri"/>
              </a:defRPr>
            </a:pPr>
            <a:r>
              <a:t>•  Symmetric Gram matrix G = A^T A</a:t>
            </a:r>
          </a:p>
          <a:p>
            <a:pPr>
              <a:spcAft>
                <a:spcPts val="500"/>
              </a:spcAft>
              <a:defRPr sz="1000">
                <a:solidFill>
                  <a:srgbClr val="E2E8F0"/>
                </a:solidFill>
                <a:latin typeface="Calibri"/>
              </a:defRPr>
            </a:pPr>
            <a:r>
              <a:t>•  Spectral theorem guarantees real lambda_i &gt;= 0</a:t>
            </a:r>
          </a:p>
          <a:p>
            <a:pPr>
              <a:spcAft>
                <a:spcPts val="500"/>
              </a:spcAft>
              <a:defRPr sz="1000">
                <a:solidFill>
                  <a:srgbClr val="E2E8F0"/>
                </a:solidFill>
                <a:latin typeface="Calibri"/>
              </a:defRPr>
            </a:pPr>
            <a:r>
              <a:t>•  Orthonormal basis: V^T V = I_n</a:t>
            </a:r>
          </a:p>
          <a:p>
            <a:pPr>
              <a:spcAft>
                <a:spcPts val="500"/>
              </a:spcAft>
              <a:defRPr sz="1000">
                <a:solidFill>
                  <a:srgbClr val="E2E8F0"/>
                </a:solidFill>
                <a:latin typeface="Calibri"/>
              </a:defRPr>
            </a:pPr>
            <a:r>
              <a:t>•  Eckart-Young rank-k optimality</a:t>
            </a:r>
          </a:p>
        </p:txBody>
      </p:sp>
      <p:sp>
        <p:nvSpPr>
          <p:cNvPr id="11" name="Rounded Rectangle 10"/>
          <p:cNvSpPr/>
          <p:nvPr/>
        </p:nvSpPr>
        <p:spPr>
          <a:xfrm>
            <a:off x="4434840" y="4206240"/>
            <a:ext cx="3291840" cy="2011680"/>
          </a:xfrm>
          <a:prstGeom prst="roundRect">
            <a:avLst/>
          </a:prstGeom>
          <a:solidFill>
            <a:srgbClr val="101C32"/>
          </a:solidFill>
          <a:ln w="15240">
            <a:solidFill>
              <a:srgbClr val="2438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663440" y="4370832"/>
            <a:ext cx="2834640" cy="1682496"/>
          </a:xfrm>
          <a:prstGeom prst="rect">
            <a:avLst/>
          </a:prstGeom>
          <a:noFill/>
        </p:spPr>
        <p:txBody>
          <a:bodyPr wrap="square" lIns="0" tIns="0" rIns="0" bIns="0">
            <a:spAutoFit/>
          </a:bodyPr>
          <a:lstStyle/>
          <a:p>
            <a:pPr>
              <a:spcAft>
                <a:spcPts val="800"/>
              </a:spcAft>
              <a:defRPr sz="1300" b="1">
                <a:solidFill>
                  <a:srgbClr val="34D399"/>
                </a:solidFill>
                <a:latin typeface="Calibri"/>
              </a:defRPr>
            </a:pPr>
            <a:r>
              <a:t>Engineering Pipeline</a:t>
            </a:r>
          </a:p>
          <a:p>
            <a:pPr>
              <a:spcAft>
                <a:spcPts val="500"/>
              </a:spcAft>
              <a:defRPr sz="1000">
                <a:solidFill>
                  <a:srgbClr val="E2E8F0"/>
                </a:solidFill>
                <a:latin typeface="Calibri"/>
              </a:defRPr>
            </a:pPr>
            <a:r>
              <a:t>•  Pillow-based grayscale rasterization</a:t>
            </a:r>
          </a:p>
          <a:p>
            <a:pPr>
              <a:spcAft>
                <a:spcPts val="500"/>
              </a:spcAft>
              <a:defRPr sz="1000">
                <a:solidFill>
                  <a:srgbClr val="E2E8F0"/>
                </a:solidFill>
                <a:latin typeface="Calibri"/>
              </a:defRPr>
            </a:pPr>
            <a:r>
              <a:t>•  Standardized 64 x 64 float64 arrays</a:t>
            </a:r>
          </a:p>
          <a:p>
            <a:pPr>
              <a:spcAft>
                <a:spcPts val="500"/>
              </a:spcAft>
              <a:defRPr sz="1000">
                <a:solidFill>
                  <a:srgbClr val="E2E8F0"/>
                </a:solidFill>
                <a:latin typeface="Calibri"/>
              </a:defRPr>
            </a:pPr>
            <a:r>
              <a:t>•  NumPy vectorized LAPACK backend</a:t>
            </a:r>
          </a:p>
          <a:p>
            <a:pPr>
              <a:spcAft>
                <a:spcPts val="500"/>
              </a:spcAft>
              <a:defRPr sz="1000">
                <a:solidFill>
                  <a:srgbClr val="E2E8F0"/>
                </a:solidFill>
                <a:latin typeface="Calibri"/>
              </a:defRPr>
            </a:pPr>
            <a:r>
              <a:t>•  Django 5.x MTV web framework</a:t>
            </a:r>
          </a:p>
        </p:txBody>
      </p:sp>
      <p:sp>
        <p:nvSpPr>
          <p:cNvPr id="13" name="Rounded Rectangle 12"/>
          <p:cNvSpPr/>
          <p:nvPr/>
        </p:nvSpPr>
        <p:spPr>
          <a:xfrm>
            <a:off x="8138160" y="4206240"/>
            <a:ext cx="3291840" cy="2011680"/>
          </a:xfrm>
          <a:prstGeom prst="roundRect">
            <a:avLst/>
          </a:prstGeom>
          <a:solidFill>
            <a:srgbClr val="101C32"/>
          </a:solidFill>
          <a:ln w="15240">
            <a:solidFill>
              <a:srgbClr val="2438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366760" y="4370832"/>
            <a:ext cx="2834640" cy="1682496"/>
          </a:xfrm>
          <a:prstGeom prst="rect">
            <a:avLst/>
          </a:prstGeom>
          <a:noFill/>
        </p:spPr>
        <p:txBody>
          <a:bodyPr wrap="square" lIns="0" tIns="0" rIns="0" bIns="0">
            <a:spAutoFit/>
          </a:bodyPr>
          <a:lstStyle/>
          <a:p>
            <a:pPr>
              <a:spcAft>
                <a:spcPts val="800"/>
              </a:spcAft>
              <a:defRPr sz="1300" b="1">
                <a:solidFill>
                  <a:srgbClr val="FB7185"/>
                </a:solidFill>
                <a:latin typeface="Calibri"/>
              </a:defRPr>
            </a:pPr>
            <a:r>
              <a:t>Empirical Outcomes</a:t>
            </a:r>
          </a:p>
          <a:p>
            <a:pPr>
              <a:spcAft>
                <a:spcPts val="500"/>
              </a:spcAft>
              <a:defRPr sz="1000">
                <a:solidFill>
                  <a:srgbClr val="E2E8F0"/>
                </a:solidFill>
                <a:latin typeface="Calibri"/>
              </a:defRPr>
            </a:pPr>
            <a:r>
              <a:t>•  k=16 basis reduction (75% basis vectors)</a:t>
            </a:r>
          </a:p>
          <a:p>
            <a:pPr>
              <a:spcAft>
                <a:spcPts val="500"/>
              </a:spcAft>
              <a:defRPr sz="1000">
                <a:solidFill>
                  <a:srgbClr val="E2E8F0"/>
                </a:solidFill>
                <a:latin typeface="Calibri"/>
              </a:defRPr>
            </a:pPr>
            <a:r>
              <a:t>•  Relative Frobenius Error: 0.0341%</a:t>
            </a:r>
          </a:p>
          <a:p>
            <a:pPr>
              <a:spcAft>
                <a:spcPts val="500"/>
              </a:spcAft>
              <a:defRPr sz="1000">
                <a:solidFill>
                  <a:srgbClr val="E2E8F0"/>
                </a:solidFill>
                <a:latin typeface="Calibri"/>
              </a:defRPr>
            </a:pPr>
            <a:r>
              <a:t>•  Numerical Orthogonality Error: 2.48e-15</a:t>
            </a:r>
          </a:p>
          <a:p>
            <a:pPr>
              <a:spcAft>
                <a:spcPts val="500"/>
              </a:spcAft>
              <a:defRPr sz="1000">
                <a:solidFill>
                  <a:srgbClr val="E2E8F0"/>
                </a:solidFill>
                <a:latin typeface="Calibri"/>
              </a:defRPr>
            </a:pPr>
            <a:r>
              <a:t>•  Real-time interactive matrix previews</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1221"/>
          </a:solidFill>
          <a:ln>
            <a:solidFill>
              <a:srgbClr val="0A122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411480"/>
            <a:ext cx="10728655" cy="27432"/>
          </a:xfrm>
          <a:prstGeom prst="rect">
            <a:avLst/>
          </a:prstGeom>
          <a:solidFill>
            <a:srgbClr val="D4AF37"/>
          </a:solidFill>
          <a:ln>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502920"/>
            <a:ext cx="10728655" cy="274320"/>
          </a:xfrm>
          <a:prstGeom prst="rect">
            <a:avLst/>
          </a:prstGeom>
          <a:noFill/>
        </p:spPr>
        <p:txBody>
          <a:bodyPr wrap="square" lIns="0" tIns="0" rIns="0" bIns="0">
            <a:spAutoFit/>
          </a:bodyPr>
          <a:lstStyle/>
          <a:p>
            <a:pPr>
              <a:defRPr sz="1000" b="1">
                <a:solidFill>
                  <a:srgbClr val="D4AF37"/>
                </a:solidFill>
                <a:latin typeface="Calibri"/>
              </a:defRPr>
            </a:pPr>
            <a:r>
              <a:t>INTRODUCTION &amp; IMAGE REPRESENTATION   |   SLIDE 3 OF 17</a:t>
            </a:r>
          </a:p>
        </p:txBody>
      </p:sp>
      <p:sp>
        <p:nvSpPr>
          <p:cNvPr id="5" name="TextBox 4"/>
          <p:cNvSpPr txBox="1"/>
          <p:nvPr/>
        </p:nvSpPr>
        <p:spPr>
          <a:xfrm>
            <a:off x="731520" y="777240"/>
            <a:ext cx="10728655" cy="594360"/>
          </a:xfrm>
          <a:prstGeom prst="rect">
            <a:avLst/>
          </a:prstGeom>
          <a:noFill/>
        </p:spPr>
        <p:txBody>
          <a:bodyPr wrap="square" lIns="0" tIns="0" rIns="0" bIns="0">
            <a:spAutoFit/>
          </a:bodyPr>
          <a:lstStyle/>
          <a:p>
            <a:pPr>
              <a:defRPr sz="2400" b="1">
                <a:solidFill>
                  <a:srgbClr val="F8FAFC"/>
                </a:solidFill>
                <a:latin typeface="Calibri"/>
              </a:defRPr>
            </a:pPr>
            <a:r>
              <a:t>Digital Images as Linear Algebraic Operators</a:t>
            </a:r>
          </a:p>
        </p:txBody>
      </p:sp>
      <p:sp>
        <p:nvSpPr>
          <p:cNvPr id="6" name="TextBox 5"/>
          <p:cNvSpPr txBox="1"/>
          <p:nvPr/>
        </p:nvSpPr>
        <p:spPr>
          <a:xfrm>
            <a:off x="731520" y="1353312"/>
            <a:ext cx="10728655" cy="320040"/>
          </a:xfrm>
          <a:prstGeom prst="rect">
            <a:avLst/>
          </a:prstGeom>
          <a:noFill/>
        </p:spPr>
        <p:txBody>
          <a:bodyPr wrap="square" lIns="0" tIns="0" rIns="0" bIns="0">
            <a:spAutoFit/>
          </a:bodyPr>
          <a:lstStyle/>
          <a:p>
            <a:pPr>
              <a:defRPr sz="1200">
                <a:solidFill>
                  <a:srgbClr val="9CABC2"/>
                </a:solidFill>
                <a:latin typeface="Calibri"/>
              </a:defRPr>
            </a:pPr>
            <a:r>
              <a:t>Connecting discrete raster pixels to finite-dimensional matrix vector spaces.</a:t>
            </a:r>
          </a:p>
        </p:txBody>
      </p:sp>
      <p:sp>
        <p:nvSpPr>
          <p:cNvPr id="7" name="Rounded Rectangle 6"/>
          <p:cNvSpPr/>
          <p:nvPr/>
        </p:nvSpPr>
        <p:spPr>
          <a:xfrm>
            <a:off x="731520" y="1737360"/>
            <a:ext cx="5120640" cy="4480560"/>
          </a:xfrm>
          <a:prstGeom prst="roundRect">
            <a:avLst/>
          </a:prstGeom>
          <a:solidFill>
            <a:srgbClr val="101C32"/>
          </a:solidFill>
          <a:ln w="15240">
            <a:solidFill>
              <a:srgbClr val="2438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60120" y="1901952"/>
            <a:ext cx="4663440" cy="4151376"/>
          </a:xfrm>
          <a:prstGeom prst="rect">
            <a:avLst/>
          </a:prstGeom>
          <a:noFill/>
        </p:spPr>
        <p:txBody>
          <a:bodyPr wrap="square" lIns="0" tIns="0" rIns="0" bIns="0">
            <a:spAutoFit/>
          </a:bodyPr>
          <a:lstStyle/>
          <a:p>
            <a:pPr>
              <a:spcAft>
                <a:spcPts val="800"/>
              </a:spcAft>
              <a:defRPr sz="1400" b="1">
                <a:solidFill>
                  <a:srgbClr val="38BDF8"/>
                </a:solidFill>
                <a:latin typeface="Calibri"/>
              </a:defRPr>
            </a:pPr>
            <a:r>
              <a:t>The Image as a Matrix Operator</a:t>
            </a:r>
          </a:p>
          <a:p>
            <a:pPr>
              <a:spcAft>
                <a:spcPts val="500"/>
              </a:spcAft>
              <a:defRPr sz="1100">
                <a:solidFill>
                  <a:srgbClr val="E2E8F0"/>
                </a:solidFill>
                <a:latin typeface="Calibri"/>
              </a:defRPr>
            </a:pPr>
            <a:r>
              <a:t>•  In computer vision, a grayscale image is not merely a visual artifact, but a 2-dimensional real matrix A in R^{m x n}.</a:t>
            </a:r>
          </a:p>
          <a:p>
            <a:pPr>
              <a:spcAft>
                <a:spcPts val="500"/>
              </a:spcAft>
              <a:defRPr sz="1100">
                <a:solidFill>
                  <a:srgbClr val="E2E8F0"/>
                </a:solidFill>
                <a:latin typeface="Calibri"/>
              </a:defRPr>
            </a:pPr>
            <a:r>
              <a:t>•  Each element A_{i,j} corresponds to a spatial coordinate with quantized luminous intensity in the discrete range [0, 255].</a:t>
            </a:r>
          </a:p>
          <a:p>
            <a:pPr>
              <a:spcAft>
                <a:spcPts val="500"/>
              </a:spcAft>
              <a:defRPr sz="1100">
                <a:solidFill>
                  <a:srgbClr val="E2E8F0"/>
                </a:solidFill>
                <a:latin typeface="Calibri"/>
              </a:defRPr>
            </a:pPr>
            <a:r>
              <a:t>•  By normalizing by 255.0, we map the pixel intensity space onto the unit interval [0.0, 1.0] as double-precision floating-point numbers.</a:t>
            </a:r>
          </a:p>
          <a:p>
            <a:pPr>
              <a:spcAft>
                <a:spcPts val="500"/>
              </a:spcAft>
              <a:defRPr sz="1100">
                <a:solidFill>
                  <a:srgbClr val="E2E8F0"/>
                </a:solidFill>
                <a:latin typeface="Calibri"/>
              </a:defRPr>
            </a:pPr>
            <a:r>
              <a:t>•  Each column a_j in R^m represents a vertical feature vector, and each row represents a horizontal scanline.</a:t>
            </a:r>
          </a:p>
          <a:p>
            <a:pPr>
              <a:spcAft>
                <a:spcPts val="500"/>
              </a:spcAft>
              <a:defRPr sz="1100">
                <a:solidFill>
                  <a:srgbClr val="E2E8F0"/>
                </a:solidFill>
                <a:latin typeface="Calibri"/>
              </a:defRPr>
            </a:pPr>
            <a:r>
              <a:t>•  Natural images exhibit high spatial correlation: adjacent pixels and columns share similar intensity levels, creating strong linear dependencies.</a:t>
            </a:r>
          </a:p>
          <a:p>
            <a:pPr>
              <a:spcAft>
                <a:spcPts val="500"/>
              </a:spcAft>
              <a:defRPr sz="1100">
                <a:solidFill>
                  <a:srgbClr val="E2E8F0"/>
                </a:solidFill>
                <a:latin typeface="Calibri"/>
              </a:defRPr>
            </a:pPr>
            <a:r>
              <a:t>•  Consequently, the column vectors {a_1, a_2, ..., a_n} span an effective subspace whose geometric dimension is far smaller than n.</a:t>
            </a:r>
          </a:p>
        </p:txBody>
      </p:sp>
      <p:sp>
        <p:nvSpPr>
          <p:cNvPr id="9" name="Rounded Rectangle 8"/>
          <p:cNvSpPr/>
          <p:nvPr/>
        </p:nvSpPr>
        <p:spPr>
          <a:xfrm>
            <a:off x="6309360" y="1737360"/>
            <a:ext cx="5120640" cy="4480560"/>
          </a:xfrm>
          <a:prstGeom prst="roundRect">
            <a:avLst/>
          </a:prstGeom>
          <a:solidFill>
            <a:srgbClr val="101C32"/>
          </a:solidFill>
          <a:ln w="15240">
            <a:solidFill>
              <a:srgbClr val="2438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537960" y="1901952"/>
            <a:ext cx="4663440" cy="4151376"/>
          </a:xfrm>
          <a:prstGeom prst="rect">
            <a:avLst/>
          </a:prstGeom>
          <a:noFill/>
        </p:spPr>
        <p:txBody>
          <a:bodyPr wrap="square" lIns="0" tIns="0" rIns="0" bIns="0">
            <a:spAutoFit/>
          </a:bodyPr>
          <a:lstStyle/>
          <a:p>
            <a:pPr>
              <a:spcAft>
                <a:spcPts val="800"/>
              </a:spcAft>
              <a:defRPr sz="1400" b="1">
                <a:solidFill>
                  <a:srgbClr val="D4AF37"/>
                </a:solidFill>
                <a:latin typeface="Calibri"/>
              </a:defRPr>
            </a:pPr>
            <a:r>
              <a:t>Linear Algebra in Image Processing</a:t>
            </a:r>
          </a:p>
          <a:p>
            <a:pPr>
              <a:spcAft>
                <a:spcPts val="500"/>
              </a:spcAft>
              <a:defRPr sz="1100">
                <a:solidFill>
                  <a:srgbClr val="E2E8F0"/>
                </a:solidFill>
                <a:latin typeface="Calibri"/>
              </a:defRPr>
            </a:pPr>
            <a:r>
              <a:t>•  Vector Space Formulation: An m x n image resides in the vector space R^{m x n} equipped with the Frobenius inner product &lt;A, B&gt; = Tr(A^T B).</a:t>
            </a:r>
          </a:p>
          <a:p>
            <a:pPr>
              <a:spcAft>
                <a:spcPts val="500"/>
              </a:spcAft>
              <a:defRPr sz="1100">
                <a:solidFill>
                  <a:srgbClr val="E2E8F0"/>
                </a:solidFill>
                <a:latin typeface="Calibri"/>
              </a:defRPr>
            </a:pPr>
            <a:r>
              <a:t>•  Basis Representation: In the standard Cartesian basis, every pixel is treated as independent, ignoring spatial coherence.</a:t>
            </a:r>
          </a:p>
          <a:p>
            <a:pPr>
              <a:spcAft>
                <a:spcPts val="500"/>
              </a:spcAft>
              <a:defRPr sz="1100">
                <a:solidFill>
                  <a:srgbClr val="E2E8F0"/>
                </a:solidFill>
                <a:latin typeface="Calibri"/>
              </a:defRPr>
            </a:pPr>
            <a:r>
              <a:t>•  Coordinate Transformation: Linear algebra enables us to rotate the coordinate axes to an orthonormal basis aligned with the dominant variance of the image.</a:t>
            </a:r>
          </a:p>
          <a:p>
            <a:pPr>
              <a:spcAft>
                <a:spcPts val="500"/>
              </a:spcAft>
              <a:defRPr sz="1100">
                <a:solidFill>
                  <a:srgbClr val="E2E8F0"/>
                </a:solidFill>
                <a:latin typeface="Calibri"/>
              </a:defRPr>
            </a:pPr>
            <a:r>
              <a:t>•  Energy Compaction: In an eigen-basis, the total variance of the matrix is concentrated into the first few primary coordinates.</a:t>
            </a:r>
          </a:p>
          <a:p>
            <a:pPr>
              <a:spcAft>
                <a:spcPts val="500"/>
              </a:spcAft>
              <a:defRPr sz="1100">
                <a:solidFill>
                  <a:srgbClr val="E2E8F0"/>
                </a:solidFill>
                <a:latin typeface="Calibri"/>
              </a:defRPr>
            </a:pPr>
            <a:r>
              <a:t>•  Filtering Noise: By zeroing out coordinates corresponding to near-zero eigenvalues, we naturally discard high-frequency noise while retaining core geometric morphology.</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1221"/>
          </a:solidFill>
          <a:ln>
            <a:solidFill>
              <a:srgbClr val="0A122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411480"/>
            <a:ext cx="10728655" cy="27432"/>
          </a:xfrm>
          <a:prstGeom prst="rect">
            <a:avLst/>
          </a:prstGeom>
          <a:solidFill>
            <a:srgbClr val="D4AF37"/>
          </a:solidFill>
          <a:ln>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502920"/>
            <a:ext cx="10728655" cy="274320"/>
          </a:xfrm>
          <a:prstGeom prst="rect">
            <a:avLst/>
          </a:prstGeom>
          <a:noFill/>
        </p:spPr>
        <p:txBody>
          <a:bodyPr wrap="square" lIns="0" tIns="0" rIns="0" bIns="0">
            <a:spAutoFit/>
          </a:bodyPr>
          <a:lstStyle/>
          <a:p>
            <a:pPr>
              <a:defRPr sz="1000" b="1">
                <a:solidFill>
                  <a:srgbClr val="D4AF37"/>
                </a:solidFill>
                <a:latin typeface="Calibri"/>
              </a:defRPr>
            </a:pPr>
            <a:r>
              <a:t>PROBLEM STATEMENT &amp; MOTIVATION   |   SLIDE 4 OF 17</a:t>
            </a:r>
          </a:p>
        </p:txBody>
      </p:sp>
      <p:sp>
        <p:nvSpPr>
          <p:cNvPr id="5" name="TextBox 4"/>
          <p:cNvSpPr txBox="1"/>
          <p:nvPr/>
        </p:nvSpPr>
        <p:spPr>
          <a:xfrm>
            <a:off x="731520" y="777240"/>
            <a:ext cx="10728655" cy="594360"/>
          </a:xfrm>
          <a:prstGeom prst="rect">
            <a:avLst/>
          </a:prstGeom>
          <a:noFill/>
        </p:spPr>
        <p:txBody>
          <a:bodyPr wrap="square" lIns="0" tIns="0" rIns="0" bIns="0">
            <a:spAutoFit/>
          </a:bodyPr>
          <a:lstStyle/>
          <a:p>
            <a:pPr>
              <a:defRPr sz="2400" b="1">
                <a:solidFill>
                  <a:srgbClr val="F8FAFC"/>
                </a:solidFill>
                <a:latin typeface="Calibri"/>
              </a:defRPr>
            </a:pPr>
            <a:r>
              <a:t>The Redundancy and Dimensionality Challenge</a:t>
            </a:r>
          </a:p>
        </p:txBody>
      </p:sp>
      <p:sp>
        <p:nvSpPr>
          <p:cNvPr id="6" name="TextBox 5"/>
          <p:cNvSpPr txBox="1"/>
          <p:nvPr/>
        </p:nvSpPr>
        <p:spPr>
          <a:xfrm>
            <a:off x="731520" y="1353312"/>
            <a:ext cx="10728655" cy="320040"/>
          </a:xfrm>
          <a:prstGeom prst="rect">
            <a:avLst/>
          </a:prstGeom>
          <a:noFill/>
        </p:spPr>
        <p:txBody>
          <a:bodyPr wrap="square" lIns="0" tIns="0" rIns="0" bIns="0">
            <a:spAutoFit/>
          </a:bodyPr>
          <a:lstStyle/>
          <a:p>
            <a:pPr>
              <a:defRPr sz="1200">
                <a:solidFill>
                  <a:srgbClr val="9CABC2"/>
                </a:solidFill>
                <a:latin typeface="Calibri"/>
              </a:defRPr>
            </a:pPr>
            <a:r>
              <a:t>Why standard image representations are inefficient and require subspace reduction.</a:t>
            </a:r>
          </a:p>
        </p:txBody>
      </p:sp>
      <p:sp>
        <p:nvSpPr>
          <p:cNvPr id="7" name="Rounded Rectangle 6"/>
          <p:cNvSpPr/>
          <p:nvPr/>
        </p:nvSpPr>
        <p:spPr>
          <a:xfrm>
            <a:off x="731520" y="1737360"/>
            <a:ext cx="5120640" cy="4480560"/>
          </a:xfrm>
          <a:prstGeom prst="roundRect">
            <a:avLst/>
          </a:prstGeom>
          <a:solidFill>
            <a:srgbClr val="101C32"/>
          </a:solidFill>
          <a:ln w="15240">
            <a:solidFill>
              <a:srgbClr val="2438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60120" y="1901952"/>
            <a:ext cx="4663440" cy="4151376"/>
          </a:xfrm>
          <a:prstGeom prst="rect">
            <a:avLst/>
          </a:prstGeom>
          <a:noFill/>
        </p:spPr>
        <p:txBody>
          <a:bodyPr wrap="square" lIns="0" tIns="0" rIns="0" bIns="0">
            <a:spAutoFit/>
          </a:bodyPr>
          <a:lstStyle/>
          <a:p>
            <a:pPr>
              <a:spcAft>
                <a:spcPts val="800"/>
              </a:spcAft>
              <a:defRPr sz="1400" b="1">
                <a:solidFill>
                  <a:srgbClr val="FB7185"/>
                </a:solidFill>
                <a:latin typeface="Calibri"/>
              </a:defRPr>
            </a:pPr>
            <a:r>
              <a:t>Problem Statement</a:t>
            </a:r>
          </a:p>
          <a:p>
            <a:pPr>
              <a:spcAft>
                <a:spcPts val="500"/>
              </a:spcAft>
              <a:defRPr sz="1100">
                <a:solidFill>
                  <a:srgbClr val="E2E8F0"/>
                </a:solidFill>
                <a:latin typeface="Calibri"/>
              </a:defRPr>
            </a:pPr>
            <a:r>
              <a:t>•  High Storage and Transmission Overhead: Storing raw matrices requires m x n memory allocations. For an uncompressed stream, redundant pixels consume bandwidth.</a:t>
            </a:r>
          </a:p>
          <a:p>
            <a:pPr>
              <a:spcAft>
                <a:spcPts val="500"/>
              </a:spcAft>
              <a:defRPr sz="1100">
                <a:solidFill>
                  <a:srgbClr val="E2E8F0"/>
                </a:solidFill>
                <a:latin typeface="Calibri"/>
              </a:defRPr>
            </a:pPr>
            <a:r>
              <a:t>•  Arbitrary Basis Representation: The standard basis e_i = [0, ..., 1, ..., 0]^T assumes all coordinate directions are equally significant, which is false for visual data.</a:t>
            </a:r>
          </a:p>
          <a:p>
            <a:pPr>
              <a:spcAft>
                <a:spcPts val="500"/>
              </a:spcAft>
              <a:defRPr sz="1100">
                <a:solidFill>
                  <a:srgbClr val="E2E8F0"/>
                </a:solidFill>
                <a:latin typeface="Calibri"/>
              </a:defRPr>
            </a:pPr>
            <a:r>
              <a:t>•  Absence of Analytical Prioritization: Standard pixel matrices do not order visual information by mathematical importance. Corruptions or truncations degrade the entire image uniformly.</a:t>
            </a:r>
          </a:p>
          <a:p>
            <a:pPr>
              <a:spcAft>
                <a:spcPts val="500"/>
              </a:spcAft>
              <a:defRPr sz="1100">
                <a:solidFill>
                  <a:srgbClr val="E2E8F0"/>
                </a:solidFill>
                <a:latin typeface="Calibri"/>
              </a:defRPr>
            </a:pPr>
            <a:r>
              <a:t>•  Computational Burden in Downstream Tasks: Computer vision algorithms (e.g., face recognition, pattern matching) scale quadratically or cubically with raw input dimension.</a:t>
            </a:r>
          </a:p>
          <a:p>
            <a:pPr>
              <a:spcAft>
                <a:spcPts val="500"/>
              </a:spcAft>
              <a:defRPr sz="1100">
                <a:solidFill>
                  <a:srgbClr val="E2E8F0"/>
                </a:solidFill>
                <a:latin typeface="Calibri"/>
              </a:defRPr>
            </a:pPr>
            <a:r>
              <a:t>•  Objective: Formulate a deterministic algebraic transformation that identifies the k most significant feature directions and projects the matrix onto that k-dimensional subspace.</a:t>
            </a:r>
          </a:p>
        </p:txBody>
      </p:sp>
      <p:sp>
        <p:nvSpPr>
          <p:cNvPr id="9" name="Rounded Rectangle 8"/>
          <p:cNvSpPr/>
          <p:nvPr/>
        </p:nvSpPr>
        <p:spPr>
          <a:xfrm>
            <a:off x="6309360" y="1737360"/>
            <a:ext cx="5120640" cy="4480560"/>
          </a:xfrm>
          <a:prstGeom prst="roundRect">
            <a:avLst/>
          </a:prstGeom>
          <a:solidFill>
            <a:srgbClr val="101C32"/>
          </a:solidFill>
          <a:ln w="15240">
            <a:solidFill>
              <a:srgbClr val="2438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537960" y="1901952"/>
            <a:ext cx="4663440" cy="4151376"/>
          </a:xfrm>
          <a:prstGeom prst="rect">
            <a:avLst/>
          </a:prstGeom>
          <a:noFill/>
        </p:spPr>
        <p:txBody>
          <a:bodyPr wrap="square" lIns="0" tIns="0" rIns="0" bIns="0">
            <a:spAutoFit/>
          </a:bodyPr>
          <a:lstStyle/>
          <a:p>
            <a:pPr>
              <a:spcAft>
                <a:spcPts val="800"/>
              </a:spcAft>
              <a:defRPr sz="1400" b="1">
                <a:solidFill>
                  <a:srgbClr val="34D399"/>
                </a:solidFill>
                <a:latin typeface="Calibri"/>
              </a:defRPr>
            </a:pPr>
            <a:r>
              <a:t>Engineering &amp; Educational Motivation</a:t>
            </a:r>
          </a:p>
          <a:p>
            <a:pPr>
              <a:spcAft>
                <a:spcPts val="500"/>
              </a:spcAft>
              <a:defRPr sz="1100">
                <a:solidFill>
                  <a:srgbClr val="E2E8F0"/>
                </a:solidFill>
                <a:latin typeface="Calibri"/>
              </a:defRPr>
            </a:pPr>
            <a:r>
              <a:t>•  Bridge Theoretical Algebra and Practice: Engineering curricula often teach eigenvalues, eigenvectors, and inner products in the abstract. This project provides concrete visual verification.</a:t>
            </a:r>
          </a:p>
          <a:p>
            <a:pPr>
              <a:spcAft>
                <a:spcPts val="500"/>
              </a:spcAft>
              <a:defRPr sz="1100">
                <a:solidFill>
                  <a:srgbClr val="E2E8F0"/>
                </a:solidFill>
                <a:latin typeface="Calibri"/>
              </a:defRPr>
            </a:pPr>
            <a:r>
              <a:t>•  Optimal Low-Rank Synthesis: Determine how much energy is concentrated in top eigenvalues and verify the theoretical boundary where further components yield diminishing returns.</a:t>
            </a:r>
          </a:p>
          <a:p>
            <a:pPr>
              <a:spcAft>
                <a:spcPts val="500"/>
              </a:spcAft>
              <a:defRPr sz="1100">
                <a:solidFill>
                  <a:srgbClr val="E2E8F0"/>
                </a:solidFill>
                <a:latin typeface="Calibri"/>
              </a:defRPr>
            </a:pPr>
            <a:r>
              <a:t>•  Deterministic Reproducibility: Unlike black-box neural compression, eigen-based decomposition is mathematically rigorous, closed-form, and analytically verifiable.</a:t>
            </a:r>
          </a:p>
          <a:p>
            <a:pPr>
              <a:spcAft>
                <a:spcPts val="500"/>
              </a:spcAft>
              <a:defRPr sz="1100">
                <a:solidFill>
                  <a:srgbClr val="E2E8F0"/>
                </a:solidFill>
                <a:latin typeface="Calibri"/>
              </a:defRPr>
            </a:pPr>
            <a:r>
              <a:t>•  Pedagogical Web Framework: Build an accessible tool allowing students and researchers to inspect intermediate matrices, verify orthogonality, and evaluate reconstruction error in real time.</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1221"/>
          </a:solidFill>
          <a:ln>
            <a:solidFill>
              <a:srgbClr val="0A122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411480"/>
            <a:ext cx="10728655" cy="27432"/>
          </a:xfrm>
          <a:prstGeom prst="rect">
            <a:avLst/>
          </a:prstGeom>
          <a:solidFill>
            <a:srgbClr val="D4AF37"/>
          </a:solidFill>
          <a:ln>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502920"/>
            <a:ext cx="10728655" cy="274320"/>
          </a:xfrm>
          <a:prstGeom prst="rect">
            <a:avLst/>
          </a:prstGeom>
          <a:noFill/>
        </p:spPr>
        <p:txBody>
          <a:bodyPr wrap="square" lIns="0" tIns="0" rIns="0" bIns="0">
            <a:spAutoFit/>
          </a:bodyPr>
          <a:lstStyle/>
          <a:p>
            <a:pPr>
              <a:defRPr sz="1000" b="1">
                <a:solidFill>
                  <a:srgbClr val="D4AF37"/>
                </a:solidFill>
                <a:latin typeface="Calibri"/>
              </a:defRPr>
            </a:pPr>
            <a:r>
              <a:t>OBJECTIVES AND SCOPE   |   SLIDE 5 OF 17</a:t>
            </a:r>
          </a:p>
        </p:txBody>
      </p:sp>
      <p:sp>
        <p:nvSpPr>
          <p:cNvPr id="5" name="TextBox 4"/>
          <p:cNvSpPr txBox="1"/>
          <p:nvPr/>
        </p:nvSpPr>
        <p:spPr>
          <a:xfrm>
            <a:off x="731520" y="777240"/>
            <a:ext cx="10728655" cy="594360"/>
          </a:xfrm>
          <a:prstGeom prst="rect">
            <a:avLst/>
          </a:prstGeom>
          <a:noFill/>
        </p:spPr>
        <p:txBody>
          <a:bodyPr wrap="square" lIns="0" tIns="0" rIns="0" bIns="0">
            <a:spAutoFit/>
          </a:bodyPr>
          <a:lstStyle/>
          <a:p>
            <a:pPr>
              <a:defRPr sz="2400" b="1">
                <a:solidFill>
                  <a:srgbClr val="F8FAFC"/>
                </a:solidFill>
                <a:latin typeface="Calibri"/>
              </a:defRPr>
            </a:pPr>
            <a:r>
              <a:t>Clear Quantifiable Goals and Project Boundaries</a:t>
            </a:r>
          </a:p>
        </p:txBody>
      </p:sp>
      <p:sp>
        <p:nvSpPr>
          <p:cNvPr id="6" name="TextBox 5"/>
          <p:cNvSpPr txBox="1"/>
          <p:nvPr/>
        </p:nvSpPr>
        <p:spPr>
          <a:xfrm>
            <a:off x="731520" y="1353312"/>
            <a:ext cx="10728655" cy="320040"/>
          </a:xfrm>
          <a:prstGeom prst="rect">
            <a:avLst/>
          </a:prstGeom>
          <a:noFill/>
        </p:spPr>
        <p:txBody>
          <a:bodyPr wrap="square" lIns="0" tIns="0" rIns="0" bIns="0">
            <a:spAutoFit/>
          </a:bodyPr>
          <a:lstStyle/>
          <a:p>
            <a:pPr>
              <a:defRPr sz="1200">
                <a:solidFill>
                  <a:srgbClr val="9CABC2"/>
                </a:solidFill>
                <a:latin typeface="Calibri"/>
              </a:defRPr>
            </a:pPr>
            <a:r>
              <a:t>Defining the technical scope, implementation boundaries, and non-goals of this project.</a:t>
            </a:r>
          </a:p>
        </p:txBody>
      </p:sp>
      <p:sp>
        <p:nvSpPr>
          <p:cNvPr id="7" name="Rounded Rectangle 6"/>
          <p:cNvSpPr/>
          <p:nvPr/>
        </p:nvSpPr>
        <p:spPr>
          <a:xfrm>
            <a:off x="731520" y="1737360"/>
            <a:ext cx="5120640" cy="4480560"/>
          </a:xfrm>
          <a:prstGeom prst="roundRect">
            <a:avLst/>
          </a:prstGeom>
          <a:solidFill>
            <a:srgbClr val="101C32"/>
          </a:solidFill>
          <a:ln w="15240">
            <a:solidFill>
              <a:srgbClr val="2438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60120" y="1901952"/>
            <a:ext cx="4663440" cy="4151376"/>
          </a:xfrm>
          <a:prstGeom prst="rect">
            <a:avLst/>
          </a:prstGeom>
          <a:noFill/>
        </p:spPr>
        <p:txBody>
          <a:bodyPr wrap="square" lIns="0" tIns="0" rIns="0" bIns="0">
            <a:spAutoFit/>
          </a:bodyPr>
          <a:lstStyle/>
          <a:p>
            <a:pPr>
              <a:spcAft>
                <a:spcPts val="800"/>
              </a:spcAft>
              <a:defRPr sz="1300" b="1">
                <a:solidFill>
                  <a:srgbClr val="D4AF37"/>
                </a:solidFill>
                <a:latin typeface="Calibri"/>
              </a:defRPr>
            </a:pPr>
            <a:r>
              <a:t>Quantifiable Project Objectives</a:t>
            </a:r>
          </a:p>
          <a:p>
            <a:pPr>
              <a:spcAft>
                <a:spcPts val="500"/>
              </a:spcAft>
              <a:defRPr sz="1000">
                <a:solidFill>
                  <a:srgbClr val="E2E8F0"/>
                </a:solidFill>
                <a:latin typeface="Calibri"/>
              </a:defRPr>
            </a:pPr>
            <a:r>
              <a:t>•  1. Automated Matrix Ingestion: Implement robust image loading and preprocessing pipeline that transforms arbitrary raster formats into standardized 64 x 64 normalized matrices A in [0, 1]^{64 x 64}.</a:t>
            </a:r>
          </a:p>
          <a:p>
            <a:pPr>
              <a:spcAft>
                <a:spcPts val="500"/>
              </a:spcAft>
              <a:defRPr sz="1000">
                <a:solidFill>
                  <a:srgbClr val="E2E8F0"/>
                </a:solidFill>
                <a:latin typeface="Calibri"/>
              </a:defRPr>
            </a:pPr>
            <a:r>
              <a:t>•  2. Gram Matrix Construction: Construct the symmetric positive semi-definite matrix G = A^T A in R^{64 x 64} using optimized BLAS matrix multiplication.</a:t>
            </a:r>
          </a:p>
          <a:p>
            <a:pPr>
              <a:spcAft>
                <a:spcPts val="500"/>
              </a:spcAft>
              <a:defRPr sz="1000">
                <a:solidFill>
                  <a:srgbClr val="E2E8F0"/>
                </a:solidFill>
                <a:latin typeface="Calibri"/>
              </a:defRPr>
            </a:pPr>
            <a:r>
              <a:t>•  3. Spectral Decomposition: Solve G v_i = lambda_i v_i to obtain complete sets of sorted eigenvalues and orthonormal eigenvectors V in R^{64 x 64}.</a:t>
            </a:r>
          </a:p>
          <a:p>
            <a:pPr>
              <a:spcAft>
                <a:spcPts val="500"/>
              </a:spcAft>
              <a:defRPr sz="1000">
                <a:solidFill>
                  <a:srgbClr val="E2E8F0"/>
                </a:solidFill>
                <a:latin typeface="Calibri"/>
              </a:defRPr>
            </a:pPr>
            <a:r>
              <a:t>•  4. Orthogonality Verification: Numerically verify that V^T V = I_n within machine precision (tolerance &lt; 10^{-8}).</a:t>
            </a:r>
          </a:p>
          <a:p>
            <a:pPr>
              <a:spcAft>
                <a:spcPts val="500"/>
              </a:spcAft>
              <a:defRPr sz="1000">
                <a:solidFill>
                  <a:srgbClr val="E2E8F0"/>
                </a:solidFill>
                <a:latin typeface="Calibri"/>
              </a:defRPr>
            </a:pPr>
            <a:r>
              <a:t>•  5. Truncated Subspace Projection: Project matrix A onto top-k eigenvectors (Z = A V_k) and reconstruct low-rank synthesis A_hat = Z V_k^T.</a:t>
            </a:r>
          </a:p>
          <a:p>
            <a:pPr>
              <a:spcAft>
                <a:spcPts val="500"/>
              </a:spcAft>
              <a:defRPr sz="1000">
                <a:solidFill>
                  <a:srgbClr val="E2E8F0"/>
                </a:solidFill>
                <a:latin typeface="Calibri"/>
              </a:defRPr>
            </a:pPr>
            <a:r>
              <a:t>•  6. Quantitative Error Benchmarking: Compute Frobenius norm error ||A - A_hat||_F and relative error percentage across user-selectable ranks k in {1, 5, 10, 16, 20, 32, 64}.</a:t>
            </a:r>
          </a:p>
        </p:txBody>
      </p:sp>
      <p:sp>
        <p:nvSpPr>
          <p:cNvPr id="9" name="Rounded Rectangle 8"/>
          <p:cNvSpPr/>
          <p:nvPr/>
        </p:nvSpPr>
        <p:spPr>
          <a:xfrm>
            <a:off x="6309360" y="1737360"/>
            <a:ext cx="5120640" cy="4480560"/>
          </a:xfrm>
          <a:prstGeom prst="roundRect">
            <a:avLst/>
          </a:prstGeom>
          <a:solidFill>
            <a:srgbClr val="101C32"/>
          </a:solidFill>
          <a:ln w="15240">
            <a:solidFill>
              <a:srgbClr val="2438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537960" y="1901952"/>
            <a:ext cx="4663440" cy="4151376"/>
          </a:xfrm>
          <a:prstGeom prst="rect">
            <a:avLst/>
          </a:prstGeom>
          <a:noFill/>
        </p:spPr>
        <p:txBody>
          <a:bodyPr wrap="square" lIns="0" tIns="0" rIns="0" bIns="0">
            <a:spAutoFit/>
          </a:bodyPr>
          <a:lstStyle/>
          <a:p>
            <a:pPr>
              <a:spcAft>
                <a:spcPts val="800"/>
              </a:spcAft>
              <a:defRPr sz="1300" b="1">
                <a:solidFill>
                  <a:srgbClr val="38BDF8"/>
                </a:solidFill>
                <a:latin typeface="Calibri"/>
              </a:defRPr>
            </a:pPr>
            <a:r>
              <a:t>Project Scope &amp; Boundary Constraints</a:t>
            </a:r>
          </a:p>
          <a:p>
            <a:pPr>
              <a:spcAft>
                <a:spcPts val="500"/>
              </a:spcAft>
              <a:defRPr sz="1000">
                <a:solidFill>
                  <a:srgbClr val="E2E8F0"/>
                </a:solidFill>
                <a:latin typeface="Calibri"/>
              </a:defRPr>
            </a:pPr>
            <a:r>
              <a:t>•  In-Scope Technical Boundaries:</a:t>
            </a:r>
          </a:p>
          <a:p>
            <a:pPr>
              <a:spcAft>
                <a:spcPts val="500"/>
              </a:spcAft>
              <a:defRPr sz="1000">
                <a:solidFill>
                  <a:srgbClr val="E2E8F0"/>
                </a:solidFill>
                <a:latin typeface="Calibri"/>
              </a:defRPr>
            </a:pPr>
            <a:r>
              <a:t>•  • Single-channel 2D grayscale matrices (A in R^{64 x 64}).</a:t>
            </a:r>
          </a:p>
          <a:p>
            <a:pPr>
              <a:spcAft>
                <a:spcPts val="500"/>
              </a:spcAft>
              <a:defRPr sz="1000">
                <a:solidFill>
                  <a:srgbClr val="E2E8F0"/>
                </a:solidFill>
                <a:latin typeface="Calibri"/>
              </a:defRPr>
            </a:pPr>
            <a:r>
              <a:t>•  • Exact spectral decomposition via LAPACK symmetric eigensolvers (np.linalg.eigh).</a:t>
            </a:r>
          </a:p>
          <a:p>
            <a:pPr>
              <a:spcAft>
                <a:spcPts val="500"/>
              </a:spcAft>
              <a:defRPr sz="1000">
                <a:solidFill>
                  <a:srgbClr val="E2E8F0"/>
                </a:solidFill>
                <a:latin typeface="Calibri"/>
              </a:defRPr>
            </a:pPr>
            <a:r>
              <a:t>•  • Full numerical reporting: Matrix rank, condition, eigenvalues, Frobenius distance.</a:t>
            </a:r>
          </a:p>
          <a:p>
            <a:pPr>
              <a:spcAft>
                <a:spcPts val="500"/>
              </a:spcAft>
              <a:defRPr sz="1000">
                <a:solidFill>
                  <a:srgbClr val="E2E8F0"/>
                </a:solidFill>
                <a:latin typeface="Calibri"/>
              </a:defRPr>
            </a:pPr>
            <a:r>
              <a:t>•  • In-memory dynamic visualization (Base64 data URIs) with interactive parameter controls.</a:t>
            </a:r>
          </a:p>
          <a:p>
            <a:pPr>
              <a:spcAft>
                <a:spcPts val="500"/>
              </a:spcAft>
              <a:defRPr sz="1000">
                <a:solidFill>
                  <a:srgbClr val="E2E8F0"/>
                </a:solidFill>
                <a:latin typeface="Calibri"/>
              </a:defRPr>
            </a:pPr>
            <a:r>
              <a:t>•  </a:t>
            </a:r>
            <a:br/>
            <a:r>
              <a:t>Explicit Non-Goals &amp; Out-of-Scope Elements:</a:t>
            </a:r>
          </a:p>
          <a:p>
            <a:pPr>
              <a:spcAft>
                <a:spcPts val="500"/>
              </a:spcAft>
              <a:defRPr sz="1000">
                <a:solidFill>
                  <a:srgbClr val="E2E8F0"/>
                </a:solidFill>
                <a:latin typeface="Calibri"/>
              </a:defRPr>
            </a:pPr>
            <a:r>
              <a:t>•  • Not an end-user file compression codec (e.g., JPEG/PNG entropy coding). Component reduction is distinct from file-size serialization.</a:t>
            </a:r>
          </a:p>
          <a:p>
            <a:pPr>
              <a:spcAft>
                <a:spcPts val="500"/>
              </a:spcAft>
              <a:defRPr sz="1000">
                <a:solidFill>
                  <a:srgbClr val="E2E8F0"/>
                </a:solidFill>
                <a:latin typeface="Calibri"/>
              </a:defRPr>
            </a:pPr>
            <a:r>
              <a:t>•  • Multi-channel RGB tensor decomposition is reserved for future research.</a:t>
            </a:r>
          </a:p>
          <a:p>
            <a:pPr>
              <a:spcAft>
                <a:spcPts val="500"/>
              </a:spcAft>
              <a:defRPr sz="1000">
                <a:solidFill>
                  <a:srgbClr val="E2E8F0"/>
                </a:solidFill>
                <a:latin typeface="Calibri"/>
              </a:defRPr>
            </a:pPr>
            <a:r>
              <a:t>•  • Arbitrary massive resolutions (&gt;1024x1024) are avoided to maintain real-time sub-second web execution.</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1221"/>
          </a:solidFill>
          <a:ln>
            <a:solidFill>
              <a:srgbClr val="0A122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411480"/>
            <a:ext cx="10728655" cy="27432"/>
          </a:xfrm>
          <a:prstGeom prst="rect">
            <a:avLst/>
          </a:prstGeom>
          <a:solidFill>
            <a:srgbClr val="D4AF37"/>
          </a:solidFill>
          <a:ln>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502920"/>
            <a:ext cx="10728655" cy="274320"/>
          </a:xfrm>
          <a:prstGeom prst="rect">
            <a:avLst/>
          </a:prstGeom>
          <a:noFill/>
        </p:spPr>
        <p:txBody>
          <a:bodyPr wrap="square" lIns="0" tIns="0" rIns="0" bIns="0">
            <a:spAutoFit/>
          </a:bodyPr>
          <a:lstStyle/>
          <a:p>
            <a:pPr>
              <a:defRPr sz="1000" b="1">
                <a:solidFill>
                  <a:srgbClr val="D4AF37"/>
                </a:solidFill>
                <a:latin typeface="Calibri"/>
              </a:defRPr>
            </a:pPr>
            <a:r>
              <a:t>PROPOSED SYSTEM &amp; ARCHITECTURE   |   SLIDE 6 OF 17</a:t>
            </a:r>
          </a:p>
        </p:txBody>
      </p:sp>
      <p:sp>
        <p:nvSpPr>
          <p:cNvPr id="5" name="TextBox 4"/>
          <p:cNvSpPr txBox="1"/>
          <p:nvPr/>
        </p:nvSpPr>
        <p:spPr>
          <a:xfrm>
            <a:off x="731520" y="777240"/>
            <a:ext cx="10728655" cy="594360"/>
          </a:xfrm>
          <a:prstGeom prst="rect">
            <a:avLst/>
          </a:prstGeom>
          <a:noFill/>
        </p:spPr>
        <p:txBody>
          <a:bodyPr wrap="square" lIns="0" tIns="0" rIns="0" bIns="0">
            <a:spAutoFit/>
          </a:bodyPr>
          <a:lstStyle/>
          <a:p>
            <a:pPr>
              <a:defRPr sz="2400" b="1">
                <a:solidFill>
                  <a:srgbClr val="F8FAFC"/>
                </a:solidFill>
                <a:latin typeface="Calibri"/>
              </a:defRPr>
            </a:pPr>
            <a:r>
              <a:t>End-to-End Computational Pipeline and Technology Stack</a:t>
            </a:r>
          </a:p>
        </p:txBody>
      </p:sp>
      <p:sp>
        <p:nvSpPr>
          <p:cNvPr id="6" name="TextBox 5"/>
          <p:cNvSpPr txBox="1"/>
          <p:nvPr/>
        </p:nvSpPr>
        <p:spPr>
          <a:xfrm>
            <a:off x="731520" y="1353312"/>
            <a:ext cx="10728655" cy="320040"/>
          </a:xfrm>
          <a:prstGeom prst="rect">
            <a:avLst/>
          </a:prstGeom>
          <a:noFill/>
        </p:spPr>
        <p:txBody>
          <a:bodyPr wrap="square" lIns="0" tIns="0" rIns="0" bIns="0">
            <a:spAutoFit/>
          </a:bodyPr>
          <a:lstStyle/>
          <a:p>
            <a:pPr>
              <a:defRPr sz="1200">
                <a:solidFill>
                  <a:srgbClr val="9CABC2"/>
                </a:solidFill>
                <a:latin typeface="Calibri"/>
              </a:defRPr>
            </a:pPr>
            <a:r>
              <a:t>Architectural dataflow from image upload through LAPACK decomposition to UI synthesis.</a:t>
            </a:r>
          </a:p>
        </p:txBody>
      </p:sp>
      <p:sp>
        <p:nvSpPr>
          <p:cNvPr id="7" name="Rounded Rectangle 6"/>
          <p:cNvSpPr/>
          <p:nvPr/>
        </p:nvSpPr>
        <p:spPr>
          <a:xfrm>
            <a:off x="731520" y="1737360"/>
            <a:ext cx="2468880" cy="1920240"/>
          </a:xfrm>
          <a:prstGeom prst="roundRect">
            <a:avLst/>
          </a:prstGeom>
          <a:solidFill>
            <a:srgbClr val="101C32"/>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1874519"/>
            <a:ext cx="2194560" cy="1645920"/>
          </a:xfrm>
          <a:prstGeom prst="rect">
            <a:avLst/>
          </a:prstGeom>
          <a:noFill/>
        </p:spPr>
        <p:txBody>
          <a:bodyPr wrap="square">
            <a:spAutoFit/>
          </a:bodyPr>
          <a:lstStyle/>
          <a:p>
            <a:pPr>
              <a:spcAft>
                <a:spcPts val="600"/>
              </a:spcAft>
              <a:defRPr sz="1200" b="1">
                <a:solidFill>
                  <a:srgbClr val="38BDF8"/>
                </a:solidFill>
                <a:latin typeface="Calibri"/>
              </a:defRPr>
            </a:pPr>
            <a:r>
              <a:t>Phase 1: Ingestion</a:t>
            </a:r>
          </a:p>
          <a:p>
            <a:pPr>
              <a:defRPr sz="1000">
                <a:solidFill>
                  <a:srgbClr val="E2E8F0"/>
                </a:solidFill>
                <a:latin typeface="Calibri"/>
              </a:defRPr>
            </a:pPr>
            <a:r>
              <a:t>Upload (PNG/JPEG)</a:t>
            </a:r>
            <a:br/>
            <a:r>
              <a:t>Grayscale 'L' mode</a:t>
            </a:r>
            <a:br/>
            <a:r>
              <a:t>Lanczos 64×64 resize</a:t>
            </a:r>
            <a:br/>
            <a:r>
              <a:t>Normalize to [0.0, 1.0]</a:t>
            </a:r>
          </a:p>
        </p:txBody>
      </p:sp>
      <p:sp>
        <p:nvSpPr>
          <p:cNvPr id="9" name="Rounded Rectangle 8"/>
          <p:cNvSpPr/>
          <p:nvPr/>
        </p:nvSpPr>
        <p:spPr>
          <a:xfrm>
            <a:off x="3474720" y="1737360"/>
            <a:ext cx="2468880" cy="1920240"/>
          </a:xfrm>
          <a:prstGeom prst="roundRect">
            <a:avLst/>
          </a:prstGeom>
          <a:solidFill>
            <a:srgbClr val="101C32"/>
          </a:solidFill>
          <a:ln w="1905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11880" y="1874519"/>
            <a:ext cx="2194560" cy="1645920"/>
          </a:xfrm>
          <a:prstGeom prst="rect">
            <a:avLst/>
          </a:prstGeom>
          <a:noFill/>
        </p:spPr>
        <p:txBody>
          <a:bodyPr wrap="square">
            <a:spAutoFit/>
          </a:bodyPr>
          <a:lstStyle/>
          <a:p>
            <a:pPr>
              <a:spcAft>
                <a:spcPts val="600"/>
              </a:spcAft>
              <a:defRPr sz="1200" b="1">
                <a:solidFill>
                  <a:srgbClr val="D4AF37"/>
                </a:solidFill>
                <a:latin typeface="Calibri"/>
              </a:defRPr>
            </a:pPr>
            <a:r>
              <a:t>Phase 2: Gram Matrix</a:t>
            </a:r>
          </a:p>
          <a:p>
            <a:pPr>
              <a:defRPr sz="1000">
                <a:solidFill>
                  <a:srgbClr val="E2E8F0"/>
                </a:solidFill>
                <a:latin typeface="Calibri"/>
              </a:defRPr>
            </a:pPr>
            <a:r>
              <a:t>A in R^{64 x 64}</a:t>
            </a:r>
            <a:br/>
            <a:r>
              <a:t>Compute G = A^T A</a:t>
            </a:r>
            <a:br/>
            <a:r>
              <a:t>Dimension: 64 x 64</a:t>
            </a:r>
            <a:br/>
            <a:r>
              <a:t>Verify G = G^T</a:t>
            </a:r>
          </a:p>
        </p:txBody>
      </p:sp>
      <p:sp>
        <p:nvSpPr>
          <p:cNvPr id="11" name="Rounded Rectangle 10"/>
          <p:cNvSpPr/>
          <p:nvPr/>
        </p:nvSpPr>
        <p:spPr>
          <a:xfrm>
            <a:off x="6217920" y="1737360"/>
            <a:ext cx="2468880" cy="1920240"/>
          </a:xfrm>
          <a:prstGeom prst="roundRect">
            <a:avLst/>
          </a:prstGeom>
          <a:solidFill>
            <a:srgbClr val="101C32"/>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355080" y="1874519"/>
            <a:ext cx="2194560" cy="1645920"/>
          </a:xfrm>
          <a:prstGeom prst="rect">
            <a:avLst/>
          </a:prstGeom>
          <a:noFill/>
        </p:spPr>
        <p:txBody>
          <a:bodyPr wrap="square">
            <a:spAutoFit/>
          </a:bodyPr>
          <a:lstStyle/>
          <a:p>
            <a:pPr>
              <a:spcAft>
                <a:spcPts val="600"/>
              </a:spcAft>
              <a:defRPr sz="1200" b="1">
                <a:solidFill>
                  <a:srgbClr val="34D399"/>
                </a:solidFill>
                <a:latin typeface="Calibri"/>
              </a:defRPr>
            </a:pPr>
            <a:r>
              <a:t>Phase 3: Eigensolver</a:t>
            </a:r>
          </a:p>
          <a:p>
            <a:pPr>
              <a:defRPr sz="1000">
                <a:solidFill>
                  <a:srgbClr val="E2E8F0"/>
                </a:solidFill>
                <a:latin typeface="Calibri"/>
              </a:defRPr>
            </a:pPr>
            <a:r>
              <a:t>np.linalg.eigh(G)</a:t>
            </a:r>
            <a:br/>
            <a:r>
              <a:t>Extract lambda_i, v_i</a:t>
            </a:r>
            <a:br/>
            <a:r>
              <a:t>Sort descending</a:t>
            </a:r>
            <a:br/>
            <a:r>
              <a:t>Select top-k: V_k</a:t>
            </a:r>
          </a:p>
        </p:txBody>
      </p:sp>
      <p:sp>
        <p:nvSpPr>
          <p:cNvPr id="13" name="Rounded Rectangle 12"/>
          <p:cNvSpPr/>
          <p:nvPr/>
        </p:nvSpPr>
        <p:spPr>
          <a:xfrm>
            <a:off x="8961120" y="1737360"/>
            <a:ext cx="2468880" cy="1920240"/>
          </a:xfrm>
          <a:prstGeom prst="roundRect">
            <a:avLst/>
          </a:prstGeom>
          <a:solidFill>
            <a:srgbClr val="101C32"/>
          </a:solidFill>
          <a:ln w="19050">
            <a:solidFill>
              <a:srgbClr val="FB7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098280" y="1874519"/>
            <a:ext cx="2194560" cy="1645920"/>
          </a:xfrm>
          <a:prstGeom prst="rect">
            <a:avLst/>
          </a:prstGeom>
          <a:noFill/>
        </p:spPr>
        <p:txBody>
          <a:bodyPr wrap="square">
            <a:spAutoFit/>
          </a:bodyPr>
          <a:lstStyle/>
          <a:p>
            <a:pPr>
              <a:spcAft>
                <a:spcPts val="600"/>
              </a:spcAft>
              <a:defRPr sz="1200" b="1">
                <a:solidFill>
                  <a:srgbClr val="FB7185"/>
                </a:solidFill>
                <a:latin typeface="Calibri"/>
              </a:defRPr>
            </a:pPr>
            <a:r>
              <a:t>Phase 4: Synthesis</a:t>
            </a:r>
          </a:p>
          <a:p>
            <a:pPr>
              <a:defRPr sz="1000">
                <a:solidFill>
                  <a:srgbClr val="E2E8F0"/>
                </a:solidFill>
                <a:latin typeface="Calibri"/>
              </a:defRPr>
            </a:pPr>
            <a:r>
              <a:t>Project: Z = A V_k</a:t>
            </a:r>
            <a:br/>
            <a:r>
              <a:t>Reconstruct: A_hat = Z V_k^T</a:t>
            </a:r>
            <a:br/>
            <a:r>
              <a:t>Frobenius &amp; Rel Error</a:t>
            </a:r>
            <a:br/>
            <a:r>
              <a:t>Render Base64 stream</a:t>
            </a:r>
          </a:p>
        </p:txBody>
      </p:sp>
      <p:sp>
        <p:nvSpPr>
          <p:cNvPr id="15" name="Rounded Rectangle 14"/>
          <p:cNvSpPr/>
          <p:nvPr/>
        </p:nvSpPr>
        <p:spPr>
          <a:xfrm>
            <a:off x="731520" y="3931920"/>
            <a:ext cx="5120640" cy="2286000"/>
          </a:xfrm>
          <a:prstGeom prst="roundRect">
            <a:avLst/>
          </a:prstGeom>
          <a:solidFill>
            <a:srgbClr val="101C32"/>
          </a:solidFill>
          <a:ln w="15240">
            <a:solidFill>
              <a:srgbClr val="2438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60120" y="4096512"/>
            <a:ext cx="4663440" cy="1956816"/>
          </a:xfrm>
          <a:prstGeom prst="rect">
            <a:avLst/>
          </a:prstGeom>
          <a:noFill/>
        </p:spPr>
        <p:txBody>
          <a:bodyPr wrap="square" lIns="0" tIns="0" rIns="0" bIns="0">
            <a:spAutoFit/>
          </a:bodyPr>
          <a:lstStyle/>
          <a:p>
            <a:pPr>
              <a:spcAft>
                <a:spcPts val="800"/>
              </a:spcAft>
              <a:defRPr sz="1300" b="1">
                <a:solidFill>
                  <a:srgbClr val="38BDF8"/>
                </a:solidFill>
                <a:latin typeface="Calibri"/>
              </a:defRPr>
            </a:pPr>
            <a:r>
              <a:t>Verified System Technology Stack</a:t>
            </a:r>
          </a:p>
          <a:p>
            <a:pPr>
              <a:spcAft>
                <a:spcPts val="500"/>
              </a:spcAft>
              <a:defRPr sz="1000">
                <a:solidFill>
                  <a:srgbClr val="E2E8F0"/>
                </a:solidFill>
                <a:latin typeface="Calibri"/>
              </a:defRPr>
            </a:pPr>
            <a:r>
              <a:t>•  Backend Framework: Django 5.x (Model-Template-View architecture).</a:t>
            </a:r>
          </a:p>
          <a:p>
            <a:pPr>
              <a:spcAft>
                <a:spcPts val="500"/>
              </a:spcAft>
              <a:defRPr sz="1000">
                <a:solidFill>
                  <a:srgbClr val="E2E8F0"/>
                </a:solidFill>
                <a:latin typeface="Calibri"/>
              </a:defRPr>
            </a:pPr>
            <a:r>
              <a:t>•  Numerical Engine: NumPy 1.26+ (vectorized matrix routines wrapping optimized C-BLAS and LAPACK).</a:t>
            </a:r>
          </a:p>
          <a:p>
            <a:pPr>
              <a:spcAft>
                <a:spcPts val="500"/>
              </a:spcAft>
              <a:defRPr sz="1000">
                <a:solidFill>
                  <a:srgbClr val="E2E8F0"/>
                </a:solidFill>
                <a:latin typeface="Calibri"/>
              </a:defRPr>
            </a:pPr>
            <a:r>
              <a:t>•  Image Processing: Pillow (PIL) 10.x for raster loading, luminance conversion, and Lanczos interpolation.</a:t>
            </a:r>
          </a:p>
          <a:p>
            <a:pPr>
              <a:spcAft>
                <a:spcPts val="500"/>
              </a:spcAft>
              <a:defRPr sz="1000">
                <a:solidFill>
                  <a:srgbClr val="E2E8F0"/>
                </a:solidFill>
                <a:latin typeface="Calibri"/>
              </a:defRPr>
            </a:pPr>
            <a:r>
              <a:t>•  Runtime Environment: Python 3.13 on MSYS2 UCRT64 (Windows x86_64).</a:t>
            </a:r>
          </a:p>
          <a:p>
            <a:pPr>
              <a:spcAft>
                <a:spcPts val="500"/>
              </a:spcAft>
              <a:defRPr sz="1000">
                <a:solidFill>
                  <a:srgbClr val="E2E8F0"/>
                </a:solidFill>
                <a:latin typeface="Calibri"/>
              </a:defRPr>
            </a:pPr>
            <a:r>
              <a:t>•  Presentation &amp; UI: Django Templates, pure CSS design system, HTML5 canvas/SVG.</a:t>
            </a:r>
          </a:p>
        </p:txBody>
      </p:sp>
      <p:sp>
        <p:nvSpPr>
          <p:cNvPr id="17" name="Rounded Rectangle 16"/>
          <p:cNvSpPr/>
          <p:nvPr/>
        </p:nvSpPr>
        <p:spPr>
          <a:xfrm>
            <a:off x="6309360" y="3931920"/>
            <a:ext cx="5120640" cy="2286000"/>
          </a:xfrm>
          <a:prstGeom prst="roundRect">
            <a:avLst/>
          </a:prstGeom>
          <a:solidFill>
            <a:srgbClr val="101C32"/>
          </a:solidFill>
          <a:ln w="15240">
            <a:solidFill>
              <a:srgbClr val="2438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537960" y="4096512"/>
            <a:ext cx="4663440" cy="1956816"/>
          </a:xfrm>
          <a:prstGeom prst="rect">
            <a:avLst/>
          </a:prstGeom>
          <a:noFill/>
        </p:spPr>
        <p:txBody>
          <a:bodyPr wrap="square" lIns="0" tIns="0" rIns="0" bIns="0">
            <a:spAutoFit/>
          </a:bodyPr>
          <a:lstStyle/>
          <a:p>
            <a:pPr>
              <a:spcAft>
                <a:spcPts val="800"/>
              </a:spcAft>
              <a:defRPr sz="1300" b="1">
                <a:solidFill>
                  <a:srgbClr val="D4AF37"/>
                </a:solidFill>
                <a:latin typeface="Calibri"/>
              </a:defRPr>
            </a:pPr>
            <a:r>
              <a:t>Key Software Modules in Source Code</a:t>
            </a:r>
          </a:p>
          <a:p>
            <a:pPr>
              <a:spcAft>
                <a:spcPts val="500"/>
              </a:spcAft>
              <a:defRPr sz="1000">
                <a:solidFill>
                  <a:srgbClr val="E2E8F0"/>
                </a:solidFill>
                <a:latin typeface="Calibri"/>
              </a:defRPr>
            </a:pPr>
            <a:r>
              <a:t>•  analyzer/image_processing.py: image_to_matrix() converts upload to normalized 64x64 float array.</a:t>
            </a:r>
          </a:p>
          <a:p>
            <a:pPr>
              <a:spcAft>
                <a:spcPts val="500"/>
              </a:spcAft>
              <a:defRPr sz="1000">
                <a:solidFill>
                  <a:srgbClr val="E2E8F0"/>
                </a:solidFill>
                <a:latin typeface="Calibri"/>
              </a:defRPr>
            </a:pPr>
            <a:r>
              <a:t>•  analyzer/eigen_analysis.py: calculate_covariance_matrix() computes A^T A, calculate_eigenpairs() executes eigh.</a:t>
            </a:r>
          </a:p>
          <a:p>
            <a:pPr>
              <a:spcAft>
                <a:spcPts val="500"/>
              </a:spcAft>
              <a:defRPr sz="1000">
                <a:solidFill>
                  <a:srgbClr val="E2E8F0"/>
                </a:solidFill>
                <a:latin typeface="Calibri"/>
              </a:defRPr>
            </a:pPr>
            <a:r>
              <a:t>•  analyzer/reconstruction.py: project_matrix(), reconstruct_matrix(), and calculate_frobenius_error().</a:t>
            </a:r>
          </a:p>
          <a:p>
            <a:pPr>
              <a:spcAft>
                <a:spcPts val="500"/>
              </a:spcAft>
              <a:defRPr sz="1000">
                <a:solidFill>
                  <a:srgbClr val="E2E8F0"/>
                </a:solidFill>
                <a:latin typeface="Calibri"/>
              </a:defRPr>
            </a:pPr>
            <a:r>
              <a:t>•  analyzer/math_pipeline.py: Orchestrates complete 8-step pipeline and error benchmarking.</a:t>
            </a:r>
          </a:p>
          <a:p>
            <a:pPr>
              <a:spcAft>
                <a:spcPts val="500"/>
              </a:spcAft>
              <a:defRPr sz="1000">
                <a:solidFill>
                  <a:srgbClr val="E2E8F0"/>
                </a:solidFill>
                <a:latin typeface="Calibri"/>
              </a:defRPr>
            </a:pPr>
            <a:r>
              <a:t>•  analyzer/visualization.py: Encodes matrices to in-memory Base64 data URIs for direct HTML rendering.</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1221"/>
          </a:solidFill>
          <a:ln>
            <a:solidFill>
              <a:srgbClr val="0A122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411480"/>
            <a:ext cx="10728655" cy="27432"/>
          </a:xfrm>
          <a:prstGeom prst="rect">
            <a:avLst/>
          </a:prstGeom>
          <a:solidFill>
            <a:srgbClr val="D4AF37"/>
          </a:solidFill>
          <a:ln>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502920"/>
            <a:ext cx="10728655" cy="274320"/>
          </a:xfrm>
          <a:prstGeom prst="rect">
            <a:avLst/>
          </a:prstGeom>
          <a:noFill/>
        </p:spPr>
        <p:txBody>
          <a:bodyPr wrap="square" lIns="0" tIns="0" rIns="0" bIns="0">
            <a:spAutoFit/>
          </a:bodyPr>
          <a:lstStyle/>
          <a:p>
            <a:pPr>
              <a:defRPr sz="1000" b="1">
                <a:solidFill>
                  <a:srgbClr val="D4AF37"/>
                </a:solidFill>
                <a:latin typeface="Calibri"/>
              </a:defRPr>
            </a:pPr>
            <a:r>
              <a:t>IMAGE PREPROCESSING PIPELINE   |   SLIDE 7 OF 17</a:t>
            </a:r>
          </a:p>
        </p:txBody>
      </p:sp>
      <p:sp>
        <p:nvSpPr>
          <p:cNvPr id="5" name="TextBox 4"/>
          <p:cNvSpPr txBox="1"/>
          <p:nvPr/>
        </p:nvSpPr>
        <p:spPr>
          <a:xfrm>
            <a:off x="731520" y="777240"/>
            <a:ext cx="10728655" cy="594360"/>
          </a:xfrm>
          <a:prstGeom prst="rect">
            <a:avLst/>
          </a:prstGeom>
          <a:noFill/>
        </p:spPr>
        <p:txBody>
          <a:bodyPr wrap="square" lIns="0" tIns="0" rIns="0" bIns="0">
            <a:spAutoFit/>
          </a:bodyPr>
          <a:lstStyle/>
          <a:p>
            <a:pPr>
              <a:defRPr sz="2400" b="1">
                <a:solidFill>
                  <a:srgbClr val="F8FAFC"/>
                </a:solidFill>
                <a:latin typeface="Calibri"/>
              </a:defRPr>
            </a:pPr>
            <a:r>
              <a:t>Luminance Transformation, Resampling, and Normalization</a:t>
            </a:r>
          </a:p>
        </p:txBody>
      </p:sp>
      <p:sp>
        <p:nvSpPr>
          <p:cNvPr id="6" name="TextBox 5"/>
          <p:cNvSpPr txBox="1"/>
          <p:nvPr/>
        </p:nvSpPr>
        <p:spPr>
          <a:xfrm>
            <a:off x="731520" y="1353312"/>
            <a:ext cx="10728655" cy="320040"/>
          </a:xfrm>
          <a:prstGeom prst="rect">
            <a:avLst/>
          </a:prstGeom>
          <a:noFill/>
        </p:spPr>
        <p:txBody>
          <a:bodyPr wrap="square" lIns="0" tIns="0" rIns="0" bIns="0">
            <a:spAutoFit/>
          </a:bodyPr>
          <a:lstStyle/>
          <a:p>
            <a:pPr>
              <a:defRPr sz="1200">
                <a:solidFill>
                  <a:srgbClr val="9CABC2"/>
                </a:solidFill>
                <a:latin typeface="Calibri"/>
              </a:defRPr>
            </a:pPr>
            <a:r>
              <a:t>Mathematical equations and code implementation transforming raw images into matrix A.</a:t>
            </a:r>
          </a:p>
        </p:txBody>
      </p:sp>
      <p:sp>
        <p:nvSpPr>
          <p:cNvPr id="7" name="Rounded Rectangle 6"/>
          <p:cNvSpPr/>
          <p:nvPr/>
        </p:nvSpPr>
        <p:spPr>
          <a:xfrm>
            <a:off x="731520" y="1737360"/>
            <a:ext cx="5120640" cy="4480560"/>
          </a:xfrm>
          <a:prstGeom prst="roundRect">
            <a:avLst/>
          </a:prstGeom>
          <a:solidFill>
            <a:srgbClr val="101C32"/>
          </a:solidFill>
          <a:ln w="15240">
            <a:solidFill>
              <a:srgbClr val="2438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60120" y="1901952"/>
            <a:ext cx="4663440" cy="4151376"/>
          </a:xfrm>
          <a:prstGeom prst="rect">
            <a:avLst/>
          </a:prstGeom>
          <a:noFill/>
        </p:spPr>
        <p:txBody>
          <a:bodyPr wrap="square" lIns="0" tIns="0" rIns="0" bIns="0">
            <a:spAutoFit/>
          </a:bodyPr>
          <a:lstStyle/>
          <a:p>
            <a:pPr>
              <a:spcAft>
                <a:spcPts val="800"/>
              </a:spcAft>
              <a:defRPr sz="1300" b="1">
                <a:solidFill>
                  <a:srgbClr val="38BDF8"/>
                </a:solidFill>
                <a:latin typeface="Calibri"/>
              </a:defRPr>
            </a:pPr>
            <a:r>
              <a:t>Preprocessing Mathematical Steps</a:t>
            </a:r>
          </a:p>
          <a:p>
            <a:pPr>
              <a:spcAft>
                <a:spcPts val="500"/>
              </a:spcAft>
              <a:defRPr sz="1000">
                <a:solidFill>
                  <a:srgbClr val="E2E8F0"/>
                </a:solidFill>
                <a:latin typeface="Calibri"/>
              </a:defRPr>
            </a:pPr>
            <a:r>
              <a:t>•  1. Grayscale Luminance Conversion:</a:t>
            </a:r>
          </a:p>
          <a:p>
            <a:pPr>
              <a:spcAft>
                <a:spcPts val="500"/>
              </a:spcAft>
              <a:defRPr sz="1000">
                <a:solidFill>
                  <a:srgbClr val="E2E8F0"/>
                </a:solidFill>
                <a:latin typeface="Calibri"/>
              </a:defRPr>
            </a:pPr>
            <a:r>
              <a:t>•  Color images contain 3 channels (RGB). We map RGB triplets to a scalar luminance Y using the ITU-R BT.601 standard formula:</a:t>
            </a:r>
          </a:p>
          <a:p>
            <a:pPr>
              <a:spcAft>
                <a:spcPts val="500"/>
              </a:spcAft>
              <a:defRPr sz="1000">
                <a:solidFill>
                  <a:srgbClr val="E2E8F0"/>
                </a:solidFill>
                <a:latin typeface="Calibri"/>
              </a:defRPr>
            </a:pPr>
            <a:r>
              <a:t>•         Y = 0.299 R + 0.587 G + 0.114 B</a:t>
            </a:r>
          </a:p>
          <a:p>
            <a:pPr>
              <a:spcAft>
                <a:spcPts val="500"/>
              </a:spcAft>
              <a:defRPr sz="1000">
                <a:solidFill>
                  <a:srgbClr val="E2E8F0"/>
                </a:solidFill>
                <a:latin typeface="Calibri"/>
              </a:defRPr>
            </a:pPr>
            <a:r>
              <a:t>•  Weights reflect human perceptual sensitivity to green vs red and blue.</a:t>
            </a:r>
          </a:p>
          <a:p>
            <a:pPr>
              <a:spcAft>
                <a:spcPts val="500"/>
              </a:spcAft>
              <a:defRPr sz="1000">
                <a:solidFill>
                  <a:srgbClr val="E2E8F0"/>
                </a:solidFill>
                <a:latin typeface="Calibri"/>
              </a:defRPr>
            </a:pPr>
            <a:r>
              <a:t>•  </a:t>
            </a:r>
            <a:br/>
            <a:r>
              <a:t>2. Standardized Resampling (64 x 64):</a:t>
            </a:r>
          </a:p>
          <a:p>
            <a:pPr>
              <a:spcAft>
                <a:spcPts val="500"/>
              </a:spcAft>
              <a:defRPr sz="1000">
                <a:solidFill>
                  <a:srgbClr val="E2E8F0"/>
                </a:solidFill>
                <a:latin typeface="Calibri"/>
              </a:defRPr>
            </a:pPr>
            <a:r>
              <a:t>•  To ensure consistent matrix algebra and sub-second decomposition, images are resampled to m = n = 64 using high-order Lanczos interpolation.</a:t>
            </a:r>
          </a:p>
          <a:p>
            <a:pPr>
              <a:spcAft>
                <a:spcPts val="500"/>
              </a:spcAft>
              <a:defRPr sz="1000">
                <a:solidFill>
                  <a:srgbClr val="E2E8F0"/>
                </a:solidFill>
                <a:latin typeface="Calibri"/>
              </a:defRPr>
            </a:pPr>
            <a:r>
              <a:t>•  </a:t>
            </a:r>
            <a:br/>
            <a:r>
              <a:t>3. Float64 Pixel Normalization:</a:t>
            </a:r>
          </a:p>
          <a:p>
            <a:pPr>
              <a:spcAft>
                <a:spcPts val="500"/>
              </a:spcAft>
              <a:defRPr sz="1000">
                <a:solidFill>
                  <a:srgbClr val="E2E8F0"/>
                </a:solidFill>
                <a:latin typeface="Calibri"/>
              </a:defRPr>
            </a:pPr>
            <a:r>
              <a:t>•  Integer intensities in [0, 255] are mapped to standard continuous interval:</a:t>
            </a:r>
          </a:p>
          <a:p>
            <a:pPr>
              <a:spcAft>
                <a:spcPts val="500"/>
              </a:spcAft>
              <a:defRPr sz="1000">
                <a:solidFill>
                  <a:srgbClr val="E2E8F0"/>
                </a:solidFill>
                <a:latin typeface="Calibri"/>
              </a:defRPr>
            </a:pPr>
            <a:r>
              <a:t>•         A_{i,j} = Pixel_{i,j} / 255.0  in [0.0, 1.0]</a:t>
            </a:r>
          </a:p>
          <a:p>
            <a:pPr>
              <a:spcAft>
                <a:spcPts val="500"/>
              </a:spcAft>
              <a:defRPr sz="1000">
                <a:solidFill>
                  <a:srgbClr val="E2E8F0"/>
                </a:solidFill>
                <a:latin typeface="Calibri"/>
              </a:defRPr>
            </a:pPr>
            <a:r>
              <a:t>•  Ensures numerical stability and prevents overflow during matrix multiplication.</a:t>
            </a:r>
          </a:p>
        </p:txBody>
      </p:sp>
      <p:sp>
        <p:nvSpPr>
          <p:cNvPr id="9" name="Rounded Rectangle 8"/>
          <p:cNvSpPr/>
          <p:nvPr/>
        </p:nvSpPr>
        <p:spPr>
          <a:xfrm>
            <a:off x="6309360" y="1737360"/>
            <a:ext cx="5120640" cy="4480560"/>
          </a:xfrm>
          <a:prstGeom prst="roundRect">
            <a:avLst/>
          </a:prstGeom>
          <a:solidFill>
            <a:srgbClr val="101C32"/>
          </a:solidFill>
          <a:ln w="15240">
            <a:solidFill>
              <a:srgbClr val="2438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537960" y="1901952"/>
            <a:ext cx="4663440" cy="4151376"/>
          </a:xfrm>
          <a:prstGeom prst="rect">
            <a:avLst/>
          </a:prstGeom>
          <a:noFill/>
        </p:spPr>
        <p:txBody>
          <a:bodyPr wrap="square" lIns="0" tIns="0" rIns="0" bIns="0">
            <a:spAutoFit/>
          </a:bodyPr>
          <a:lstStyle/>
          <a:p>
            <a:pPr>
              <a:spcAft>
                <a:spcPts val="800"/>
              </a:spcAft>
              <a:defRPr sz="1300" b="1">
                <a:solidFill>
                  <a:srgbClr val="D4AF37"/>
                </a:solidFill>
                <a:latin typeface="Calibri"/>
              </a:defRPr>
            </a:pPr>
            <a:r>
              <a:t>Implementation Code vs. Mean-Centering Nuance</a:t>
            </a:r>
          </a:p>
          <a:p>
            <a:pPr>
              <a:spcAft>
                <a:spcPts val="500"/>
              </a:spcAft>
              <a:defRPr sz="1000">
                <a:solidFill>
                  <a:srgbClr val="E2E8F0"/>
                </a:solidFill>
                <a:latin typeface="Calibri"/>
              </a:defRPr>
            </a:pPr>
            <a:r>
              <a:t>•  Actual Code in analyzer/image_processing.py:</a:t>
            </a:r>
          </a:p>
          <a:p>
            <a:pPr>
              <a:spcAft>
                <a:spcPts val="500"/>
              </a:spcAft>
              <a:defRPr sz="1000">
                <a:solidFill>
                  <a:srgbClr val="E2E8F0"/>
                </a:solidFill>
                <a:latin typeface="Calibri"/>
              </a:defRPr>
            </a:pPr>
            <a:r>
              <a:t>•     original = Image.open(image_path).convert('L')</a:t>
            </a:r>
          </a:p>
          <a:p>
            <a:pPr>
              <a:spcAft>
                <a:spcPts val="500"/>
              </a:spcAft>
              <a:defRPr sz="1000">
                <a:solidFill>
                  <a:srgbClr val="E2E8F0"/>
                </a:solidFill>
                <a:latin typeface="Calibri"/>
              </a:defRPr>
            </a:pPr>
            <a:r>
              <a:t>•     resized = original.resize((64, 64), Image.Resampling.LANCZOS)</a:t>
            </a:r>
          </a:p>
          <a:p>
            <a:pPr>
              <a:spcAft>
                <a:spcPts val="500"/>
              </a:spcAft>
              <a:defRPr sz="1000">
                <a:solidFill>
                  <a:srgbClr val="E2E8F0"/>
                </a:solidFill>
                <a:latin typeface="Calibri"/>
              </a:defRPr>
            </a:pPr>
            <a:r>
              <a:t>•     matrix = np.asarray(resized, dtype=np.float64) / 255.0</a:t>
            </a:r>
          </a:p>
          <a:p>
            <a:pPr>
              <a:spcAft>
                <a:spcPts val="500"/>
              </a:spcAft>
              <a:defRPr sz="1000">
                <a:solidFill>
                  <a:srgbClr val="E2E8F0"/>
                </a:solidFill>
                <a:latin typeface="Calibri"/>
              </a:defRPr>
            </a:pPr>
            <a:r>
              <a:t>•  </a:t>
            </a:r>
            <a:br/>
            <a:r>
              <a:t>Important Mathematical Note for Viva Evaluation:</a:t>
            </a:r>
          </a:p>
          <a:p>
            <a:pPr>
              <a:spcAft>
                <a:spcPts val="500"/>
              </a:spcAft>
              <a:defRPr sz="1000">
                <a:solidFill>
                  <a:srgbClr val="E2E8F0"/>
                </a:solidFill>
                <a:latin typeface="Calibri"/>
              </a:defRPr>
            </a:pPr>
            <a:r>
              <a:t>•  • In traditional statistical PCA, one subtracts the column mean vector mu:</a:t>
            </a:r>
          </a:p>
          <a:p>
            <a:pPr>
              <a:spcAft>
                <a:spcPts val="500"/>
              </a:spcAft>
              <a:defRPr sz="1000">
                <a:solidFill>
                  <a:srgbClr val="E2E8F0"/>
                </a:solidFill>
                <a:latin typeface="Calibri"/>
              </a:defRPr>
            </a:pPr>
            <a:r>
              <a:t>•         A_tilde = A - 1 mu^T</a:t>
            </a:r>
          </a:p>
          <a:p>
            <a:pPr>
              <a:spcAft>
                <a:spcPts val="500"/>
              </a:spcAft>
              <a:defRPr sz="1000">
                <a:solidFill>
                  <a:srgbClr val="E2E8F0"/>
                </a:solidFill>
                <a:latin typeface="Calibri"/>
              </a:defRPr>
            </a:pPr>
            <a:r>
              <a:t>•  • In our implementation, the raw normalized matrix A is used directly without mean subtraction.</a:t>
            </a:r>
          </a:p>
          <a:p>
            <a:pPr>
              <a:spcAft>
                <a:spcPts val="500"/>
              </a:spcAft>
              <a:defRPr sz="1000">
                <a:solidFill>
                  <a:srgbClr val="E2E8F0"/>
                </a:solidFill>
                <a:latin typeface="Calibri"/>
              </a:defRPr>
            </a:pPr>
            <a:r>
              <a:t>•  • Consequence: As a result, the first eigenvector v_1 captures the global DC luminance (mean background energy), while subsequent eigenvectors v_2, v_3, ... capture morphological contrast variations.</a:t>
            </a:r>
          </a:p>
          <a:p>
            <a:pPr>
              <a:spcAft>
                <a:spcPts val="500"/>
              </a:spcAft>
              <a:defRPr sz="1000">
                <a:solidFill>
                  <a:srgbClr val="E2E8F0"/>
                </a:solidFill>
                <a:latin typeface="Calibri"/>
              </a:defRPr>
            </a:pPr>
            <a:r>
              <a:t>•  • This aligns with uncentered Singular Value Decomposition (SVD), which is equally mathematically valid and rigorously grounded by the Eckart-Young theorem.</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1221"/>
          </a:solidFill>
          <a:ln>
            <a:solidFill>
              <a:srgbClr val="0A122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411480"/>
            <a:ext cx="10728655" cy="27432"/>
          </a:xfrm>
          <a:prstGeom prst="rect">
            <a:avLst/>
          </a:prstGeom>
          <a:solidFill>
            <a:srgbClr val="D4AF37"/>
          </a:solidFill>
          <a:ln>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502920"/>
            <a:ext cx="10728655" cy="274320"/>
          </a:xfrm>
          <a:prstGeom prst="rect">
            <a:avLst/>
          </a:prstGeom>
          <a:noFill/>
        </p:spPr>
        <p:txBody>
          <a:bodyPr wrap="square" lIns="0" tIns="0" rIns="0" bIns="0">
            <a:spAutoFit/>
          </a:bodyPr>
          <a:lstStyle/>
          <a:p>
            <a:pPr>
              <a:defRPr sz="1000" b="1">
                <a:solidFill>
                  <a:srgbClr val="D4AF37"/>
                </a:solidFill>
                <a:latin typeface="Calibri"/>
              </a:defRPr>
            </a:pPr>
            <a:r>
              <a:t>MATHEMATICAL FOUNDATION   |   SLIDE 8 OF 17</a:t>
            </a:r>
          </a:p>
        </p:txBody>
      </p:sp>
      <p:sp>
        <p:nvSpPr>
          <p:cNvPr id="5" name="TextBox 4"/>
          <p:cNvSpPr txBox="1"/>
          <p:nvPr/>
        </p:nvSpPr>
        <p:spPr>
          <a:xfrm>
            <a:off x="731520" y="777240"/>
            <a:ext cx="10728655" cy="594360"/>
          </a:xfrm>
          <a:prstGeom prst="rect">
            <a:avLst/>
          </a:prstGeom>
          <a:noFill/>
        </p:spPr>
        <p:txBody>
          <a:bodyPr wrap="square" lIns="0" tIns="0" rIns="0" bIns="0">
            <a:spAutoFit/>
          </a:bodyPr>
          <a:lstStyle/>
          <a:p>
            <a:pPr>
              <a:defRPr sz="2400" b="1">
                <a:solidFill>
                  <a:srgbClr val="F8FAFC"/>
                </a:solidFill>
                <a:latin typeface="Calibri"/>
              </a:defRPr>
            </a:pPr>
            <a:r>
              <a:t>Vector Spaces, Inner Products, and the Spectral Theorem</a:t>
            </a:r>
          </a:p>
        </p:txBody>
      </p:sp>
      <p:sp>
        <p:nvSpPr>
          <p:cNvPr id="6" name="TextBox 5"/>
          <p:cNvSpPr txBox="1"/>
          <p:nvPr/>
        </p:nvSpPr>
        <p:spPr>
          <a:xfrm>
            <a:off x="731520" y="1353312"/>
            <a:ext cx="10728655" cy="320040"/>
          </a:xfrm>
          <a:prstGeom prst="rect">
            <a:avLst/>
          </a:prstGeom>
          <a:noFill/>
        </p:spPr>
        <p:txBody>
          <a:bodyPr wrap="square" lIns="0" tIns="0" rIns="0" bIns="0">
            <a:spAutoFit/>
          </a:bodyPr>
          <a:lstStyle/>
          <a:p>
            <a:pPr>
              <a:defRPr sz="1200">
                <a:solidFill>
                  <a:srgbClr val="9CABC2"/>
                </a:solidFill>
                <a:latin typeface="Calibri"/>
              </a:defRPr>
            </a:pPr>
            <a:r>
              <a:t>The core linear algebra theorems governing symmetric matrix decomposition.</a:t>
            </a:r>
          </a:p>
        </p:txBody>
      </p:sp>
      <p:sp>
        <p:nvSpPr>
          <p:cNvPr id="7" name="Rounded Rectangle 6"/>
          <p:cNvSpPr/>
          <p:nvPr/>
        </p:nvSpPr>
        <p:spPr>
          <a:xfrm>
            <a:off x="731520" y="1737360"/>
            <a:ext cx="5120640" cy="4480560"/>
          </a:xfrm>
          <a:prstGeom prst="roundRect">
            <a:avLst/>
          </a:prstGeom>
          <a:solidFill>
            <a:srgbClr val="101C32"/>
          </a:solidFill>
          <a:ln w="15240">
            <a:solidFill>
              <a:srgbClr val="2438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60120" y="1901952"/>
            <a:ext cx="4663440" cy="4151376"/>
          </a:xfrm>
          <a:prstGeom prst="rect">
            <a:avLst/>
          </a:prstGeom>
          <a:noFill/>
        </p:spPr>
        <p:txBody>
          <a:bodyPr wrap="square" lIns="0" tIns="0" rIns="0" bIns="0">
            <a:spAutoFit/>
          </a:bodyPr>
          <a:lstStyle/>
          <a:p>
            <a:pPr>
              <a:spcAft>
                <a:spcPts val="800"/>
              </a:spcAft>
              <a:defRPr sz="1300" b="1">
                <a:solidFill>
                  <a:srgbClr val="38BDF8"/>
                </a:solidFill>
                <a:latin typeface="Calibri"/>
              </a:defRPr>
            </a:pPr>
            <a:r>
              <a:t>Key Linear Algebra Concepts Used</a:t>
            </a:r>
          </a:p>
          <a:p>
            <a:pPr>
              <a:spcAft>
                <a:spcPts val="500"/>
              </a:spcAft>
              <a:defRPr sz="1000">
                <a:solidFill>
                  <a:srgbClr val="E2E8F0"/>
                </a:solidFill>
                <a:latin typeface="Calibri"/>
              </a:defRPr>
            </a:pPr>
            <a:r>
              <a:t>•  1. Real Inner Product &amp; Orthogonality:</a:t>
            </a:r>
          </a:p>
          <a:p>
            <a:pPr>
              <a:spcAft>
                <a:spcPts val="500"/>
              </a:spcAft>
              <a:defRPr sz="1000">
                <a:solidFill>
                  <a:srgbClr val="E2E8F0"/>
                </a:solidFill>
                <a:latin typeface="Calibri"/>
              </a:defRPr>
            </a:pPr>
            <a:r>
              <a:t>•  For vectors u, v in R^n, the standard Euclidean inner product is:</a:t>
            </a:r>
          </a:p>
          <a:p>
            <a:pPr>
              <a:spcAft>
                <a:spcPts val="500"/>
              </a:spcAft>
              <a:defRPr sz="1000">
                <a:solidFill>
                  <a:srgbClr val="E2E8F0"/>
                </a:solidFill>
                <a:latin typeface="Calibri"/>
              </a:defRPr>
            </a:pPr>
            <a:r>
              <a:t>•         &lt;u, v&gt; = u^T v = sum_{i=1}^n u_i v_i</a:t>
            </a:r>
          </a:p>
          <a:p>
            <a:pPr>
              <a:spcAft>
                <a:spcPts val="500"/>
              </a:spcAft>
              <a:defRPr sz="1000">
                <a:solidFill>
                  <a:srgbClr val="E2E8F0"/>
                </a:solidFill>
                <a:latin typeface="Calibri"/>
              </a:defRPr>
            </a:pPr>
            <a:r>
              <a:t>•  Vectors are orthonormal if &lt;v_i, v_j&gt; = delta_{ij} (1 if i=j, 0 if i!=j).</a:t>
            </a:r>
          </a:p>
          <a:p>
            <a:pPr>
              <a:spcAft>
                <a:spcPts val="500"/>
              </a:spcAft>
              <a:defRPr sz="1000">
                <a:solidFill>
                  <a:srgbClr val="E2E8F0"/>
                </a:solidFill>
                <a:latin typeface="Calibri"/>
              </a:defRPr>
            </a:pPr>
            <a:r>
              <a:t>•  </a:t>
            </a:r>
            <a:br/>
            <a:r>
              <a:t>2. Symmetric Matrices (S = S^T):</a:t>
            </a:r>
          </a:p>
          <a:p>
            <a:pPr>
              <a:spcAft>
                <a:spcPts val="500"/>
              </a:spcAft>
              <a:defRPr sz="1000">
                <a:solidFill>
                  <a:srgbClr val="E2E8F0"/>
                </a:solidFill>
                <a:latin typeface="Calibri"/>
              </a:defRPr>
            </a:pPr>
            <a:r>
              <a:t>•  A real matrix is symmetric if it equals its transpose. Symmetric operators have real spectra and mutually orthogonal eigenspaces.</a:t>
            </a:r>
          </a:p>
          <a:p>
            <a:pPr>
              <a:spcAft>
                <a:spcPts val="500"/>
              </a:spcAft>
              <a:defRPr sz="1000">
                <a:solidFill>
                  <a:srgbClr val="E2E8F0"/>
                </a:solidFill>
                <a:latin typeface="Calibri"/>
              </a:defRPr>
            </a:pPr>
            <a:r>
              <a:t>•  </a:t>
            </a:r>
            <a:br/>
            <a:r>
              <a:t>3. Positive Semi-Definite (PSD) Matrices:</a:t>
            </a:r>
          </a:p>
          <a:p>
            <a:pPr>
              <a:spcAft>
                <a:spcPts val="500"/>
              </a:spcAft>
              <a:defRPr sz="1000">
                <a:solidFill>
                  <a:srgbClr val="E2E8F0"/>
                </a:solidFill>
                <a:latin typeface="Calibri"/>
              </a:defRPr>
            </a:pPr>
            <a:r>
              <a:t>•  A symmetric matrix S is PSD if for all non-zero x in R^n:</a:t>
            </a:r>
          </a:p>
          <a:p>
            <a:pPr>
              <a:spcAft>
                <a:spcPts val="500"/>
              </a:spcAft>
              <a:defRPr sz="1000">
                <a:solidFill>
                  <a:srgbClr val="E2E8F0"/>
                </a:solidFill>
                <a:latin typeface="Calibri"/>
              </a:defRPr>
            </a:pPr>
            <a:r>
              <a:t>•         x^T S x &gt;= 0</a:t>
            </a:r>
          </a:p>
          <a:p>
            <a:pPr>
              <a:spcAft>
                <a:spcPts val="500"/>
              </a:spcAft>
              <a:defRPr sz="1000">
                <a:solidFill>
                  <a:srgbClr val="E2E8F0"/>
                </a:solidFill>
                <a:latin typeface="Calibri"/>
              </a:defRPr>
            </a:pPr>
            <a:r>
              <a:t>•  This guarantees that all eigenvalues are non-negative: lambda_i &gt;= 0.</a:t>
            </a:r>
          </a:p>
          <a:p>
            <a:pPr>
              <a:spcAft>
                <a:spcPts val="500"/>
              </a:spcAft>
              <a:defRPr sz="1000">
                <a:solidFill>
                  <a:srgbClr val="E2E8F0"/>
                </a:solidFill>
                <a:latin typeface="Calibri"/>
              </a:defRPr>
            </a:pPr>
            <a:r>
              <a:t>•  </a:t>
            </a:r>
            <a:br/>
            <a:r>
              <a:t>4. Frobenius Matrix Norm:</a:t>
            </a:r>
          </a:p>
          <a:p>
            <a:pPr>
              <a:spcAft>
                <a:spcPts val="500"/>
              </a:spcAft>
              <a:defRPr sz="1000">
                <a:solidFill>
                  <a:srgbClr val="E2E8F0"/>
                </a:solidFill>
                <a:latin typeface="Calibri"/>
              </a:defRPr>
            </a:pPr>
            <a:r>
              <a:t>•  Measures the total Euclidean magnitude of a matrix:</a:t>
            </a:r>
          </a:p>
          <a:p>
            <a:pPr>
              <a:spcAft>
                <a:spcPts val="500"/>
              </a:spcAft>
              <a:defRPr sz="1000">
                <a:solidFill>
                  <a:srgbClr val="E2E8F0"/>
                </a:solidFill>
                <a:latin typeface="Calibri"/>
              </a:defRPr>
            </a:pPr>
            <a:r>
              <a:t>•         ||A||_F = sqrt( sum_{i=1}^m sum_{j=1}^n A_{i,j}^2 ) = sqrt( Tr(A^T A) )</a:t>
            </a:r>
          </a:p>
        </p:txBody>
      </p:sp>
      <p:sp>
        <p:nvSpPr>
          <p:cNvPr id="9" name="Rounded Rectangle 8"/>
          <p:cNvSpPr/>
          <p:nvPr/>
        </p:nvSpPr>
        <p:spPr>
          <a:xfrm>
            <a:off x="6309360" y="1737360"/>
            <a:ext cx="5120640" cy="4480560"/>
          </a:xfrm>
          <a:prstGeom prst="roundRect">
            <a:avLst/>
          </a:prstGeom>
          <a:solidFill>
            <a:srgbClr val="101C32"/>
          </a:solidFill>
          <a:ln w="15240">
            <a:solidFill>
              <a:srgbClr val="2438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537960" y="1901952"/>
            <a:ext cx="4663440" cy="4151376"/>
          </a:xfrm>
          <a:prstGeom prst="rect">
            <a:avLst/>
          </a:prstGeom>
          <a:noFill/>
        </p:spPr>
        <p:txBody>
          <a:bodyPr wrap="square" lIns="0" tIns="0" rIns="0" bIns="0">
            <a:spAutoFit/>
          </a:bodyPr>
          <a:lstStyle/>
          <a:p>
            <a:pPr>
              <a:spcAft>
                <a:spcPts val="800"/>
              </a:spcAft>
              <a:defRPr sz="1300" b="1">
                <a:solidFill>
                  <a:srgbClr val="D4AF37"/>
                </a:solidFill>
                <a:latin typeface="Calibri"/>
              </a:defRPr>
            </a:pPr>
            <a:r>
              <a:t>The Spectral Theorem for Symmetric Matrices</a:t>
            </a:r>
          </a:p>
          <a:p>
            <a:pPr>
              <a:spcAft>
                <a:spcPts val="500"/>
              </a:spcAft>
              <a:defRPr sz="1000">
                <a:solidFill>
                  <a:srgbClr val="E2E8F0"/>
                </a:solidFill>
                <a:latin typeface="Calibri"/>
              </a:defRPr>
            </a:pPr>
            <a:r>
              <a:t>•  Theorem Statement (Spectral Decomposition):</a:t>
            </a:r>
          </a:p>
          <a:p>
            <a:pPr>
              <a:spcAft>
                <a:spcPts val="500"/>
              </a:spcAft>
              <a:defRPr sz="1000">
                <a:solidFill>
                  <a:srgbClr val="E2E8F0"/>
                </a:solidFill>
                <a:latin typeface="Calibri"/>
              </a:defRPr>
            </a:pPr>
            <a:r>
              <a:t>•  Let S in R^{n x n} be a real symmetric matrix. Then there exists an orthonormal basis of R^n consisting of eigenvectors of S.</a:t>
            </a:r>
          </a:p>
          <a:p>
            <a:pPr>
              <a:spcAft>
                <a:spcPts val="500"/>
              </a:spcAft>
              <a:defRPr sz="1000">
                <a:solidFill>
                  <a:srgbClr val="E2E8F0"/>
                </a:solidFill>
                <a:latin typeface="Calibri"/>
              </a:defRPr>
            </a:pPr>
            <a:r>
              <a:t>•  </a:t>
            </a:r>
            <a:br/>
            <a:r>
              <a:t>Algebraic Formulation:</a:t>
            </a:r>
          </a:p>
          <a:p>
            <a:pPr>
              <a:spcAft>
                <a:spcPts val="500"/>
              </a:spcAft>
              <a:defRPr sz="1000">
                <a:solidFill>
                  <a:srgbClr val="E2E8F0"/>
                </a:solidFill>
                <a:latin typeface="Calibri"/>
              </a:defRPr>
            </a:pPr>
            <a:r>
              <a:t>•  There exists an orthogonal matrix V in R^{n x n} (satisfying V^T V = V V^T = I_n) and a diagonal matrix Lambda = diag(lambda_1, lambda_2, ..., lambda_n) such that:</a:t>
            </a:r>
          </a:p>
          <a:p>
            <a:pPr>
              <a:spcAft>
                <a:spcPts val="500"/>
              </a:spcAft>
              <a:defRPr sz="1000">
                <a:solidFill>
                  <a:srgbClr val="E2E8F0"/>
                </a:solidFill>
                <a:latin typeface="Calibri"/>
              </a:defRPr>
            </a:pPr>
            <a:r>
              <a:t>•         S = V Lambda V^T = sum_{i=1}^n lambda_i v_i v_i^T</a:t>
            </a:r>
          </a:p>
          <a:p>
            <a:pPr>
              <a:spcAft>
                <a:spcPts val="500"/>
              </a:spcAft>
              <a:defRPr sz="1000">
                <a:solidFill>
                  <a:srgbClr val="E2E8F0"/>
                </a:solidFill>
                <a:latin typeface="Calibri"/>
              </a:defRPr>
            </a:pPr>
            <a:r>
              <a:t>•  </a:t>
            </a:r>
            <a:br/>
            <a:r>
              <a:t>Fundamental Engineering Consequences for Our Project:</a:t>
            </a:r>
          </a:p>
          <a:p>
            <a:pPr>
              <a:spcAft>
                <a:spcPts val="500"/>
              </a:spcAft>
              <a:defRPr sz="1000">
                <a:solidFill>
                  <a:srgbClr val="E2E8F0"/>
                </a:solidFill>
                <a:latin typeface="Calibri"/>
              </a:defRPr>
            </a:pPr>
            <a:r>
              <a:t>•  1. Purely Real Spectra: No complex eigenvalues or imaginary components can emerge from our image data.</a:t>
            </a:r>
          </a:p>
          <a:p>
            <a:pPr>
              <a:spcAft>
                <a:spcPts val="500"/>
              </a:spcAft>
              <a:defRPr sz="1000">
                <a:solidFill>
                  <a:srgbClr val="E2E8F0"/>
                </a:solidFill>
                <a:latin typeface="Calibri"/>
              </a:defRPr>
            </a:pPr>
            <a:r>
              <a:t>•  2. Non-Redundant Basis: Orthogonality (v_i perp v_j) guarantees zero geometric overlap between extracted feature directions.</a:t>
            </a:r>
          </a:p>
          <a:p>
            <a:pPr>
              <a:spcAft>
                <a:spcPts val="500"/>
              </a:spcAft>
              <a:defRPr sz="1000">
                <a:solidFill>
                  <a:srgbClr val="E2E8F0"/>
                </a:solidFill>
                <a:latin typeface="Calibri"/>
              </a:defRPr>
            </a:pPr>
            <a:r>
              <a:t>•  3. Outer-Product Expansion: Matrix S can be expressed as a linear combination of rank-1 projection matrices (v_i v_i^T).</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1221"/>
          </a:solidFill>
          <a:ln>
            <a:solidFill>
              <a:srgbClr val="0A122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411480"/>
            <a:ext cx="10728655" cy="27432"/>
          </a:xfrm>
          <a:prstGeom prst="rect">
            <a:avLst/>
          </a:prstGeom>
          <a:solidFill>
            <a:srgbClr val="D4AF37"/>
          </a:solidFill>
          <a:ln>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502920"/>
            <a:ext cx="10728655" cy="274320"/>
          </a:xfrm>
          <a:prstGeom prst="rect">
            <a:avLst/>
          </a:prstGeom>
          <a:noFill/>
        </p:spPr>
        <p:txBody>
          <a:bodyPr wrap="square" lIns="0" tIns="0" rIns="0" bIns="0">
            <a:spAutoFit/>
          </a:bodyPr>
          <a:lstStyle/>
          <a:p>
            <a:pPr>
              <a:defRPr sz="1000" b="1">
                <a:solidFill>
                  <a:srgbClr val="D4AF37"/>
                </a:solidFill>
                <a:latin typeface="Calibri"/>
              </a:defRPr>
            </a:pPr>
            <a:r>
              <a:t>GRAM MATRIX VS. COVARIANCE MATRIX   |   SLIDE 9 OF 17</a:t>
            </a:r>
          </a:p>
        </p:txBody>
      </p:sp>
      <p:sp>
        <p:nvSpPr>
          <p:cNvPr id="5" name="TextBox 4"/>
          <p:cNvSpPr txBox="1"/>
          <p:nvPr/>
        </p:nvSpPr>
        <p:spPr>
          <a:xfrm>
            <a:off x="731520" y="777240"/>
            <a:ext cx="10728655" cy="594360"/>
          </a:xfrm>
          <a:prstGeom prst="rect">
            <a:avLst/>
          </a:prstGeom>
          <a:noFill/>
        </p:spPr>
        <p:txBody>
          <a:bodyPr wrap="square" lIns="0" tIns="0" rIns="0" bIns="0">
            <a:spAutoFit/>
          </a:bodyPr>
          <a:lstStyle/>
          <a:p>
            <a:pPr>
              <a:defRPr sz="2400" b="1">
                <a:solidFill>
                  <a:srgbClr val="F8FAFC"/>
                </a:solidFill>
                <a:latin typeface="Calibri"/>
              </a:defRPr>
            </a:pPr>
            <a:r>
              <a:t>Clarifying the Exact Operator Used in Source Code</a:t>
            </a:r>
          </a:p>
        </p:txBody>
      </p:sp>
      <p:sp>
        <p:nvSpPr>
          <p:cNvPr id="6" name="TextBox 5"/>
          <p:cNvSpPr txBox="1"/>
          <p:nvPr/>
        </p:nvSpPr>
        <p:spPr>
          <a:xfrm>
            <a:off x="731520" y="1353312"/>
            <a:ext cx="10728655" cy="320040"/>
          </a:xfrm>
          <a:prstGeom prst="rect">
            <a:avLst/>
          </a:prstGeom>
          <a:noFill/>
        </p:spPr>
        <p:txBody>
          <a:bodyPr wrap="square" lIns="0" tIns="0" rIns="0" bIns="0">
            <a:spAutoFit/>
          </a:bodyPr>
          <a:lstStyle/>
          <a:p>
            <a:pPr>
              <a:defRPr sz="1200">
                <a:solidFill>
                  <a:srgbClr val="9CABC2"/>
                </a:solidFill>
                <a:latin typeface="Calibri"/>
              </a:defRPr>
            </a:pPr>
            <a:r>
              <a:t>Distinguishing uncentered Gram matrix A^T A from normalized sample covariance matrix.</a:t>
            </a:r>
          </a:p>
        </p:txBody>
      </p:sp>
      <p:sp>
        <p:nvSpPr>
          <p:cNvPr id="7" name="Rounded Rectangle 6"/>
          <p:cNvSpPr/>
          <p:nvPr/>
        </p:nvSpPr>
        <p:spPr>
          <a:xfrm>
            <a:off x="731520" y="1737360"/>
            <a:ext cx="5120640" cy="4480560"/>
          </a:xfrm>
          <a:prstGeom prst="roundRect">
            <a:avLst/>
          </a:prstGeom>
          <a:solidFill>
            <a:srgbClr val="101C32"/>
          </a:solidFill>
          <a:ln w="15240">
            <a:solidFill>
              <a:srgbClr val="2438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60120" y="1901952"/>
            <a:ext cx="4663440" cy="4151376"/>
          </a:xfrm>
          <a:prstGeom prst="rect">
            <a:avLst/>
          </a:prstGeom>
          <a:noFill/>
        </p:spPr>
        <p:txBody>
          <a:bodyPr wrap="square" lIns="0" tIns="0" rIns="0" bIns="0">
            <a:spAutoFit/>
          </a:bodyPr>
          <a:lstStyle/>
          <a:p>
            <a:pPr>
              <a:spcAft>
                <a:spcPts val="800"/>
              </a:spcAft>
              <a:defRPr sz="1300" b="1">
                <a:solidFill>
                  <a:srgbClr val="D4AF37"/>
                </a:solidFill>
                <a:latin typeface="Calibri"/>
              </a:defRPr>
            </a:pPr>
            <a:r>
              <a:t>The Operator in Source Code: Gram Matrix G</a:t>
            </a:r>
          </a:p>
          <a:p>
            <a:pPr>
              <a:spcAft>
                <a:spcPts val="500"/>
              </a:spcAft>
              <a:defRPr sz="1000">
                <a:solidFill>
                  <a:srgbClr val="E2E8F0"/>
                </a:solidFill>
                <a:latin typeface="Calibri"/>
              </a:defRPr>
            </a:pPr>
            <a:r>
              <a:t>•  Code Inspection (analyzer/eigen_analysis.py):</a:t>
            </a:r>
          </a:p>
          <a:p>
            <a:pPr>
              <a:spcAft>
                <a:spcPts val="500"/>
              </a:spcAft>
              <a:defRPr sz="1000">
                <a:solidFill>
                  <a:srgbClr val="E2E8F0"/>
                </a:solidFill>
                <a:latin typeface="Calibri"/>
              </a:defRPr>
            </a:pPr>
            <a:r>
              <a:t>•     def calculate_covariance_matrix(matrix):</a:t>
            </a:r>
          </a:p>
          <a:p>
            <a:pPr>
              <a:spcAft>
                <a:spcPts val="500"/>
              </a:spcAft>
              <a:defRPr sz="1000">
                <a:solidFill>
                  <a:srgbClr val="E2E8F0"/>
                </a:solidFill>
                <a:latin typeface="Calibri"/>
              </a:defRPr>
            </a:pPr>
            <a:r>
              <a:t>•         return matrix.T @ matrix</a:t>
            </a:r>
          </a:p>
          <a:p>
            <a:pPr>
              <a:spcAft>
                <a:spcPts val="500"/>
              </a:spcAft>
              <a:defRPr sz="1000">
                <a:solidFill>
                  <a:srgbClr val="E2E8F0"/>
                </a:solidFill>
                <a:latin typeface="Calibri"/>
              </a:defRPr>
            </a:pPr>
            <a:r>
              <a:t>•  </a:t>
            </a:r>
            <a:br/>
            <a:r>
              <a:t>Precise Mathematical Identification:</a:t>
            </a:r>
          </a:p>
          <a:p>
            <a:pPr>
              <a:spcAft>
                <a:spcPts val="500"/>
              </a:spcAft>
              <a:defRPr sz="1000">
                <a:solidFill>
                  <a:srgbClr val="E2E8F0"/>
                </a:solidFill>
                <a:latin typeface="Calibri"/>
              </a:defRPr>
            </a:pPr>
            <a:r>
              <a:t>•  Although the variable name is labeled 'covariance_matrix', mathematically G = A^T A is the uncentered Gram Matrix (or scatter matrix of column vectors).</a:t>
            </a:r>
          </a:p>
          <a:p>
            <a:pPr>
              <a:spcAft>
                <a:spcPts val="500"/>
              </a:spcAft>
              <a:defRPr sz="1000">
                <a:solidFill>
                  <a:srgbClr val="E2E8F0"/>
                </a:solidFill>
                <a:latin typeface="Calibri"/>
              </a:defRPr>
            </a:pPr>
            <a:r>
              <a:t>•  </a:t>
            </a:r>
            <a:br/>
            <a:r>
              <a:t>Properties of G = A^T A in R^{n x n}:</a:t>
            </a:r>
          </a:p>
          <a:p>
            <a:pPr>
              <a:spcAft>
                <a:spcPts val="500"/>
              </a:spcAft>
              <a:defRPr sz="1000">
                <a:solidFill>
                  <a:srgbClr val="E2E8F0"/>
                </a:solidFill>
                <a:latin typeface="Calibri"/>
              </a:defRPr>
            </a:pPr>
            <a:r>
              <a:t>•  1. Dimensionality: 64 x 64 regardless of whether original image is square or rectangular (m x n).</a:t>
            </a:r>
          </a:p>
          <a:p>
            <a:pPr>
              <a:spcAft>
                <a:spcPts val="500"/>
              </a:spcAft>
              <a:defRPr sz="1000">
                <a:solidFill>
                  <a:srgbClr val="E2E8F0"/>
                </a:solidFill>
                <a:latin typeface="Calibri"/>
              </a:defRPr>
            </a:pPr>
            <a:r>
              <a:t>•  2. Exact Symmetry Proof:</a:t>
            </a:r>
          </a:p>
          <a:p>
            <a:pPr>
              <a:spcAft>
                <a:spcPts val="500"/>
              </a:spcAft>
              <a:defRPr sz="1000">
                <a:solidFill>
                  <a:srgbClr val="E2E8F0"/>
                </a:solidFill>
                <a:latin typeface="Calibri"/>
              </a:defRPr>
            </a:pPr>
            <a:r>
              <a:t>•         G^T = (A^T A)^T = A^T (A^T)^T = A^T A = G</a:t>
            </a:r>
          </a:p>
          <a:p>
            <a:pPr>
              <a:spcAft>
                <a:spcPts val="500"/>
              </a:spcAft>
              <a:defRPr sz="1000">
                <a:solidFill>
                  <a:srgbClr val="E2E8F0"/>
                </a:solidFill>
                <a:latin typeface="Calibri"/>
              </a:defRPr>
            </a:pPr>
            <a:r>
              <a:t>•  3. Positive Semi-Definiteness Proof:</a:t>
            </a:r>
          </a:p>
          <a:p>
            <a:pPr>
              <a:spcAft>
                <a:spcPts val="500"/>
              </a:spcAft>
              <a:defRPr sz="1000">
                <a:solidFill>
                  <a:srgbClr val="E2E8F0"/>
                </a:solidFill>
                <a:latin typeface="Calibri"/>
              </a:defRPr>
            </a:pPr>
            <a:r>
              <a:t>•         For any x in R^n:  x^T G x = x^T (A^T A) x = (Ax)^T (Ax) = ||Ax||_2^2 &gt;= 0</a:t>
            </a:r>
          </a:p>
          <a:p>
            <a:pPr>
              <a:spcAft>
                <a:spcPts val="500"/>
              </a:spcAft>
              <a:defRPr sz="1000">
                <a:solidFill>
                  <a:srgbClr val="E2E8F0"/>
                </a:solidFill>
                <a:latin typeface="Calibri"/>
              </a:defRPr>
            </a:pPr>
            <a:r>
              <a:t>•         Therefore, all eigenvalues must satisfy lambda_i &gt;= 0.</a:t>
            </a:r>
          </a:p>
        </p:txBody>
      </p:sp>
      <p:sp>
        <p:nvSpPr>
          <p:cNvPr id="9" name="Rounded Rectangle 8"/>
          <p:cNvSpPr/>
          <p:nvPr/>
        </p:nvSpPr>
        <p:spPr>
          <a:xfrm>
            <a:off x="6309360" y="1737360"/>
            <a:ext cx="5120640" cy="4480560"/>
          </a:xfrm>
          <a:prstGeom prst="roundRect">
            <a:avLst/>
          </a:prstGeom>
          <a:solidFill>
            <a:srgbClr val="101C32"/>
          </a:solidFill>
          <a:ln w="15240">
            <a:solidFill>
              <a:srgbClr val="2438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537960" y="1901952"/>
            <a:ext cx="4663440" cy="4151376"/>
          </a:xfrm>
          <a:prstGeom prst="rect">
            <a:avLst/>
          </a:prstGeom>
          <a:noFill/>
        </p:spPr>
        <p:txBody>
          <a:bodyPr wrap="square" lIns="0" tIns="0" rIns="0" bIns="0">
            <a:spAutoFit/>
          </a:bodyPr>
          <a:lstStyle/>
          <a:p>
            <a:pPr>
              <a:spcAft>
                <a:spcPts val="800"/>
              </a:spcAft>
              <a:defRPr sz="1300" b="1">
                <a:solidFill>
                  <a:srgbClr val="38BDF8"/>
                </a:solidFill>
                <a:latin typeface="Calibri"/>
              </a:defRPr>
            </a:pPr>
            <a:r>
              <a:t>Comparison with Sample Covariance Matrix C</a:t>
            </a:r>
          </a:p>
          <a:p>
            <a:pPr>
              <a:spcAft>
                <a:spcPts val="500"/>
              </a:spcAft>
              <a:defRPr sz="1000">
                <a:solidFill>
                  <a:srgbClr val="E2E8F0"/>
                </a:solidFill>
                <a:latin typeface="Calibri"/>
              </a:defRPr>
            </a:pPr>
            <a:r>
              <a:t>•  Sample Covariance Matrix Definition:</a:t>
            </a:r>
          </a:p>
          <a:p>
            <a:pPr>
              <a:spcAft>
                <a:spcPts val="500"/>
              </a:spcAft>
              <a:defRPr sz="1000">
                <a:solidFill>
                  <a:srgbClr val="E2E8F0"/>
                </a:solidFill>
                <a:latin typeface="Calibri"/>
              </a:defRPr>
            </a:pPr>
            <a:r>
              <a:t>•         C = [1 / (m - 1)] (A - 1 mu^T)^T (A - 1 mu^T)</a:t>
            </a:r>
          </a:p>
          <a:p>
            <a:pPr>
              <a:spcAft>
                <a:spcPts val="500"/>
              </a:spcAft>
              <a:defRPr sz="1000">
                <a:solidFill>
                  <a:srgbClr val="E2E8F0"/>
                </a:solidFill>
                <a:latin typeface="Calibri"/>
              </a:defRPr>
            </a:pPr>
            <a:r>
              <a:t>•  Requires explicit column centering and Bessel correction factor [1 / (m-1)].</a:t>
            </a:r>
          </a:p>
          <a:p>
            <a:pPr>
              <a:spcAft>
                <a:spcPts val="500"/>
              </a:spcAft>
              <a:defRPr sz="1000">
                <a:solidFill>
                  <a:srgbClr val="E2E8F0"/>
                </a:solidFill>
                <a:latin typeface="Calibri"/>
              </a:defRPr>
            </a:pPr>
            <a:r>
              <a:t>•  </a:t>
            </a:r>
            <a:br/>
            <a:r>
              <a:t>Why G = A^T A is Mathematically Superior for SVD Equivalence:</a:t>
            </a:r>
          </a:p>
          <a:p>
            <a:pPr>
              <a:spcAft>
                <a:spcPts val="500"/>
              </a:spcAft>
              <a:defRPr sz="1000">
                <a:solidFill>
                  <a:srgbClr val="E2E8F0"/>
                </a:solidFill>
                <a:latin typeface="Calibri"/>
              </a:defRPr>
            </a:pPr>
            <a:r>
              <a:t>•  • The Singular Value Decomposition (SVD) of matrix A is defined as A = U Sigma V^T.</a:t>
            </a:r>
          </a:p>
          <a:p>
            <a:pPr>
              <a:spcAft>
                <a:spcPts val="500"/>
              </a:spcAft>
              <a:defRPr sz="1000">
                <a:solidFill>
                  <a:srgbClr val="E2E8F0"/>
                </a:solidFill>
                <a:latin typeface="Calibri"/>
              </a:defRPr>
            </a:pPr>
            <a:r>
              <a:t>•  • Notice that:</a:t>
            </a:r>
          </a:p>
          <a:p>
            <a:pPr>
              <a:spcAft>
                <a:spcPts val="500"/>
              </a:spcAft>
              <a:defRPr sz="1000">
                <a:solidFill>
                  <a:srgbClr val="E2E8F0"/>
                </a:solidFill>
                <a:latin typeface="Calibri"/>
              </a:defRPr>
            </a:pPr>
            <a:r>
              <a:t>•         A^T A = (V Sigma U^T)(U Sigma V^T) = V Sigma^2 V^T</a:t>
            </a:r>
          </a:p>
          <a:p>
            <a:pPr>
              <a:spcAft>
                <a:spcPts val="500"/>
              </a:spcAft>
              <a:defRPr sz="1000">
                <a:solidFill>
                  <a:srgbClr val="E2E8F0"/>
                </a:solidFill>
                <a:latin typeface="Calibri"/>
              </a:defRPr>
            </a:pPr>
            <a:r>
              <a:t>•  • Therefore, the eigenvectors of G = A^T A are PRECISELY the right singular vectors V of image A!</a:t>
            </a:r>
          </a:p>
          <a:p>
            <a:pPr>
              <a:spcAft>
                <a:spcPts val="500"/>
              </a:spcAft>
              <a:defRPr sz="1000">
                <a:solidFill>
                  <a:srgbClr val="E2E8F0"/>
                </a:solidFill>
                <a:latin typeface="Calibri"/>
              </a:defRPr>
            </a:pPr>
            <a:r>
              <a:t>•  • And the eigenvalues lambda_i are exactly the squared singular values: lambda_i = sigma_i^2.</a:t>
            </a:r>
          </a:p>
          <a:p>
            <a:pPr>
              <a:spcAft>
                <a:spcPts val="500"/>
              </a:spcAft>
              <a:defRPr sz="1000">
                <a:solidFill>
                  <a:srgbClr val="E2E8F0"/>
                </a:solidFill>
                <a:latin typeface="Calibri"/>
              </a:defRPr>
            </a:pPr>
            <a:r>
              <a:t>•  • Thus, computing the eigendecomposition of A^T A is algebraically equivalent to computing the right singular vectors of the image itself.</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1221"/>
          </a:solidFill>
          <a:ln>
            <a:solidFill>
              <a:srgbClr val="0A122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411480"/>
            <a:ext cx="10728655" cy="27432"/>
          </a:xfrm>
          <a:prstGeom prst="rect">
            <a:avLst/>
          </a:prstGeom>
          <a:solidFill>
            <a:srgbClr val="D4AF37"/>
          </a:solidFill>
          <a:ln>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502920"/>
            <a:ext cx="10728655" cy="274320"/>
          </a:xfrm>
          <a:prstGeom prst="rect">
            <a:avLst/>
          </a:prstGeom>
          <a:noFill/>
        </p:spPr>
        <p:txBody>
          <a:bodyPr wrap="square" lIns="0" tIns="0" rIns="0" bIns="0">
            <a:spAutoFit/>
          </a:bodyPr>
          <a:lstStyle/>
          <a:p>
            <a:pPr>
              <a:defRPr sz="1000" b="1">
                <a:solidFill>
                  <a:srgbClr val="D4AF37"/>
                </a:solidFill>
                <a:latin typeface="Calibri"/>
              </a:defRPr>
            </a:pPr>
            <a:r>
              <a:t>EIGENDECOMPOSITION &amp; SVD EQUIVALENCE   |   SLIDE 10 OF 17</a:t>
            </a:r>
          </a:p>
        </p:txBody>
      </p:sp>
      <p:sp>
        <p:nvSpPr>
          <p:cNvPr id="5" name="TextBox 4"/>
          <p:cNvSpPr txBox="1"/>
          <p:nvPr/>
        </p:nvSpPr>
        <p:spPr>
          <a:xfrm>
            <a:off x="731520" y="777240"/>
            <a:ext cx="10728655" cy="594360"/>
          </a:xfrm>
          <a:prstGeom prst="rect">
            <a:avLst/>
          </a:prstGeom>
          <a:noFill/>
        </p:spPr>
        <p:txBody>
          <a:bodyPr wrap="square" lIns="0" tIns="0" rIns="0" bIns="0">
            <a:spAutoFit/>
          </a:bodyPr>
          <a:lstStyle/>
          <a:p>
            <a:pPr>
              <a:defRPr sz="2400" b="1">
                <a:solidFill>
                  <a:srgbClr val="F8FAFC"/>
                </a:solidFill>
                <a:latin typeface="Calibri"/>
              </a:defRPr>
            </a:pPr>
            <a:r>
              <a:t>Extracting and Ordering Principal Feature Directions</a:t>
            </a:r>
          </a:p>
        </p:txBody>
      </p:sp>
      <p:sp>
        <p:nvSpPr>
          <p:cNvPr id="6" name="TextBox 5"/>
          <p:cNvSpPr txBox="1"/>
          <p:nvPr/>
        </p:nvSpPr>
        <p:spPr>
          <a:xfrm>
            <a:off x="731520" y="1353312"/>
            <a:ext cx="10728655" cy="320040"/>
          </a:xfrm>
          <a:prstGeom prst="rect">
            <a:avLst/>
          </a:prstGeom>
          <a:noFill/>
        </p:spPr>
        <p:txBody>
          <a:bodyPr wrap="square" lIns="0" tIns="0" rIns="0" bIns="0">
            <a:spAutoFit/>
          </a:bodyPr>
          <a:lstStyle/>
          <a:p>
            <a:pPr>
              <a:defRPr sz="1200">
                <a:solidFill>
                  <a:srgbClr val="9CABC2"/>
                </a:solidFill>
                <a:latin typeface="Calibri"/>
              </a:defRPr>
            </a:pPr>
            <a:r>
              <a:t>Solving G v_i = lambda_i v_i, eigenvalue sorting, and energy compaction.</a:t>
            </a:r>
          </a:p>
        </p:txBody>
      </p:sp>
      <p:sp>
        <p:nvSpPr>
          <p:cNvPr id="7" name="Rounded Rectangle 6"/>
          <p:cNvSpPr/>
          <p:nvPr/>
        </p:nvSpPr>
        <p:spPr>
          <a:xfrm>
            <a:off x="731520" y="1737360"/>
            <a:ext cx="5120640" cy="4480560"/>
          </a:xfrm>
          <a:prstGeom prst="roundRect">
            <a:avLst/>
          </a:prstGeom>
          <a:solidFill>
            <a:srgbClr val="101C32"/>
          </a:solidFill>
          <a:ln w="15240">
            <a:solidFill>
              <a:srgbClr val="2438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60120" y="1901952"/>
            <a:ext cx="4663440" cy="4151376"/>
          </a:xfrm>
          <a:prstGeom prst="rect">
            <a:avLst/>
          </a:prstGeom>
          <a:noFill/>
        </p:spPr>
        <p:txBody>
          <a:bodyPr wrap="square" lIns="0" tIns="0" rIns="0" bIns="0">
            <a:spAutoFit/>
          </a:bodyPr>
          <a:lstStyle/>
          <a:p>
            <a:pPr>
              <a:spcAft>
                <a:spcPts val="800"/>
              </a:spcAft>
              <a:defRPr sz="1300" b="1">
                <a:solidFill>
                  <a:srgbClr val="38BDF8"/>
                </a:solidFill>
                <a:latin typeface="Calibri"/>
              </a:defRPr>
            </a:pPr>
            <a:r>
              <a:t>The Eigen-Problem Formulation</a:t>
            </a:r>
          </a:p>
          <a:p>
            <a:pPr>
              <a:spcAft>
                <a:spcPts val="500"/>
              </a:spcAft>
              <a:defRPr sz="1000">
                <a:solidFill>
                  <a:srgbClr val="E2E8F0"/>
                </a:solidFill>
                <a:latin typeface="Calibri"/>
              </a:defRPr>
            </a:pPr>
            <a:r>
              <a:t>•  Eigenvalue Equation:</a:t>
            </a:r>
          </a:p>
          <a:p>
            <a:pPr>
              <a:spcAft>
                <a:spcPts val="500"/>
              </a:spcAft>
              <a:defRPr sz="1000">
                <a:solidFill>
                  <a:srgbClr val="E2E8F0"/>
                </a:solidFill>
                <a:latin typeface="Calibri"/>
              </a:defRPr>
            </a:pPr>
            <a:r>
              <a:t>•         G v_i = lambda_i v_i,   with ||v_i||_2 = 1</a:t>
            </a:r>
          </a:p>
          <a:p>
            <a:pPr>
              <a:spcAft>
                <a:spcPts val="500"/>
              </a:spcAft>
              <a:defRPr sz="1000">
                <a:solidFill>
                  <a:srgbClr val="E2E8F0"/>
                </a:solidFill>
                <a:latin typeface="Calibri"/>
              </a:defRPr>
            </a:pPr>
            <a:r>
              <a:t>•  Where G = A^T A in R^{64 x 64}, lambda_i is the scalar eigenvalue, and v_i in R^{64} is the unit eigenvector.</a:t>
            </a:r>
          </a:p>
          <a:p>
            <a:pPr>
              <a:spcAft>
                <a:spcPts val="500"/>
              </a:spcAft>
              <a:defRPr sz="1000">
                <a:solidFill>
                  <a:srgbClr val="E2E8F0"/>
                </a:solidFill>
                <a:latin typeface="Calibri"/>
              </a:defRPr>
            </a:pPr>
            <a:r>
              <a:t>•  </a:t>
            </a:r>
            <a:br/>
            <a:r>
              <a:t>Physical Meaning in Digital Images:</a:t>
            </a:r>
          </a:p>
          <a:p>
            <a:pPr>
              <a:spcAft>
                <a:spcPts val="500"/>
              </a:spcAft>
              <a:defRPr sz="1000">
                <a:solidFill>
                  <a:srgbClr val="E2E8F0"/>
                </a:solidFill>
                <a:latin typeface="Calibri"/>
              </a:defRPr>
            </a:pPr>
            <a:r>
              <a:t>•  • Eigenvector v_i: Represents an optimal spatial weighting pattern across the 64 columns.</a:t>
            </a:r>
          </a:p>
          <a:p>
            <a:pPr>
              <a:spcAft>
                <a:spcPts val="500"/>
              </a:spcAft>
              <a:defRPr sz="1000">
                <a:solidFill>
                  <a:srgbClr val="E2E8F0"/>
                </a:solidFill>
                <a:latin typeface="Calibri"/>
              </a:defRPr>
            </a:pPr>
            <a:r>
              <a:t>•  • Eigenvalue lambda_i: Represents the total energy (squared norm ||A v_i||_2^2) captured along direction v_i.</a:t>
            </a:r>
          </a:p>
          <a:p>
            <a:pPr>
              <a:spcAft>
                <a:spcPts val="500"/>
              </a:spcAft>
              <a:defRPr sz="1000">
                <a:solidFill>
                  <a:srgbClr val="E2E8F0"/>
                </a:solidFill>
                <a:latin typeface="Calibri"/>
              </a:defRPr>
            </a:pPr>
            <a:r>
              <a:t>•         ||A v_i||_2^2 = (A v_i)^T (A v_i) = v_i^T (A^T A) v_i = v_i^T (lambda_i v_i) = lambda_i</a:t>
            </a:r>
          </a:p>
          <a:p>
            <a:pPr>
              <a:spcAft>
                <a:spcPts val="500"/>
              </a:spcAft>
              <a:defRPr sz="1000">
                <a:solidFill>
                  <a:srgbClr val="E2E8F0"/>
                </a:solidFill>
                <a:latin typeface="Calibri"/>
              </a:defRPr>
            </a:pPr>
            <a:r>
              <a:t>•  </a:t>
            </a:r>
            <a:br/>
            <a:r>
              <a:t>Eigenvalue Ranking &amp; Sorting:</a:t>
            </a:r>
          </a:p>
          <a:p>
            <a:pPr>
              <a:spcAft>
                <a:spcPts val="500"/>
              </a:spcAft>
              <a:defRPr sz="1000">
                <a:solidFill>
                  <a:srgbClr val="E2E8F0"/>
                </a:solidFill>
                <a:latin typeface="Calibri"/>
              </a:defRPr>
            </a:pPr>
            <a:r>
              <a:t>•  We sort all 64 eigenpairs in descending order:</a:t>
            </a:r>
          </a:p>
          <a:p>
            <a:pPr>
              <a:spcAft>
                <a:spcPts val="500"/>
              </a:spcAft>
              <a:defRPr sz="1000">
                <a:solidFill>
                  <a:srgbClr val="E2E8F0"/>
                </a:solidFill>
                <a:latin typeface="Calibri"/>
              </a:defRPr>
            </a:pPr>
            <a:r>
              <a:t>•         lambda_1 &gt;= lambda_2 &gt;= lambda_3 &gt;= ... &gt;= lambda_{64} &gt;= 0</a:t>
            </a:r>
          </a:p>
          <a:p>
            <a:pPr>
              <a:spcAft>
                <a:spcPts val="500"/>
              </a:spcAft>
              <a:defRPr sz="1000">
                <a:solidFill>
                  <a:srgbClr val="E2E8F0"/>
                </a:solidFill>
                <a:latin typeface="Calibri"/>
              </a:defRPr>
            </a:pPr>
            <a:r>
              <a:t>•  Ensures that top components concentrate the maximum possible visual energy.</a:t>
            </a:r>
          </a:p>
        </p:txBody>
      </p:sp>
      <p:sp>
        <p:nvSpPr>
          <p:cNvPr id="9" name="Rounded Rectangle 8"/>
          <p:cNvSpPr/>
          <p:nvPr/>
        </p:nvSpPr>
        <p:spPr>
          <a:xfrm>
            <a:off x="6309360" y="1737360"/>
            <a:ext cx="5120640" cy="4480560"/>
          </a:xfrm>
          <a:prstGeom prst="roundRect">
            <a:avLst/>
          </a:prstGeom>
          <a:solidFill>
            <a:srgbClr val="101C32"/>
          </a:solidFill>
          <a:ln w="15240">
            <a:solidFill>
              <a:srgbClr val="2438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537960" y="1901952"/>
            <a:ext cx="4663440" cy="4151376"/>
          </a:xfrm>
          <a:prstGeom prst="rect">
            <a:avLst/>
          </a:prstGeom>
          <a:noFill/>
        </p:spPr>
        <p:txBody>
          <a:bodyPr wrap="square" lIns="0" tIns="0" rIns="0" bIns="0">
            <a:spAutoFit/>
          </a:bodyPr>
          <a:lstStyle/>
          <a:p>
            <a:pPr>
              <a:spcAft>
                <a:spcPts val="800"/>
              </a:spcAft>
              <a:defRPr sz="1300" b="1">
                <a:solidFill>
                  <a:srgbClr val="34D399"/>
                </a:solidFill>
                <a:latin typeface="Calibri"/>
              </a:defRPr>
            </a:pPr>
            <a:r>
              <a:t>Numerical Implementation &amp; Precision</a:t>
            </a:r>
          </a:p>
          <a:p>
            <a:pPr>
              <a:spcAft>
                <a:spcPts val="500"/>
              </a:spcAft>
              <a:defRPr sz="1000">
                <a:solidFill>
                  <a:srgbClr val="E2E8F0"/>
                </a:solidFill>
                <a:latin typeface="Calibri"/>
              </a:defRPr>
            </a:pPr>
            <a:r>
              <a:t>•  Algorithmic Solver (NumPy LAPACK):</a:t>
            </a:r>
          </a:p>
          <a:p>
            <a:pPr>
              <a:spcAft>
                <a:spcPts val="500"/>
              </a:spcAft>
              <a:defRPr sz="1000">
                <a:solidFill>
                  <a:srgbClr val="E2E8F0"/>
                </a:solidFill>
                <a:latin typeface="Calibri"/>
              </a:defRPr>
            </a:pPr>
            <a:r>
              <a:t>•     eigenvalues, eigenvectors = np.linalg.eigh(covariance_matrix)</a:t>
            </a:r>
          </a:p>
          <a:p>
            <a:pPr>
              <a:spcAft>
                <a:spcPts val="500"/>
              </a:spcAft>
              <a:defRPr sz="1000">
                <a:solidFill>
                  <a:srgbClr val="E2E8F0"/>
                </a:solidFill>
                <a:latin typeface="Calibri"/>
              </a:defRPr>
            </a:pPr>
            <a:r>
              <a:t>•     order = np.argsort(eigenvalues)[::-1]</a:t>
            </a:r>
          </a:p>
          <a:p>
            <a:pPr>
              <a:spcAft>
                <a:spcPts val="500"/>
              </a:spcAft>
              <a:defRPr sz="1000">
                <a:solidFill>
                  <a:srgbClr val="E2E8F0"/>
                </a:solidFill>
                <a:latin typeface="Calibri"/>
              </a:defRPr>
            </a:pPr>
            <a:r>
              <a:t>•  • np.linalg.eigh leverages symmetric divide-and-conquer (dsyevd) routines.</a:t>
            </a:r>
          </a:p>
          <a:p>
            <a:pPr>
              <a:spcAft>
                <a:spcPts val="500"/>
              </a:spcAft>
              <a:defRPr sz="1000">
                <a:solidFill>
                  <a:srgbClr val="E2E8F0"/>
                </a:solidFill>
                <a:latin typeface="Calibri"/>
              </a:defRPr>
            </a:pPr>
            <a:r>
              <a:t>•  • Guarantees strictly real eigenvalues, zero imaginary residual, and ~2x higher performance than general non-symmetric solvers (eig).</a:t>
            </a:r>
          </a:p>
          <a:p>
            <a:pPr>
              <a:spcAft>
                <a:spcPts val="500"/>
              </a:spcAft>
              <a:defRPr sz="1000">
                <a:solidFill>
                  <a:srgbClr val="E2E8F0"/>
                </a:solidFill>
                <a:latin typeface="Calibri"/>
              </a:defRPr>
            </a:pPr>
            <a:r>
              <a:t>•  </a:t>
            </a:r>
            <a:br/>
            <a:r>
              <a:t>Numerical Orthogonality Verification (Source Code):</a:t>
            </a:r>
          </a:p>
          <a:p>
            <a:pPr>
              <a:spcAft>
                <a:spcPts val="500"/>
              </a:spcAft>
              <a:defRPr sz="1000">
                <a:solidFill>
                  <a:srgbClr val="E2E8F0"/>
                </a:solidFill>
                <a:latin typeface="Calibri"/>
              </a:defRPr>
            </a:pPr>
            <a:r>
              <a:t>•     orthogonality_matrix = eigenvectors.T @ eigenvectors</a:t>
            </a:r>
          </a:p>
          <a:p>
            <a:pPr>
              <a:spcAft>
                <a:spcPts val="500"/>
              </a:spcAft>
              <a:defRPr sz="1000">
                <a:solidFill>
                  <a:srgbClr val="E2E8F0"/>
                </a:solidFill>
                <a:latin typeface="Calibri"/>
              </a:defRPr>
            </a:pPr>
            <a:r>
              <a:t>•     error = np.linalg.norm(orthogonality_matrix - np.eye(64), 'fro')</a:t>
            </a:r>
          </a:p>
          <a:p>
            <a:pPr>
              <a:spcAft>
                <a:spcPts val="500"/>
              </a:spcAft>
              <a:defRPr sz="1000">
                <a:solidFill>
                  <a:srgbClr val="E2E8F0"/>
                </a:solidFill>
                <a:latin typeface="Calibri"/>
              </a:defRPr>
            </a:pPr>
            <a:r>
              <a:t>•  • Verified Result: Numerical orthogonality error is 2.48 x 10^{-15}.</a:t>
            </a:r>
          </a:p>
          <a:p>
            <a:pPr>
              <a:spcAft>
                <a:spcPts val="500"/>
              </a:spcAft>
              <a:defRPr sz="1000">
                <a:solidFill>
                  <a:srgbClr val="E2E8F0"/>
                </a:solidFill>
                <a:latin typeface="Calibri"/>
              </a:defRPr>
            </a:pPr>
            <a:r>
              <a:t>•  • Consequence: The calculated basis is orthonormal down to machine epsilon precision.</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1221"/>
          </a:solidFill>
          <a:ln>
            <a:solidFill>
              <a:srgbClr val="0A122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411480"/>
            <a:ext cx="10728655" cy="27432"/>
          </a:xfrm>
          <a:prstGeom prst="rect">
            <a:avLst/>
          </a:prstGeom>
          <a:solidFill>
            <a:srgbClr val="D4AF37"/>
          </a:solidFill>
          <a:ln>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502920"/>
            <a:ext cx="10728655" cy="274320"/>
          </a:xfrm>
          <a:prstGeom prst="rect">
            <a:avLst/>
          </a:prstGeom>
          <a:noFill/>
        </p:spPr>
        <p:txBody>
          <a:bodyPr wrap="square" lIns="0" tIns="0" rIns="0" bIns="0">
            <a:spAutoFit/>
          </a:bodyPr>
          <a:lstStyle/>
          <a:p>
            <a:pPr>
              <a:defRPr sz="1000" b="1">
                <a:solidFill>
                  <a:srgbClr val="D4AF37"/>
                </a:solidFill>
                <a:latin typeface="Calibri"/>
              </a:defRPr>
            </a:pPr>
            <a:r>
              <a:t>WORKED NUMERICAL EXAMPLE   |   SLIDE 11 OF 17</a:t>
            </a:r>
          </a:p>
        </p:txBody>
      </p:sp>
      <p:sp>
        <p:nvSpPr>
          <p:cNvPr id="5" name="TextBox 4"/>
          <p:cNvSpPr txBox="1"/>
          <p:nvPr/>
        </p:nvSpPr>
        <p:spPr>
          <a:xfrm>
            <a:off x="731520" y="777240"/>
            <a:ext cx="10728655" cy="594360"/>
          </a:xfrm>
          <a:prstGeom prst="rect">
            <a:avLst/>
          </a:prstGeom>
          <a:noFill/>
        </p:spPr>
        <p:txBody>
          <a:bodyPr wrap="square" lIns="0" tIns="0" rIns="0" bIns="0">
            <a:spAutoFit/>
          </a:bodyPr>
          <a:lstStyle/>
          <a:p>
            <a:pPr>
              <a:defRPr sz="2400" b="1">
                <a:solidFill>
                  <a:srgbClr val="F8FAFC"/>
                </a:solidFill>
                <a:latin typeface="Calibri"/>
              </a:defRPr>
            </a:pPr>
            <a:r>
              <a:t>Step-by-Step Manual Arithmetic on a 3×3 Matrix</a:t>
            </a:r>
          </a:p>
        </p:txBody>
      </p:sp>
      <p:sp>
        <p:nvSpPr>
          <p:cNvPr id="6" name="TextBox 5"/>
          <p:cNvSpPr txBox="1"/>
          <p:nvPr/>
        </p:nvSpPr>
        <p:spPr>
          <a:xfrm>
            <a:off x="731520" y="1353312"/>
            <a:ext cx="10728655" cy="320040"/>
          </a:xfrm>
          <a:prstGeom prst="rect">
            <a:avLst/>
          </a:prstGeom>
          <a:noFill/>
        </p:spPr>
        <p:txBody>
          <a:bodyPr wrap="square" lIns="0" tIns="0" rIns="0" bIns="0">
            <a:spAutoFit/>
          </a:bodyPr>
          <a:lstStyle/>
          <a:p>
            <a:pPr>
              <a:defRPr sz="1200">
                <a:solidFill>
                  <a:srgbClr val="9CABC2"/>
                </a:solidFill>
                <a:latin typeface="Calibri"/>
              </a:defRPr>
            </a:pPr>
            <a:r>
              <a:t>Validating the mathematical formulas with complete numerical steps.</a:t>
            </a:r>
          </a:p>
        </p:txBody>
      </p:sp>
      <p:sp>
        <p:nvSpPr>
          <p:cNvPr id="7" name="Rounded Rectangle 6"/>
          <p:cNvSpPr/>
          <p:nvPr/>
        </p:nvSpPr>
        <p:spPr>
          <a:xfrm>
            <a:off x="731520" y="1737360"/>
            <a:ext cx="5120640" cy="4480560"/>
          </a:xfrm>
          <a:prstGeom prst="roundRect">
            <a:avLst/>
          </a:prstGeom>
          <a:solidFill>
            <a:srgbClr val="101C32"/>
          </a:solidFill>
          <a:ln w="15240">
            <a:solidFill>
              <a:srgbClr val="2438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60120" y="1901952"/>
            <a:ext cx="4663440" cy="4151376"/>
          </a:xfrm>
          <a:prstGeom prst="rect">
            <a:avLst/>
          </a:prstGeom>
          <a:noFill/>
        </p:spPr>
        <p:txBody>
          <a:bodyPr wrap="square" lIns="0" tIns="0" rIns="0" bIns="0">
            <a:spAutoFit/>
          </a:bodyPr>
          <a:lstStyle/>
          <a:p>
            <a:pPr>
              <a:spcAft>
                <a:spcPts val="800"/>
              </a:spcAft>
              <a:defRPr sz="1300" b="1">
                <a:solidFill>
                  <a:srgbClr val="38BDF8"/>
                </a:solidFill>
                <a:latin typeface="Calibri"/>
              </a:defRPr>
            </a:pPr>
            <a:r>
              <a:t>Toy Image Matrix &amp; Gram Matrix Computation</a:t>
            </a:r>
          </a:p>
          <a:p>
            <a:pPr>
              <a:spcAft>
                <a:spcPts val="500"/>
              </a:spcAft>
              <a:defRPr sz="1000">
                <a:solidFill>
                  <a:srgbClr val="E2E8F0"/>
                </a:solidFill>
                <a:latin typeface="Calibri"/>
              </a:defRPr>
            </a:pPr>
            <a:r>
              <a:t>•  Let us define a sample 3 x 3 normalized image patch A:</a:t>
            </a:r>
          </a:p>
          <a:p>
            <a:pPr>
              <a:spcAft>
                <a:spcPts val="500"/>
              </a:spcAft>
              <a:defRPr sz="1000">
                <a:solidFill>
                  <a:srgbClr val="E2E8F0"/>
                </a:solidFill>
                <a:latin typeface="Calibri"/>
              </a:defRPr>
            </a:pPr>
            <a:r>
              <a:t>•         A = [ [1.0,  0.5,  0.0],</a:t>
            </a:r>
          </a:p>
          <a:p>
            <a:pPr>
              <a:spcAft>
                <a:spcPts val="500"/>
              </a:spcAft>
              <a:defRPr sz="1000">
                <a:solidFill>
                  <a:srgbClr val="E2E8F0"/>
                </a:solidFill>
                <a:latin typeface="Calibri"/>
              </a:defRPr>
            </a:pPr>
            <a:r>
              <a:t>•               [0.5,  1.0,  0.5],</a:t>
            </a:r>
          </a:p>
          <a:p>
            <a:pPr>
              <a:spcAft>
                <a:spcPts val="500"/>
              </a:spcAft>
              <a:defRPr sz="1000">
                <a:solidFill>
                  <a:srgbClr val="E2E8F0"/>
                </a:solidFill>
                <a:latin typeface="Calibri"/>
              </a:defRPr>
            </a:pPr>
            <a:r>
              <a:t>•               [0.0,  0.5,  1.0] ]</a:t>
            </a:r>
          </a:p>
          <a:p>
            <a:pPr>
              <a:spcAft>
                <a:spcPts val="500"/>
              </a:spcAft>
              <a:defRPr sz="1000">
                <a:solidFill>
                  <a:srgbClr val="E2E8F0"/>
                </a:solidFill>
                <a:latin typeface="Calibri"/>
              </a:defRPr>
            </a:pPr>
            <a:r>
              <a:t>•  </a:t>
            </a:r>
            <a:br/>
            <a:r>
              <a:t>Step 1: Compute Gram Matrix G = A^T A:</a:t>
            </a:r>
          </a:p>
          <a:p>
            <a:pPr>
              <a:spcAft>
                <a:spcPts val="500"/>
              </a:spcAft>
              <a:defRPr sz="1000">
                <a:solidFill>
                  <a:srgbClr val="E2E8F0"/>
                </a:solidFill>
                <a:latin typeface="Calibri"/>
              </a:defRPr>
            </a:pPr>
            <a:r>
              <a:t>•         G_{1,1} = 1.0^2 + 0.5^2 + 0.0^2 = 1.25</a:t>
            </a:r>
          </a:p>
          <a:p>
            <a:pPr>
              <a:spcAft>
                <a:spcPts val="500"/>
              </a:spcAft>
              <a:defRPr sz="1000">
                <a:solidFill>
                  <a:srgbClr val="E2E8F0"/>
                </a:solidFill>
                <a:latin typeface="Calibri"/>
              </a:defRPr>
            </a:pPr>
            <a:r>
              <a:t>•         G_{1,2} = 1.0(0.5) + 0.5(1.0) + 0.0(0.5) = 1.00</a:t>
            </a:r>
          </a:p>
          <a:p>
            <a:pPr>
              <a:spcAft>
                <a:spcPts val="500"/>
              </a:spcAft>
              <a:defRPr sz="1000">
                <a:solidFill>
                  <a:srgbClr val="E2E8F0"/>
                </a:solidFill>
                <a:latin typeface="Calibri"/>
              </a:defRPr>
            </a:pPr>
            <a:r>
              <a:t>•         G_{1,3} = 1.0(0.0) + 0.5(0.5) + 0.0(1.0) = 0.25</a:t>
            </a:r>
          </a:p>
          <a:p>
            <a:pPr>
              <a:spcAft>
                <a:spcPts val="500"/>
              </a:spcAft>
              <a:defRPr sz="1000">
                <a:solidFill>
                  <a:srgbClr val="E2E8F0"/>
                </a:solidFill>
                <a:latin typeface="Calibri"/>
              </a:defRPr>
            </a:pPr>
            <a:r>
              <a:t>•         G_{2,2} = 0.5^2 + 1.0^2 + 0.5^2 = 1.50</a:t>
            </a:r>
          </a:p>
          <a:p>
            <a:pPr>
              <a:spcAft>
                <a:spcPts val="500"/>
              </a:spcAft>
              <a:defRPr sz="1000">
                <a:solidFill>
                  <a:srgbClr val="E2E8F0"/>
                </a:solidFill>
                <a:latin typeface="Calibri"/>
              </a:defRPr>
            </a:pPr>
            <a:r>
              <a:t>•         G_{2,3} = 0.5(0.0) + 1.0(0.5) + 0.5(1.0) = 1.00</a:t>
            </a:r>
          </a:p>
          <a:p>
            <a:pPr>
              <a:spcAft>
                <a:spcPts val="500"/>
              </a:spcAft>
              <a:defRPr sz="1000">
                <a:solidFill>
                  <a:srgbClr val="E2E8F0"/>
                </a:solidFill>
                <a:latin typeface="Calibri"/>
              </a:defRPr>
            </a:pPr>
            <a:r>
              <a:t>•         G_{3,3} = 0.0^2 + 0.5^2 + 1.0^2 = 1.25</a:t>
            </a:r>
          </a:p>
          <a:p>
            <a:pPr>
              <a:spcAft>
                <a:spcPts val="500"/>
              </a:spcAft>
              <a:defRPr sz="1000">
                <a:solidFill>
                  <a:srgbClr val="E2E8F0"/>
                </a:solidFill>
                <a:latin typeface="Calibri"/>
              </a:defRPr>
            </a:pPr>
            <a:r>
              <a:t>•         G = [ [1.25, 1.00, 0.25],</a:t>
            </a:r>
          </a:p>
          <a:p>
            <a:pPr>
              <a:spcAft>
                <a:spcPts val="500"/>
              </a:spcAft>
              <a:defRPr sz="1000">
                <a:solidFill>
                  <a:srgbClr val="E2E8F0"/>
                </a:solidFill>
                <a:latin typeface="Calibri"/>
              </a:defRPr>
            </a:pPr>
            <a:r>
              <a:t>•               [1.00, 1.50, 1.00],</a:t>
            </a:r>
          </a:p>
          <a:p>
            <a:pPr>
              <a:spcAft>
                <a:spcPts val="500"/>
              </a:spcAft>
              <a:defRPr sz="1000">
                <a:solidFill>
                  <a:srgbClr val="E2E8F0"/>
                </a:solidFill>
                <a:latin typeface="Calibri"/>
              </a:defRPr>
            </a:pPr>
            <a:r>
              <a:t>•               [0.25, 1.00, 1.25] ]</a:t>
            </a:r>
          </a:p>
          <a:p>
            <a:pPr>
              <a:spcAft>
                <a:spcPts val="500"/>
              </a:spcAft>
              <a:defRPr sz="1000">
                <a:solidFill>
                  <a:srgbClr val="E2E8F0"/>
                </a:solidFill>
                <a:latin typeface="Calibri"/>
              </a:defRPr>
            </a:pPr>
            <a:r>
              <a:t>•  Notice that G is strictly symmetric: G = G^T.</a:t>
            </a:r>
          </a:p>
        </p:txBody>
      </p:sp>
      <p:sp>
        <p:nvSpPr>
          <p:cNvPr id="9" name="Rounded Rectangle 8"/>
          <p:cNvSpPr/>
          <p:nvPr/>
        </p:nvSpPr>
        <p:spPr>
          <a:xfrm>
            <a:off x="6309360" y="1737360"/>
            <a:ext cx="5120640" cy="4480560"/>
          </a:xfrm>
          <a:prstGeom prst="roundRect">
            <a:avLst/>
          </a:prstGeom>
          <a:solidFill>
            <a:srgbClr val="101C32"/>
          </a:solidFill>
          <a:ln w="15240">
            <a:solidFill>
              <a:srgbClr val="2438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537960" y="1901952"/>
            <a:ext cx="4663440" cy="4151376"/>
          </a:xfrm>
          <a:prstGeom prst="rect">
            <a:avLst/>
          </a:prstGeom>
          <a:noFill/>
        </p:spPr>
        <p:txBody>
          <a:bodyPr wrap="square" lIns="0" tIns="0" rIns="0" bIns="0">
            <a:spAutoFit/>
          </a:bodyPr>
          <a:lstStyle/>
          <a:p>
            <a:pPr>
              <a:spcAft>
                <a:spcPts val="800"/>
              </a:spcAft>
              <a:defRPr sz="1300" b="1">
                <a:solidFill>
                  <a:srgbClr val="D4AF37"/>
                </a:solidFill>
                <a:latin typeface="Calibri"/>
              </a:defRPr>
            </a:pPr>
            <a:r>
              <a:t>Eigendecomposition, Truncation &amp; Reconstruction</a:t>
            </a:r>
          </a:p>
          <a:p>
            <a:pPr>
              <a:spcAft>
                <a:spcPts val="500"/>
              </a:spcAft>
              <a:defRPr sz="1000">
                <a:solidFill>
                  <a:srgbClr val="E2E8F0"/>
                </a:solidFill>
                <a:latin typeface="Calibri"/>
              </a:defRPr>
            </a:pPr>
            <a:r>
              <a:t>•  Step 2: Solve det(G - lambda I) = 0:</a:t>
            </a:r>
          </a:p>
          <a:p>
            <a:pPr>
              <a:spcAft>
                <a:spcPts val="500"/>
              </a:spcAft>
              <a:defRPr sz="1000">
                <a:solidFill>
                  <a:srgbClr val="E2E8F0"/>
                </a:solidFill>
                <a:latin typeface="Calibri"/>
              </a:defRPr>
            </a:pPr>
            <a:r>
              <a:t>•         lambda_1 = 3.00,    v_1 = [0.500, 0.707, 0.500]^T</a:t>
            </a:r>
          </a:p>
          <a:p>
            <a:pPr>
              <a:spcAft>
                <a:spcPts val="500"/>
              </a:spcAft>
              <a:defRPr sz="1000">
                <a:solidFill>
                  <a:srgbClr val="E2E8F0"/>
                </a:solidFill>
                <a:latin typeface="Calibri"/>
              </a:defRPr>
            </a:pPr>
            <a:r>
              <a:t>•         lambda_2 = 1.00,    v_2 = [-0.707, 0.000, 0.707]^T</a:t>
            </a:r>
          </a:p>
          <a:p>
            <a:pPr>
              <a:spcAft>
                <a:spcPts val="500"/>
              </a:spcAft>
              <a:defRPr sz="1000">
                <a:solidFill>
                  <a:srgbClr val="E2E8F0"/>
                </a:solidFill>
                <a:latin typeface="Calibri"/>
              </a:defRPr>
            </a:pPr>
            <a:r>
              <a:t>•         lambda_3 = 0.00,    v_3 = [0.500, -0.707, 0.500]^T</a:t>
            </a:r>
          </a:p>
          <a:p>
            <a:pPr>
              <a:spcAft>
                <a:spcPts val="500"/>
              </a:spcAft>
              <a:defRPr sz="1000">
                <a:solidFill>
                  <a:srgbClr val="E2E8F0"/>
                </a:solidFill>
                <a:latin typeface="Calibri"/>
              </a:defRPr>
            </a:pPr>
            <a:r>
              <a:t>•  Total Energy = Tr(G) = 1.25 + 1.50 + 1.25 = 4.00.</a:t>
            </a:r>
          </a:p>
          <a:p>
            <a:pPr>
              <a:spcAft>
                <a:spcPts val="500"/>
              </a:spcAft>
              <a:defRPr sz="1000">
                <a:solidFill>
                  <a:srgbClr val="E2E8F0"/>
                </a:solidFill>
                <a:latin typeface="Calibri"/>
              </a:defRPr>
            </a:pPr>
            <a:r>
              <a:t>•  lambda_1 alone retains: 3.00 / 4.00 = 75.0% of total variance!</a:t>
            </a:r>
          </a:p>
          <a:p>
            <a:pPr>
              <a:spcAft>
                <a:spcPts val="500"/>
              </a:spcAft>
              <a:defRPr sz="1000">
                <a:solidFill>
                  <a:srgbClr val="E2E8F0"/>
                </a:solidFill>
                <a:latin typeface="Calibri"/>
              </a:defRPr>
            </a:pPr>
            <a:r>
              <a:t>•  </a:t>
            </a:r>
            <a:br/>
            <a:r>
              <a:t>Step 3: Truncate to k = 1 Component (V_1 = v_1):</a:t>
            </a:r>
          </a:p>
          <a:p>
            <a:pPr>
              <a:spcAft>
                <a:spcPts val="500"/>
              </a:spcAft>
              <a:defRPr sz="1000">
                <a:solidFill>
                  <a:srgbClr val="E2E8F0"/>
                </a:solidFill>
                <a:latin typeface="Calibri"/>
              </a:defRPr>
            </a:pPr>
            <a:r>
              <a:t>•  Projection Z = A V_1 (3 x 1):</a:t>
            </a:r>
          </a:p>
          <a:p>
            <a:pPr>
              <a:spcAft>
                <a:spcPts val="500"/>
              </a:spcAft>
              <a:defRPr sz="1000">
                <a:solidFill>
                  <a:srgbClr val="E2E8F0"/>
                </a:solidFill>
                <a:latin typeface="Calibri"/>
              </a:defRPr>
            </a:pPr>
            <a:r>
              <a:t>•         Z = [0.8535, 1.2071, 0.8535]^T</a:t>
            </a:r>
          </a:p>
          <a:p>
            <a:pPr>
              <a:spcAft>
                <a:spcPts val="500"/>
              </a:spcAft>
              <a:defRPr sz="1000">
                <a:solidFill>
                  <a:srgbClr val="E2E8F0"/>
                </a:solidFill>
                <a:latin typeface="Calibri"/>
              </a:defRPr>
            </a:pPr>
            <a:r>
              <a:t>•  </a:t>
            </a:r>
            <a:br/>
            <a:r>
              <a:t>Step 4: Low-Rank Reconstruction A_hat_1 = Z V_1^T (3 x 3):</a:t>
            </a:r>
          </a:p>
          <a:p>
            <a:pPr>
              <a:spcAft>
                <a:spcPts val="500"/>
              </a:spcAft>
              <a:defRPr sz="1000">
                <a:solidFill>
                  <a:srgbClr val="E2E8F0"/>
                </a:solidFill>
                <a:latin typeface="Calibri"/>
              </a:defRPr>
            </a:pPr>
            <a:r>
              <a:t>•         A_hat_1 = [ [0.427, 0.604, 0.427],</a:t>
            </a:r>
          </a:p>
          <a:p>
            <a:pPr>
              <a:spcAft>
                <a:spcPts val="500"/>
              </a:spcAft>
              <a:defRPr sz="1000">
                <a:solidFill>
                  <a:srgbClr val="E2E8F0"/>
                </a:solidFill>
                <a:latin typeface="Calibri"/>
              </a:defRPr>
            </a:pPr>
            <a:r>
              <a:t>•                     [0.604, 0.854, 0.604],</a:t>
            </a:r>
          </a:p>
          <a:p>
            <a:pPr>
              <a:spcAft>
                <a:spcPts val="500"/>
              </a:spcAft>
              <a:defRPr sz="1000">
                <a:solidFill>
                  <a:srgbClr val="E2E8F0"/>
                </a:solidFill>
                <a:latin typeface="Calibri"/>
              </a:defRPr>
            </a:pPr>
            <a:r>
              <a:t>•                     [0.427, 0.604, 0.427] ]</a:t>
            </a:r>
          </a:p>
          <a:p>
            <a:pPr>
              <a:spcAft>
                <a:spcPts val="500"/>
              </a:spcAft>
              <a:defRPr sz="1000">
                <a:solidFill>
                  <a:srgbClr val="E2E8F0"/>
                </a:solidFill>
                <a:latin typeface="Calibri"/>
              </a:defRPr>
            </a:pPr>
            <a:r>
              <a:t>•  Theoretical Error: ||A - A_hat_1||_F = sqrt(lambda_2 + lambda_3) = sqrt(1.0) = 1.000.</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1221"/>
          </a:solidFill>
          <a:ln>
            <a:solidFill>
              <a:srgbClr val="0A122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411480"/>
            <a:ext cx="10728655" cy="27432"/>
          </a:xfrm>
          <a:prstGeom prst="rect">
            <a:avLst/>
          </a:prstGeom>
          <a:solidFill>
            <a:srgbClr val="D4AF37"/>
          </a:solidFill>
          <a:ln>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502920"/>
            <a:ext cx="10728655" cy="274320"/>
          </a:xfrm>
          <a:prstGeom prst="rect">
            <a:avLst/>
          </a:prstGeom>
          <a:noFill/>
        </p:spPr>
        <p:txBody>
          <a:bodyPr wrap="square" lIns="0" tIns="0" rIns="0" bIns="0">
            <a:spAutoFit/>
          </a:bodyPr>
          <a:lstStyle/>
          <a:p>
            <a:pPr>
              <a:defRPr sz="1000" b="1">
                <a:solidFill>
                  <a:srgbClr val="D4AF37"/>
                </a:solidFill>
                <a:latin typeface="Calibri"/>
              </a:defRPr>
            </a:pPr>
            <a:r>
              <a:t>DIMENSIONALITY REDUCTION VS. STORAGE COMPRESSION   |   SLIDE 12 OF 17</a:t>
            </a:r>
          </a:p>
        </p:txBody>
      </p:sp>
      <p:sp>
        <p:nvSpPr>
          <p:cNvPr id="5" name="TextBox 4"/>
          <p:cNvSpPr txBox="1"/>
          <p:nvPr/>
        </p:nvSpPr>
        <p:spPr>
          <a:xfrm>
            <a:off x="731520" y="777240"/>
            <a:ext cx="10728655" cy="594360"/>
          </a:xfrm>
          <a:prstGeom prst="rect">
            <a:avLst/>
          </a:prstGeom>
          <a:noFill/>
        </p:spPr>
        <p:txBody>
          <a:bodyPr wrap="square" lIns="0" tIns="0" rIns="0" bIns="0">
            <a:spAutoFit/>
          </a:bodyPr>
          <a:lstStyle/>
          <a:p>
            <a:pPr>
              <a:defRPr sz="2400" b="1">
                <a:solidFill>
                  <a:srgbClr val="F8FAFC"/>
                </a:solidFill>
                <a:latin typeface="Calibri"/>
              </a:defRPr>
            </a:pPr>
            <a:r>
              <a:t>Clarifying Mathematical Dimension Reduction vs. File Size</a:t>
            </a:r>
          </a:p>
        </p:txBody>
      </p:sp>
      <p:sp>
        <p:nvSpPr>
          <p:cNvPr id="6" name="TextBox 5"/>
          <p:cNvSpPr txBox="1"/>
          <p:nvPr/>
        </p:nvSpPr>
        <p:spPr>
          <a:xfrm>
            <a:off x="731520" y="1353312"/>
            <a:ext cx="10728655" cy="320040"/>
          </a:xfrm>
          <a:prstGeom prst="rect">
            <a:avLst/>
          </a:prstGeom>
          <a:noFill/>
        </p:spPr>
        <p:txBody>
          <a:bodyPr wrap="square" lIns="0" tIns="0" rIns="0" bIns="0">
            <a:spAutoFit/>
          </a:bodyPr>
          <a:lstStyle/>
          <a:p>
            <a:pPr>
              <a:defRPr sz="1200">
                <a:solidFill>
                  <a:srgbClr val="9CABC2"/>
                </a:solidFill>
                <a:latin typeface="Calibri"/>
              </a:defRPr>
            </a:pPr>
            <a:r>
              <a:t>Distinguishing coordinate subspace reduction from binary storage codecs.</a:t>
            </a:r>
          </a:p>
        </p:txBody>
      </p:sp>
      <p:sp>
        <p:nvSpPr>
          <p:cNvPr id="7" name="Rounded Rectangle 6"/>
          <p:cNvSpPr/>
          <p:nvPr/>
        </p:nvSpPr>
        <p:spPr>
          <a:xfrm>
            <a:off x="731520" y="1737360"/>
            <a:ext cx="5120640" cy="4480560"/>
          </a:xfrm>
          <a:prstGeom prst="roundRect">
            <a:avLst/>
          </a:prstGeom>
          <a:solidFill>
            <a:srgbClr val="101C32"/>
          </a:solidFill>
          <a:ln w="15240">
            <a:solidFill>
              <a:srgbClr val="2438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60120" y="1901952"/>
            <a:ext cx="4663440" cy="4151376"/>
          </a:xfrm>
          <a:prstGeom prst="rect">
            <a:avLst/>
          </a:prstGeom>
          <a:noFill/>
        </p:spPr>
        <p:txBody>
          <a:bodyPr wrap="square" lIns="0" tIns="0" rIns="0" bIns="0">
            <a:spAutoFit/>
          </a:bodyPr>
          <a:lstStyle/>
          <a:p>
            <a:pPr>
              <a:spcAft>
                <a:spcPts val="800"/>
              </a:spcAft>
              <a:defRPr sz="1300" b="1">
                <a:solidFill>
                  <a:srgbClr val="38BDF8"/>
                </a:solidFill>
                <a:latin typeface="Calibri"/>
              </a:defRPr>
            </a:pPr>
            <a:r>
              <a:t>Component-Count Reduction (Subspace Dimension)</a:t>
            </a:r>
          </a:p>
          <a:p>
            <a:pPr>
              <a:spcAft>
                <a:spcPts val="500"/>
              </a:spcAft>
              <a:defRPr sz="1000">
                <a:solidFill>
                  <a:srgbClr val="E2E8F0"/>
                </a:solidFill>
                <a:latin typeface="Calibri"/>
              </a:defRPr>
            </a:pPr>
            <a:r>
              <a:t>•  What Selecting k=16 Out of 64 Actually Achieves:</a:t>
            </a:r>
          </a:p>
          <a:p>
            <a:pPr>
              <a:spcAft>
                <a:spcPts val="500"/>
              </a:spcAft>
              <a:defRPr sz="1000">
                <a:solidFill>
                  <a:srgbClr val="E2E8F0"/>
                </a:solidFill>
                <a:latin typeface="Calibri"/>
              </a:defRPr>
            </a:pPr>
            <a:r>
              <a:t>•  • Original Basis Dimension: 64 orthonormal coordinate axes.</a:t>
            </a:r>
          </a:p>
          <a:p>
            <a:pPr>
              <a:spcAft>
                <a:spcPts val="500"/>
              </a:spcAft>
              <a:defRPr sz="1000">
                <a:solidFill>
                  <a:srgbClr val="E2E8F0"/>
                </a:solidFill>
                <a:latin typeface="Calibri"/>
              </a:defRPr>
            </a:pPr>
            <a:r>
              <a:t>•  • Truncated Basis Dimension: 16 orthonormal coordinate axes.</a:t>
            </a:r>
          </a:p>
          <a:p>
            <a:pPr>
              <a:spcAft>
                <a:spcPts val="500"/>
              </a:spcAft>
              <a:defRPr sz="1000">
                <a:solidFill>
                  <a:srgbClr val="E2E8F0"/>
                </a:solidFill>
                <a:latin typeface="Calibri"/>
              </a:defRPr>
            </a:pPr>
            <a:r>
              <a:t>•  • Mathematical Reduction Ratio: 16 / 64 = 25% basis retained (75% dimensionality reduction).</a:t>
            </a:r>
          </a:p>
          <a:p>
            <a:pPr>
              <a:spcAft>
                <a:spcPts val="500"/>
              </a:spcAft>
              <a:defRPr sz="1000">
                <a:solidFill>
                  <a:srgbClr val="E2E8F0"/>
                </a:solidFill>
                <a:latin typeface="Calibri"/>
              </a:defRPr>
            </a:pPr>
            <a:r>
              <a:t>•  • Subspace Projection: Each row vector is compressed from R^{64} to R^{16}.</a:t>
            </a:r>
          </a:p>
          <a:p>
            <a:pPr>
              <a:spcAft>
                <a:spcPts val="500"/>
              </a:spcAft>
              <a:defRPr sz="1000">
                <a:solidFill>
                  <a:srgbClr val="E2E8F0"/>
                </a:solidFill>
                <a:latin typeface="Calibri"/>
              </a:defRPr>
            </a:pPr>
            <a:r>
              <a:t>•  </a:t>
            </a:r>
            <a:br/>
            <a:r>
              <a:t>Matrix Parameter Accounting for a Single Image:</a:t>
            </a:r>
          </a:p>
          <a:p>
            <a:pPr>
              <a:spcAft>
                <a:spcPts val="500"/>
              </a:spcAft>
              <a:defRPr sz="1000">
                <a:solidFill>
                  <a:srgbClr val="E2E8F0"/>
                </a:solidFill>
                <a:latin typeface="Calibri"/>
              </a:defRPr>
            </a:pPr>
            <a:r>
              <a:t>•  • Original Matrix A: m x n = 64 x 64 = 4,096 floating-point values.</a:t>
            </a:r>
          </a:p>
          <a:p>
            <a:pPr>
              <a:spcAft>
                <a:spcPts val="500"/>
              </a:spcAft>
              <a:defRPr sz="1000">
                <a:solidFill>
                  <a:srgbClr val="E2E8F0"/>
                </a:solidFill>
                <a:latin typeface="Calibri"/>
              </a:defRPr>
            </a:pPr>
            <a:r>
              <a:t>•  • Stored Projection Matrix Z: m x k = 64 x 16 = 1,024 float values.</a:t>
            </a:r>
          </a:p>
          <a:p>
            <a:pPr>
              <a:spcAft>
                <a:spcPts val="500"/>
              </a:spcAft>
              <a:defRPr sz="1000">
                <a:solidFill>
                  <a:srgbClr val="E2E8F0"/>
                </a:solidFill>
                <a:latin typeface="Calibri"/>
              </a:defRPr>
            </a:pPr>
            <a:r>
              <a:t>•  • Stored Eigenvector Basis V_k: n x k = 64 x 16 = 1,024 float values.</a:t>
            </a:r>
          </a:p>
          <a:p>
            <a:pPr>
              <a:spcAft>
                <a:spcPts val="500"/>
              </a:spcAft>
              <a:defRPr sz="1000">
                <a:solidFill>
                  <a:srgbClr val="E2E8F0"/>
                </a:solidFill>
                <a:latin typeface="Calibri"/>
              </a:defRPr>
            </a:pPr>
            <a:r>
              <a:t>•  • Total Stored Parameters: 1,024 + 1,024 = 2,048 values.</a:t>
            </a:r>
          </a:p>
          <a:p>
            <a:pPr>
              <a:spcAft>
                <a:spcPts val="500"/>
              </a:spcAft>
              <a:defRPr sz="1000">
                <a:solidFill>
                  <a:srgbClr val="E2E8F0"/>
                </a:solidFill>
                <a:latin typeface="Calibri"/>
              </a:defRPr>
            </a:pPr>
            <a:r>
              <a:t>•  • Net Parameter Reduction: (4,096 - 2,048) / 4,096 = 50.0% parameter reduction for an isolated image.</a:t>
            </a:r>
          </a:p>
        </p:txBody>
      </p:sp>
      <p:sp>
        <p:nvSpPr>
          <p:cNvPr id="9" name="Rounded Rectangle 8"/>
          <p:cNvSpPr/>
          <p:nvPr/>
        </p:nvSpPr>
        <p:spPr>
          <a:xfrm>
            <a:off x="6309360" y="1737360"/>
            <a:ext cx="5120640" cy="4480560"/>
          </a:xfrm>
          <a:prstGeom prst="roundRect">
            <a:avLst/>
          </a:prstGeom>
          <a:solidFill>
            <a:srgbClr val="101C32"/>
          </a:solidFill>
          <a:ln w="15240">
            <a:solidFill>
              <a:srgbClr val="2438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537960" y="1901952"/>
            <a:ext cx="4663440" cy="4151376"/>
          </a:xfrm>
          <a:prstGeom prst="rect">
            <a:avLst/>
          </a:prstGeom>
          <a:noFill/>
        </p:spPr>
        <p:txBody>
          <a:bodyPr wrap="square" lIns="0" tIns="0" rIns="0" bIns="0">
            <a:spAutoFit/>
          </a:bodyPr>
          <a:lstStyle/>
          <a:p>
            <a:pPr>
              <a:spcAft>
                <a:spcPts val="800"/>
              </a:spcAft>
              <a:defRPr sz="1300" b="1">
                <a:solidFill>
                  <a:srgbClr val="D4AF37"/>
                </a:solidFill>
                <a:latin typeface="Calibri"/>
              </a:defRPr>
            </a:pPr>
            <a:r>
              <a:t>Why File Size != 75% File Compression</a:t>
            </a:r>
          </a:p>
          <a:p>
            <a:pPr>
              <a:spcAft>
                <a:spcPts val="500"/>
              </a:spcAft>
              <a:defRPr sz="1000">
                <a:solidFill>
                  <a:srgbClr val="E2E8F0"/>
                </a:solidFill>
                <a:latin typeface="Calibri"/>
              </a:defRPr>
            </a:pPr>
            <a:r>
              <a:t>•  Critical Academic Distinction for Faculty Review:</a:t>
            </a:r>
          </a:p>
          <a:p>
            <a:pPr>
              <a:spcAft>
                <a:spcPts val="500"/>
              </a:spcAft>
              <a:defRPr sz="1000">
                <a:solidFill>
                  <a:srgbClr val="E2E8F0"/>
                </a:solidFill>
                <a:latin typeface="Calibri"/>
              </a:defRPr>
            </a:pPr>
            <a:r>
              <a:t>•  1. Basis Overhead for Single Image:</a:t>
            </a:r>
          </a:p>
          <a:p>
            <a:pPr>
              <a:spcAft>
                <a:spcPts val="500"/>
              </a:spcAft>
              <a:defRPr sz="1000">
                <a:solidFill>
                  <a:srgbClr val="E2E8F0"/>
                </a:solidFill>
                <a:latin typeface="Calibri"/>
              </a:defRPr>
            </a:pPr>
            <a:r>
              <a:t>•  To reconstruct A, the decoder must know BOTH projection Z and basis V_k. The basis overhead consumes 1,024 values, capping single-image savings at 50%.</a:t>
            </a:r>
          </a:p>
          <a:p>
            <a:pPr>
              <a:spcAft>
                <a:spcPts val="500"/>
              </a:spcAft>
              <a:defRPr sz="1000">
                <a:solidFill>
                  <a:srgbClr val="E2E8F0"/>
                </a:solidFill>
                <a:latin typeface="Calibri"/>
              </a:defRPr>
            </a:pPr>
            <a:r>
              <a:t>•  </a:t>
            </a:r>
            <a:br/>
            <a:r>
              <a:t>2. Amortization Across Image Datasets (e.g. Eigenfaces):</a:t>
            </a:r>
          </a:p>
          <a:p>
            <a:pPr>
              <a:spcAft>
                <a:spcPts val="500"/>
              </a:spcAft>
              <a:defRPr sz="1000">
                <a:solidFill>
                  <a:srgbClr val="E2E8F0"/>
                </a:solidFill>
                <a:latin typeface="Calibri"/>
              </a:defRPr>
            </a:pPr>
            <a:r>
              <a:t>•  When an eigen-basis is computed across a large corpus of N images (e.g., N = 1,000 faces):</a:t>
            </a:r>
          </a:p>
          <a:p>
            <a:pPr>
              <a:spcAft>
                <a:spcPts val="500"/>
              </a:spcAft>
              <a:defRPr sz="1000">
                <a:solidFill>
                  <a:srgbClr val="E2E8F0"/>
                </a:solidFill>
                <a:latin typeface="Calibri"/>
              </a:defRPr>
            </a:pPr>
            <a:r>
              <a:t>•         Total Data = (N x 1,024) + 1,024 (shared basis)</a:t>
            </a:r>
          </a:p>
          <a:p>
            <a:pPr>
              <a:spcAft>
                <a:spcPts val="500"/>
              </a:spcAft>
              <a:defRPr sz="1000">
                <a:solidFill>
                  <a:srgbClr val="E2E8F0"/>
                </a:solidFill>
                <a:latin typeface="Calibri"/>
              </a:defRPr>
            </a:pPr>
            <a:r>
              <a:t>•         Savings as N -&gt; infty approaches the full 75.0%!</a:t>
            </a:r>
          </a:p>
          <a:p>
            <a:pPr>
              <a:spcAft>
                <a:spcPts val="500"/>
              </a:spcAft>
              <a:defRPr sz="1000">
                <a:solidFill>
                  <a:srgbClr val="E2E8F0"/>
                </a:solidFill>
                <a:latin typeface="Calibri"/>
              </a:defRPr>
            </a:pPr>
            <a:r>
              <a:t>•  </a:t>
            </a:r>
            <a:br/>
            <a:r>
              <a:t>3. True File Compression Requires Entropy Coding:</a:t>
            </a:r>
          </a:p>
          <a:p>
            <a:pPr>
              <a:spcAft>
                <a:spcPts val="500"/>
              </a:spcAft>
              <a:defRPr sz="1000">
                <a:solidFill>
                  <a:srgbClr val="E2E8F0"/>
                </a:solidFill>
                <a:latin typeface="Calibri"/>
              </a:defRPr>
            </a:pPr>
            <a:r>
              <a:t>•  Floating-point values (float64) consume 8 bytes each. Modern codecs (JPEG, WebP) apply uniform quantization, run-length encoding, and Huffman/arithmetic coding to achieve file-size compression.</a:t>
            </a:r>
          </a:p>
          <a:p>
            <a:pPr>
              <a:spcAft>
                <a:spcPts val="500"/>
              </a:spcAft>
              <a:defRPr sz="1000">
                <a:solidFill>
                  <a:srgbClr val="E2E8F0"/>
                </a:solidFill>
                <a:latin typeface="Calibri"/>
              </a:defRPr>
            </a:pPr>
            <a:r>
              <a:t>•  EigenLab is a linear-algebraic dimensionality reduction tool, not an entropy codec.</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1221"/>
          </a:solidFill>
          <a:ln>
            <a:solidFill>
              <a:srgbClr val="0A122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411480"/>
            <a:ext cx="10728655" cy="27432"/>
          </a:xfrm>
          <a:prstGeom prst="rect">
            <a:avLst/>
          </a:prstGeom>
          <a:solidFill>
            <a:srgbClr val="D4AF37"/>
          </a:solidFill>
          <a:ln>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502920"/>
            <a:ext cx="10728655" cy="274320"/>
          </a:xfrm>
          <a:prstGeom prst="rect">
            <a:avLst/>
          </a:prstGeom>
          <a:noFill/>
        </p:spPr>
        <p:txBody>
          <a:bodyPr wrap="square" lIns="0" tIns="0" rIns="0" bIns="0">
            <a:spAutoFit/>
          </a:bodyPr>
          <a:lstStyle/>
          <a:p>
            <a:pPr>
              <a:defRPr sz="1000" b="1">
                <a:solidFill>
                  <a:srgbClr val="D4AF37"/>
                </a:solidFill>
                <a:latin typeface="Calibri"/>
              </a:defRPr>
            </a:pPr>
            <a:r>
              <a:t>RECONSTRUCTION &amp; ECKART-YOUNG OPTIMALITY   |   SLIDE 13 OF 17</a:t>
            </a:r>
          </a:p>
        </p:txBody>
      </p:sp>
      <p:sp>
        <p:nvSpPr>
          <p:cNvPr id="5" name="TextBox 4"/>
          <p:cNvSpPr txBox="1"/>
          <p:nvPr/>
        </p:nvSpPr>
        <p:spPr>
          <a:xfrm>
            <a:off x="731520" y="777240"/>
            <a:ext cx="10728655" cy="594360"/>
          </a:xfrm>
          <a:prstGeom prst="rect">
            <a:avLst/>
          </a:prstGeom>
          <a:noFill/>
        </p:spPr>
        <p:txBody>
          <a:bodyPr wrap="square" lIns="0" tIns="0" rIns="0" bIns="0">
            <a:spAutoFit/>
          </a:bodyPr>
          <a:lstStyle/>
          <a:p>
            <a:pPr>
              <a:defRPr sz="2400" b="1">
                <a:solidFill>
                  <a:srgbClr val="F8FAFC"/>
                </a:solidFill>
                <a:latin typeface="Calibri"/>
              </a:defRPr>
            </a:pPr>
            <a:r>
              <a:t>Mathematical Synthesis and Proof of Low-Rank Optimality</a:t>
            </a:r>
          </a:p>
        </p:txBody>
      </p:sp>
      <p:sp>
        <p:nvSpPr>
          <p:cNvPr id="6" name="TextBox 5"/>
          <p:cNvSpPr txBox="1"/>
          <p:nvPr/>
        </p:nvSpPr>
        <p:spPr>
          <a:xfrm>
            <a:off x="731520" y="1353312"/>
            <a:ext cx="10728655" cy="320040"/>
          </a:xfrm>
          <a:prstGeom prst="rect">
            <a:avLst/>
          </a:prstGeom>
          <a:noFill/>
        </p:spPr>
        <p:txBody>
          <a:bodyPr wrap="square" lIns="0" tIns="0" rIns="0" bIns="0">
            <a:spAutoFit/>
          </a:bodyPr>
          <a:lstStyle/>
          <a:p>
            <a:pPr>
              <a:defRPr sz="1200">
                <a:solidFill>
                  <a:srgbClr val="9CABC2"/>
                </a:solidFill>
                <a:latin typeface="Calibri"/>
              </a:defRPr>
            </a:pPr>
            <a:r>
              <a:t>Formulating projection, reconstruction, and the conditions of the Eckart-Young-Mirsky Theorem.</a:t>
            </a:r>
          </a:p>
        </p:txBody>
      </p:sp>
      <p:sp>
        <p:nvSpPr>
          <p:cNvPr id="7" name="Rounded Rectangle 6"/>
          <p:cNvSpPr/>
          <p:nvPr/>
        </p:nvSpPr>
        <p:spPr>
          <a:xfrm>
            <a:off x="731520" y="1737360"/>
            <a:ext cx="5120640" cy="4480560"/>
          </a:xfrm>
          <a:prstGeom prst="roundRect">
            <a:avLst/>
          </a:prstGeom>
          <a:solidFill>
            <a:srgbClr val="101C32"/>
          </a:solidFill>
          <a:ln w="15240">
            <a:solidFill>
              <a:srgbClr val="2438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60120" y="1901952"/>
            <a:ext cx="4663440" cy="4151376"/>
          </a:xfrm>
          <a:prstGeom prst="rect">
            <a:avLst/>
          </a:prstGeom>
          <a:noFill/>
        </p:spPr>
        <p:txBody>
          <a:bodyPr wrap="square" lIns="0" tIns="0" rIns="0" bIns="0">
            <a:spAutoFit/>
          </a:bodyPr>
          <a:lstStyle/>
          <a:p>
            <a:pPr>
              <a:spcAft>
                <a:spcPts val="800"/>
              </a:spcAft>
              <a:defRPr sz="1300" b="1">
                <a:solidFill>
                  <a:srgbClr val="38BDF8"/>
                </a:solidFill>
                <a:latin typeface="Calibri"/>
              </a:defRPr>
            </a:pPr>
            <a:r>
              <a:t>Projection and Reconstruction Formulation</a:t>
            </a:r>
          </a:p>
          <a:p>
            <a:pPr>
              <a:spcAft>
                <a:spcPts val="500"/>
              </a:spcAft>
              <a:defRPr sz="1000">
                <a:solidFill>
                  <a:srgbClr val="E2E8F0"/>
                </a:solidFill>
                <a:latin typeface="Calibri"/>
              </a:defRPr>
            </a:pPr>
            <a:r>
              <a:t>•  1. Subspace Projection (Encoding):</a:t>
            </a:r>
          </a:p>
          <a:p>
            <a:pPr>
              <a:spcAft>
                <a:spcPts val="500"/>
              </a:spcAft>
              <a:defRPr sz="1000">
                <a:solidFill>
                  <a:srgbClr val="E2E8F0"/>
                </a:solidFill>
                <a:latin typeface="Calibri"/>
              </a:defRPr>
            </a:pPr>
            <a:r>
              <a:t>•         Z = A V_k   in R^{m x k}</a:t>
            </a:r>
          </a:p>
          <a:p>
            <a:pPr>
              <a:spcAft>
                <a:spcPts val="500"/>
              </a:spcAft>
              <a:defRPr sz="1000">
                <a:solidFill>
                  <a:srgbClr val="E2E8F0"/>
                </a:solidFill>
                <a:latin typeface="Calibri"/>
              </a:defRPr>
            </a:pPr>
            <a:r>
              <a:t>•  Where A in R^{64 x 64} and V_k = [v_1, ..., v_k] in R^{64 x k}.</a:t>
            </a:r>
          </a:p>
          <a:p>
            <a:pPr>
              <a:spcAft>
                <a:spcPts val="500"/>
              </a:spcAft>
              <a:defRPr sz="1000">
                <a:solidFill>
                  <a:srgbClr val="E2E8F0"/>
                </a:solidFill>
                <a:latin typeface="Calibri"/>
              </a:defRPr>
            </a:pPr>
            <a:r>
              <a:t>•  Each row of Z represents the coordinates of the image row under basis V_k.</a:t>
            </a:r>
          </a:p>
          <a:p>
            <a:pPr>
              <a:spcAft>
                <a:spcPts val="500"/>
              </a:spcAft>
              <a:defRPr sz="1000">
                <a:solidFill>
                  <a:srgbClr val="E2E8F0"/>
                </a:solidFill>
                <a:latin typeface="Calibri"/>
              </a:defRPr>
            </a:pPr>
            <a:r>
              <a:t>•  </a:t>
            </a:r>
            <a:br/>
            <a:r>
              <a:t>2. Subspace Reconstruction (Decoding):</a:t>
            </a:r>
          </a:p>
          <a:p>
            <a:pPr>
              <a:spcAft>
                <a:spcPts val="500"/>
              </a:spcAft>
              <a:defRPr sz="1000">
                <a:solidFill>
                  <a:srgbClr val="E2E8F0"/>
                </a:solidFill>
                <a:latin typeface="Calibri"/>
              </a:defRPr>
            </a:pPr>
            <a:r>
              <a:t>•         A_hat_k = Z V_k^T = A V_k V_k^T   in R^{m x n}</a:t>
            </a:r>
          </a:p>
          <a:p>
            <a:pPr>
              <a:spcAft>
                <a:spcPts val="500"/>
              </a:spcAft>
              <a:defRPr sz="1000">
                <a:solidFill>
                  <a:srgbClr val="E2E8F0"/>
                </a:solidFill>
                <a:latin typeface="Calibri"/>
              </a:defRPr>
            </a:pPr>
            <a:r>
              <a:t>•  The matrix P_k = V_k V_k^T is an orthogonal projection matrix in R^{64 x 64}:</a:t>
            </a:r>
          </a:p>
          <a:p>
            <a:pPr>
              <a:spcAft>
                <a:spcPts val="500"/>
              </a:spcAft>
              <a:defRPr sz="1000">
                <a:solidFill>
                  <a:srgbClr val="E2E8F0"/>
                </a:solidFill>
                <a:latin typeface="Calibri"/>
              </a:defRPr>
            </a:pPr>
            <a:r>
              <a:t>•         P_k^2 = (V_k V_k^T)(V_k V_k^T) = V_k (V_k^T V_k) V_k^T = V_k I_k V_k^T = P_k</a:t>
            </a:r>
          </a:p>
          <a:p>
            <a:pPr>
              <a:spcAft>
                <a:spcPts val="500"/>
              </a:spcAft>
              <a:defRPr sz="1000">
                <a:solidFill>
                  <a:srgbClr val="E2E8F0"/>
                </a:solidFill>
                <a:latin typeface="Calibri"/>
              </a:defRPr>
            </a:pPr>
            <a:r>
              <a:t>•         P_k^T = P_k</a:t>
            </a:r>
          </a:p>
          <a:p>
            <a:pPr>
              <a:spcAft>
                <a:spcPts val="500"/>
              </a:spcAft>
              <a:defRPr sz="1000">
                <a:solidFill>
                  <a:srgbClr val="E2E8F0"/>
                </a:solidFill>
                <a:latin typeface="Calibri"/>
              </a:defRPr>
            </a:pPr>
            <a:r>
              <a:t>•  P_k projects every row vector of A orthogonally onto the k-dimensional subspace spanned by {v_1, ..., v_k}.</a:t>
            </a:r>
          </a:p>
        </p:txBody>
      </p:sp>
      <p:sp>
        <p:nvSpPr>
          <p:cNvPr id="9" name="Rounded Rectangle 8"/>
          <p:cNvSpPr/>
          <p:nvPr/>
        </p:nvSpPr>
        <p:spPr>
          <a:xfrm>
            <a:off x="6309360" y="1737360"/>
            <a:ext cx="5120640" cy="4480560"/>
          </a:xfrm>
          <a:prstGeom prst="roundRect">
            <a:avLst/>
          </a:prstGeom>
          <a:solidFill>
            <a:srgbClr val="101C32"/>
          </a:solidFill>
          <a:ln w="15240">
            <a:solidFill>
              <a:srgbClr val="2438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537960" y="1901952"/>
            <a:ext cx="4663440" cy="4151376"/>
          </a:xfrm>
          <a:prstGeom prst="rect">
            <a:avLst/>
          </a:prstGeom>
          <a:noFill/>
        </p:spPr>
        <p:txBody>
          <a:bodyPr wrap="square" lIns="0" tIns="0" rIns="0" bIns="0">
            <a:spAutoFit/>
          </a:bodyPr>
          <a:lstStyle/>
          <a:p>
            <a:pPr>
              <a:spcAft>
                <a:spcPts val="800"/>
              </a:spcAft>
              <a:defRPr sz="1300" b="1">
                <a:solidFill>
                  <a:srgbClr val="D4AF37"/>
                </a:solidFill>
                <a:latin typeface="Calibri"/>
              </a:defRPr>
            </a:pPr>
            <a:r>
              <a:t>The Eckart-Young-Mirsky Theorem (1936)</a:t>
            </a:r>
          </a:p>
          <a:p>
            <a:pPr>
              <a:spcAft>
                <a:spcPts val="500"/>
              </a:spcAft>
              <a:defRPr sz="1000">
                <a:solidFill>
                  <a:srgbClr val="E2E8F0"/>
                </a:solidFill>
                <a:latin typeface="Calibri"/>
              </a:defRPr>
            </a:pPr>
            <a:r>
              <a:t>•  Theorem Statement (Frobenius &amp; Spectral Norms):</a:t>
            </a:r>
          </a:p>
          <a:p>
            <a:pPr>
              <a:spcAft>
                <a:spcPts val="500"/>
              </a:spcAft>
              <a:defRPr sz="1000">
                <a:solidFill>
                  <a:srgbClr val="E2E8F0"/>
                </a:solidFill>
                <a:latin typeface="Calibri"/>
              </a:defRPr>
            </a:pPr>
            <a:r>
              <a:t>•  Let A in R^{m x n} have singular values sigma_1 &gt;= sigma_2 &gt;= ... &gt;= sigma_r &gt; 0.</a:t>
            </a:r>
          </a:p>
          <a:p>
            <a:pPr>
              <a:spcAft>
                <a:spcPts val="500"/>
              </a:spcAft>
              <a:defRPr sz="1000">
                <a:solidFill>
                  <a:srgbClr val="E2E8F0"/>
                </a:solidFill>
                <a:latin typeface="Calibri"/>
              </a:defRPr>
            </a:pPr>
            <a:r>
              <a:t>•  For any integer k &lt; r, the truncated approximation A_hat_k = sum_{i=1}^k sigma_i u_i v_i^T satisfies:</a:t>
            </a:r>
          </a:p>
          <a:p>
            <a:pPr>
              <a:spcAft>
                <a:spcPts val="500"/>
              </a:spcAft>
              <a:defRPr sz="1000">
                <a:solidFill>
                  <a:srgbClr val="E2E8F0"/>
                </a:solidFill>
                <a:latin typeface="Calibri"/>
              </a:defRPr>
            </a:pPr>
            <a:r>
              <a:t>•         min_{rank(B) &lt;= k} ||A - B||_F = ||A - A_hat_k||_F = sqrt( sum_{i=k+1}^r sigma_i^2 )</a:t>
            </a:r>
          </a:p>
          <a:p>
            <a:pPr>
              <a:spcAft>
                <a:spcPts val="500"/>
              </a:spcAft>
              <a:defRPr sz="1000">
                <a:solidFill>
                  <a:srgbClr val="E2E8F0"/>
                </a:solidFill>
                <a:latin typeface="Calibri"/>
              </a:defRPr>
            </a:pPr>
            <a:r>
              <a:t>•  </a:t>
            </a:r>
            <a:br/>
            <a:r>
              <a:t>Why Our Implementation Strictly Satisfies Eckart-Young:</a:t>
            </a:r>
          </a:p>
          <a:p>
            <a:pPr>
              <a:spcAft>
                <a:spcPts val="500"/>
              </a:spcAft>
              <a:defRPr sz="1000">
                <a:solidFill>
                  <a:srgbClr val="E2E8F0"/>
                </a:solidFill>
                <a:latin typeface="Calibri"/>
              </a:defRPr>
            </a:pPr>
            <a:r>
              <a:t>•  • We proved on Slide 9 that eigenvectors of A^T A are the right singular vectors V of A, and lambda_i = sigma_i^2.</a:t>
            </a:r>
          </a:p>
          <a:p>
            <a:pPr>
              <a:spcAft>
                <a:spcPts val="500"/>
              </a:spcAft>
              <a:defRPr sz="1000">
                <a:solidFill>
                  <a:srgbClr val="E2E8F0"/>
                </a:solidFill>
                <a:latin typeface="Calibri"/>
              </a:defRPr>
            </a:pPr>
            <a:r>
              <a:t>•  • Because A_hat_k = A V_k V_k^T = (U Sigma V^T) V_k V_k^T = U_k Sigma_k V_k^T.</a:t>
            </a:r>
          </a:p>
          <a:p>
            <a:pPr>
              <a:spcAft>
                <a:spcPts val="500"/>
              </a:spcAft>
              <a:defRPr sz="1000">
                <a:solidFill>
                  <a:srgbClr val="E2E8F0"/>
                </a:solidFill>
                <a:latin typeface="Calibri"/>
              </a:defRPr>
            </a:pPr>
            <a:r>
              <a:t>•  • Thus, our reconstruction IS the exact truncated SVD rank-k approximation!</a:t>
            </a:r>
          </a:p>
          <a:p>
            <a:pPr>
              <a:spcAft>
                <a:spcPts val="500"/>
              </a:spcAft>
              <a:defRPr sz="1000">
                <a:solidFill>
                  <a:srgbClr val="E2E8F0"/>
                </a:solidFill>
                <a:latin typeface="Calibri"/>
              </a:defRPr>
            </a:pPr>
            <a:r>
              <a:t>•  • Therefore, Eckart-Young guarantees that NO OTHER rank-k matrix in the entire universe can achieve a lower Frobenius error than A_hat_k.</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1221"/>
          </a:solidFill>
          <a:ln>
            <a:solidFill>
              <a:srgbClr val="0A122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411480"/>
            <a:ext cx="10728655" cy="27432"/>
          </a:xfrm>
          <a:prstGeom prst="rect">
            <a:avLst/>
          </a:prstGeom>
          <a:solidFill>
            <a:srgbClr val="D4AF37"/>
          </a:solidFill>
          <a:ln>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502920"/>
            <a:ext cx="10728655" cy="274320"/>
          </a:xfrm>
          <a:prstGeom prst="rect">
            <a:avLst/>
          </a:prstGeom>
          <a:noFill/>
        </p:spPr>
        <p:txBody>
          <a:bodyPr wrap="square" lIns="0" tIns="0" rIns="0" bIns="0">
            <a:spAutoFit/>
          </a:bodyPr>
          <a:lstStyle/>
          <a:p>
            <a:pPr>
              <a:defRPr sz="1000" b="1">
                <a:solidFill>
                  <a:srgbClr val="D4AF37"/>
                </a:solidFill>
                <a:latin typeface="Calibri"/>
              </a:defRPr>
            </a:pPr>
            <a:r>
              <a:t>SYSTEM IMPLEMENTATION &amp; WEB ARCHITECTURE   |   SLIDE 14 OF 17</a:t>
            </a:r>
          </a:p>
        </p:txBody>
      </p:sp>
      <p:sp>
        <p:nvSpPr>
          <p:cNvPr id="5" name="TextBox 4"/>
          <p:cNvSpPr txBox="1"/>
          <p:nvPr/>
        </p:nvSpPr>
        <p:spPr>
          <a:xfrm>
            <a:off x="731520" y="777240"/>
            <a:ext cx="10728655" cy="594360"/>
          </a:xfrm>
          <a:prstGeom prst="rect">
            <a:avLst/>
          </a:prstGeom>
          <a:noFill/>
        </p:spPr>
        <p:txBody>
          <a:bodyPr wrap="square" lIns="0" tIns="0" rIns="0" bIns="0">
            <a:spAutoFit/>
          </a:bodyPr>
          <a:lstStyle/>
          <a:p>
            <a:pPr>
              <a:defRPr sz="2400" b="1">
                <a:solidFill>
                  <a:srgbClr val="F8FAFC"/>
                </a:solidFill>
                <a:latin typeface="Calibri"/>
              </a:defRPr>
            </a:pPr>
            <a:r>
              <a:t>Full-Stack Python, Django, and NumPy Integration</a:t>
            </a:r>
          </a:p>
        </p:txBody>
      </p:sp>
      <p:sp>
        <p:nvSpPr>
          <p:cNvPr id="6" name="TextBox 5"/>
          <p:cNvSpPr txBox="1"/>
          <p:nvPr/>
        </p:nvSpPr>
        <p:spPr>
          <a:xfrm>
            <a:off x="731520" y="1353312"/>
            <a:ext cx="10728655" cy="320040"/>
          </a:xfrm>
          <a:prstGeom prst="rect">
            <a:avLst/>
          </a:prstGeom>
          <a:noFill/>
        </p:spPr>
        <p:txBody>
          <a:bodyPr wrap="square" lIns="0" tIns="0" rIns="0" bIns="0">
            <a:spAutoFit/>
          </a:bodyPr>
          <a:lstStyle/>
          <a:p>
            <a:pPr>
              <a:defRPr sz="1200">
                <a:solidFill>
                  <a:srgbClr val="9CABC2"/>
                </a:solidFill>
                <a:latin typeface="Calibri"/>
              </a:defRPr>
            </a:pPr>
            <a:r>
              <a:t>Detailed technical design of the backend services, numerical pipeline, and user interface.</a:t>
            </a:r>
          </a:p>
        </p:txBody>
      </p:sp>
      <p:sp>
        <p:nvSpPr>
          <p:cNvPr id="7" name="Rounded Rectangle 6"/>
          <p:cNvSpPr/>
          <p:nvPr/>
        </p:nvSpPr>
        <p:spPr>
          <a:xfrm>
            <a:off x="731520" y="1737360"/>
            <a:ext cx="5120640" cy="4480560"/>
          </a:xfrm>
          <a:prstGeom prst="roundRect">
            <a:avLst/>
          </a:prstGeom>
          <a:solidFill>
            <a:srgbClr val="101C32"/>
          </a:solidFill>
          <a:ln w="15240">
            <a:solidFill>
              <a:srgbClr val="2438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60120" y="1901952"/>
            <a:ext cx="4663440" cy="4151376"/>
          </a:xfrm>
          <a:prstGeom prst="rect">
            <a:avLst/>
          </a:prstGeom>
          <a:noFill/>
        </p:spPr>
        <p:txBody>
          <a:bodyPr wrap="square" lIns="0" tIns="0" rIns="0" bIns="0">
            <a:spAutoFit/>
          </a:bodyPr>
          <a:lstStyle/>
          <a:p>
            <a:pPr>
              <a:spcAft>
                <a:spcPts val="800"/>
              </a:spcAft>
              <a:defRPr sz="1300" b="1">
                <a:solidFill>
                  <a:srgbClr val="38BDF8"/>
                </a:solidFill>
                <a:latin typeface="Calibri"/>
              </a:defRPr>
            </a:pPr>
            <a:r>
              <a:t>Backend Service Implementation</a:t>
            </a:r>
          </a:p>
          <a:p>
            <a:pPr>
              <a:spcAft>
                <a:spcPts val="500"/>
              </a:spcAft>
              <a:defRPr sz="1000">
                <a:solidFill>
                  <a:srgbClr val="E2E8F0"/>
                </a:solidFill>
                <a:latin typeface="Calibri"/>
              </a:defRPr>
            </a:pPr>
            <a:r>
              <a:t>•  Core Service File: analyzer/math_pipeline.py</a:t>
            </a:r>
          </a:p>
          <a:p>
            <a:pPr>
              <a:spcAft>
                <a:spcPts val="500"/>
              </a:spcAft>
              <a:defRPr sz="1000">
                <a:solidFill>
                  <a:srgbClr val="E2E8F0"/>
                </a:solidFill>
                <a:latin typeface="Calibri"/>
              </a:defRPr>
            </a:pPr>
            <a:r>
              <a:t>•  • Orchestrates the end-to-end analysis via analyze_image(path, k).</a:t>
            </a:r>
          </a:p>
          <a:p>
            <a:pPr>
              <a:spcAft>
                <a:spcPts val="500"/>
              </a:spcAft>
              <a:defRPr sz="1000">
                <a:solidFill>
                  <a:srgbClr val="E2E8F0"/>
                </a:solidFill>
                <a:latin typeface="Calibri"/>
              </a:defRPr>
            </a:pPr>
            <a:r>
              <a:t>•  • Computes numerical matrix rank using np.linalg.matrix_rank(A).</a:t>
            </a:r>
          </a:p>
          <a:p>
            <a:pPr>
              <a:spcAft>
                <a:spcPts val="500"/>
              </a:spcAft>
              <a:defRPr sz="1000">
                <a:solidFill>
                  <a:srgbClr val="E2E8F0"/>
                </a:solidFill>
                <a:latin typeface="Calibri"/>
              </a:defRPr>
            </a:pPr>
            <a:r>
              <a:t>•  • Extracts dominant eigenvalues and formats dynamic mathematical equations.</a:t>
            </a:r>
          </a:p>
          <a:p>
            <a:pPr>
              <a:spcAft>
                <a:spcPts val="500"/>
              </a:spcAft>
              <a:defRPr sz="1000">
                <a:solidFill>
                  <a:srgbClr val="E2E8F0"/>
                </a:solidFill>
                <a:latin typeface="Calibri"/>
              </a:defRPr>
            </a:pPr>
            <a:r>
              <a:t>•  </a:t>
            </a:r>
            <a:br/>
            <a:r>
              <a:t>Reconstruction &amp; Error Service: analyzer/reconstruction.py</a:t>
            </a:r>
          </a:p>
          <a:p>
            <a:pPr>
              <a:spcAft>
                <a:spcPts val="500"/>
              </a:spcAft>
              <a:defRPr sz="1000">
                <a:solidFill>
                  <a:srgbClr val="E2E8F0"/>
                </a:solidFill>
                <a:latin typeface="Calibri"/>
              </a:defRPr>
            </a:pPr>
            <a:r>
              <a:t>•  • compare_components() runs multi-rank evaluation across k in [1, 5, 10, 20, 32, 64].</a:t>
            </a:r>
          </a:p>
          <a:p>
            <a:pPr>
              <a:spcAft>
                <a:spcPts val="500"/>
              </a:spcAft>
              <a:defRPr sz="1000">
                <a:solidFill>
                  <a:srgbClr val="E2E8F0"/>
                </a:solidFill>
                <a:latin typeface="Calibri"/>
              </a:defRPr>
            </a:pPr>
            <a:r>
              <a:t>•  • calculate_frobenius_error() computes ||A - A_hat||_F.</a:t>
            </a:r>
          </a:p>
          <a:p>
            <a:pPr>
              <a:spcAft>
                <a:spcPts val="500"/>
              </a:spcAft>
              <a:defRPr sz="1000">
                <a:solidFill>
                  <a:srgbClr val="E2E8F0"/>
                </a:solidFill>
                <a:latin typeface="Calibri"/>
              </a:defRPr>
            </a:pPr>
            <a:r>
              <a:t>•  • calculate_relative_error() returns relative error percentage.</a:t>
            </a:r>
          </a:p>
          <a:p>
            <a:pPr>
              <a:spcAft>
                <a:spcPts val="500"/>
              </a:spcAft>
              <a:defRPr sz="1000">
                <a:solidFill>
                  <a:srgbClr val="E2E8F0"/>
                </a:solidFill>
                <a:latin typeface="Calibri"/>
              </a:defRPr>
            </a:pPr>
            <a:r>
              <a:t>•  </a:t>
            </a:r>
            <a:br/>
            <a:r>
              <a:t>Visualization Service: analyzer/visualization.py</a:t>
            </a:r>
          </a:p>
          <a:p>
            <a:pPr>
              <a:spcAft>
                <a:spcPts val="500"/>
              </a:spcAft>
              <a:defRPr sz="1000">
                <a:solidFill>
                  <a:srgbClr val="E2E8F0"/>
                </a:solidFill>
                <a:latin typeface="Calibri"/>
              </a:defRPr>
            </a:pPr>
            <a:r>
              <a:t>•  • Converts NumPy matrices to in-memory PNGs using BytesIO and base64.b64encode.</a:t>
            </a:r>
          </a:p>
          <a:p>
            <a:pPr>
              <a:spcAft>
                <a:spcPts val="500"/>
              </a:spcAft>
              <a:defRPr sz="1000">
                <a:solidFill>
                  <a:srgbClr val="E2E8F0"/>
                </a:solidFill>
                <a:latin typeface="Calibri"/>
              </a:defRPr>
            </a:pPr>
            <a:r>
              <a:t>•  • Returns data:image/png;base64,... strings for direct DOM rendering.</a:t>
            </a:r>
          </a:p>
        </p:txBody>
      </p:sp>
      <p:sp>
        <p:nvSpPr>
          <p:cNvPr id="9" name="Rounded Rectangle 8"/>
          <p:cNvSpPr/>
          <p:nvPr/>
        </p:nvSpPr>
        <p:spPr>
          <a:xfrm>
            <a:off x="6309360" y="1737360"/>
            <a:ext cx="5120640" cy="4480560"/>
          </a:xfrm>
          <a:prstGeom prst="roundRect">
            <a:avLst/>
          </a:prstGeom>
          <a:solidFill>
            <a:srgbClr val="101C32"/>
          </a:solidFill>
          <a:ln w="15240">
            <a:solidFill>
              <a:srgbClr val="2438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537960" y="1901952"/>
            <a:ext cx="4663440" cy="4151376"/>
          </a:xfrm>
          <a:prstGeom prst="rect">
            <a:avLst/>
          </a:prstGeom>
          <a:noFill/>
        </p:spPr>
        <p:txBody>
          <a:bodyPr wrap="square" lIns="0" tIns="0" rIns="0" bIns="0">
            <a:spAutoFit/>
          </a:bodyPr>
          <a:lstStyle/>
          <a:p>
            <a:pPr>
              <a:spcAft>
                <a:spcPts val="800"/>
              </a:spcAft>
              <a:defRPr sz="1300" b="1">
                <a:solidFill>
                  <a:srgbClr val="34D399"/>
                </a:solidFill>
                <a:latin typeface="Calibri"/>
              </a:defRPr>
            </a:pPr>
            <a:r>
              <a:t>Frontend &amp; Interactive User Interface</a:t>
            </a:r>
          </a:p>
          <a:p>
            <a:pPr>
              <a:spcAft>
                <a:spcPts val="500"/>
              </a:spcAft>
              <a:defRPr sz="1000">
                <a:solidFill>
                  <a:srgbClr val="E2E8F0"/>
                </a:solidFill>
                <a:latin typeface="Calibri"/>
              </a:defRPr>
            </a:pPr>
            <a:r>
              <a:t>•  Django MTV Template: analyzer/templates/analyzer/home.html</a:t>
            </a:r>
          </a:p>
          <a:p>
            <a:pPr>
              <a:spcAft>
                <a:spcPts val="500"/>
              </a:spcAft>
              <a:defRPr sz="1000">
                <a:solidFill>
                  <a:srgbClr val="E2E8F0"/>
                </a:solidFill>
                <a:latin typeface="Calibri"/>
              </a:defRPr>
            </a:pPr>
            <a:r>
              <a:t>•  • Responsive dark glassmorphic design system matching academic UI standards.</a:t>
            </a:r>
          </a:p>
          <a:p>
            <a:pPr>
              <a:spcAft>
                <a:spcPts val="500"/>
              </a:spcAft>
              <a:defRPr sz="1000">
                <a:solidFill>
                  <a:srgbClr val="E2E8F0"/>
                </a:solidFill>
                <a:latin typeface="Calibri"/>
              </a:defRPr>
            </a:pPr>
            <a:r>
              <a:t>•  • Dynamic Component Selector: Slider and input allowing real-time k adjustment (1 &lt;= k &lt;= 64).</a:t>
            </a:r>
          </a:p>
          <a:p>
            <a:pPr>
              <a:spcAft>
                <a:spcPts val="500"/>
              </a:spcAft>
              <a:defRPr sz="1000">
                <a:solidFill>
                  <a:srgbClr val="E2E8F0"/>
                </a:solidFill>
                <a:latin typeface="Calibri"/>
              </a:defRPr>
            </a:pPr>
            <a:r>
              <a:t>•  • Side-by-Side Visual Comparison: Displays Original 64x64 matrix vs. Low-Rank Reconstructed matrix with pixelated rendering.</a:t>
            </a:r>
          </a:p>
          <a:p>
            <a:pPr>
              <a:spcAft>
                <a:spcPts val="500"/>
              </a:spcAft>
              <a:defRPr sz="1000">
                <a:solidFill>
                  <a:srgbClr val="E2E8F0"/>
                </a:solidFill>
                <a:latin typeface="Calibri"/>
              </a:defRPr>
            </a:pPr>
            <a:r>
              <a:t>•  • Interactive Matrix Heatmaps: Visualizes numerical values of Matrix A and Gram Matrix G with cell inspection.</a:t>
            </a:r>
          </a:p>
          <a:p>
            <a:pPr>
              <a:spcAft>
                <a:spcPts val="500"/>
              </a:spcAft>
              <a:defRPr sz="1000">
                <a:solidFill>
                  <a:srgbClr val="E2E8F0"/>
                </a:solidFill>
                <a:latin typeface="Calibri"/>
              </a:defRPr>
            </a:pPr>
            <a:r>
              <a:t>•  • Dimension Flow Diagrams: Displays real-time dimension validation equation: (64 x 64)(64 x k) = (64 x k).</a:t>
            </a:r>
          </a:p>
          <a:p>
            <a:pPr>
              <a:spcAft>
                <a:spcPts val="500"/>
              </a:spcAft>
              <a:defRPr sz="1000">
                <a:solidFill>
                  <a:srgbClr val="E2E8F0"/>
                </a:solidFill>
                <a:latin typeface="Calibri"/>
              </a:defRPr>
            </a:pPr>
            <a:r>
              <a:t>•  • Multilingual Natural Language Insights: Integrated Sarvam AI educational explanations for students in regional Indian languages.</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1221"/>
          </a:solidFill>
          <a:ln>
            <a:solidFill>
              <a:srgbClr val="0A122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411480"/>
            <a:ext cx="10728655" cy="27432"/>
          </a:xfrm>
          <a:prstGeom prst="rect">
            <a:avLst/>
          </a:prstGeom>
          <a:solidFill>
            <a:srgbClr val="D4AF37"/>
          </a:solidFill>
          <a:ln>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502920"/>
            <a:ext cx="10728655" cy="274320"/>
          </a:xfrm>
          <a:prstGeom prst="rect">
            <a:avLst/>
          </a:prstGeom>
          <a:noFill/>
        </p:spPr>
        <p:txBody>
          <a:bodyPr wrap="square" lIns="0" tIns="0" rIns="0" bIns="0">
            <a:spAutoFit/>
          </a:bodyPr>
          <a:lstStyle/>
          <a:p>
            <a:pPr>
              <a:defRPr sz="1000" b="1">
                <a:solidFill>
                  <a:srgbClr val="D4AF37"/>
                </a:solidFill>
                <a:latin typeface="Calibri"/>
              </a:defRPr>
            </a:pPr>
            <a:r>
              <a:t>EXPERIMENTAL RESULTS &amp; BENCHMARKS   |   SLIDE 15 OF 17</a:t>
            </a:r>
          </a:p>
        </p:txBody>
      </p:sp>
      <p:sp>
        <p:nvSpPr>
          <p:cNvPr id="5" name="TextBox 4"/>
          <p:cNvSpPr txBox="1"/>
          <p:nvPr/>
        </p:nvSpPr>
        <p:spPr>
          <a:xfrm>
            <a:off x="731520" y="777240"/>
            <a:ext cx="10728655" cy="594360"/>
          </a:xfrm>
          <a:prstGeom prst="rect">
            <a:avLst/>
          </a:prstGeom>
          <a:noFill/>
        </p:spPr>
        <p:txBody>
          <a:bodyPr wrap="square" lIns="0" tIns="0" rIns="0" bIns="0">
            <a:spAutoFit/>
          </a:bodyPr>
          <a:lstStyle/>
          <a:p>
            <a:pPr>
              <a:defRPr sz="2400" b="1">
                <a:solidFill>
                  <a:srgbClr val="F8FAFC"/>
                </a:solidFill>
                <a:latin typeface="Calibri"/>
              </a:defRPr>
            </a:pPr>
            <a:r>
              <a:t>Verified Numerical Findings on 64×64 Benchmark Image</a:t>
            </a:r>
          </a:p>
        </p:txBody>
      </p:sp>
      <p:sp>
        <p:nvSpPr>
          <p:cNvPr id="6" name="TextBox 5"/>
          <p:cNvSpPr txBox="1"/>
          <p:nvPr/>
        </p:nvSpPr>
        <p:spPr>
          <a:xfrm>
            <a:off x="731520" y="1353312"/>
            <a:ext cx="10728655" cy="320040"/>
          </a:xfrm>
          <a:prstGeom prst="rect">
            <a:avLst/>
          </a:prstGeom>
          <a:noFill/>
        </p:spPr>
        <p:txBody>
          <a:bodyPr wrap="square" lIns="0" tIns="0" rIns="0" bIns="0">
            <a:spAutoFit/>
          </a:bodyPr>
          <a:lstStyle/>
          <a:p>
            <a:pPr>
              <a:defRPr sz="1200">
                <a:solidFill>
                  <a:srgbClr val="9CABC2"/>
                </a:solidFill>
                <a:latin typeface="Calibri"/>
              </a:defRPr>
            </a:pPr>
            <a:r>
              <a:t>Empirical data extracted directly from our codebase evaluation script.</a:t>
            </a:r>
          </a:p>
        </p:txBody>
      </p:sp>
      <p:graphicFrame>
        <p:nvGraphicFramePr>
          <p:cNvPr id="7" name="Table 6"/>
          <p:cNvGraphicFramePr>
            <a:graphicFrameLocks noGrp="1"/>
          </p:cNvGraphicFramePr>
          <p:nvPr/>
        </p:nvGraphicFramePr>
        <p:xfrm>
          <a:off x="731520" y="1737360"/>
          <a:ext cx="5120640" cy="4389120"/>
        </p:xfrm>
        <a:graphic>
          <a:graphicData uri="http://schemas.openxmlformats.org/drawingml/2006/table">
            <a:tbl>
              <a:tblPr firstRow="1" bandRow="1">
                <a:tableStyleId>{5C22544A-7EE6-4342-B048-85BDC9FD1C3A}</a:tableStyleId>
              </a:tblPr>
              <a:tblGrid>
                <a:gridCol w="109728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tblGrid>
              <a:tr h="548640">
                <a:tc>
                  <a:txBody>
                    <a:bodyPr/>
                    <a:lstStyle/>
                    <a:p>
                      <a:pPr>
                        <a:defRPr sz="1000" b="1">
                          <a:solidFill>
                            <a:srgbClr val="D4AF37"/>
                          </a:solidFill>
                          <a:latin typeface="Calibri"/>
                        </a:defRPr>
                      </a:pPr>
                      <a:r>
                        <a:t>Rank (k)</a:t>
                      </a:r>
                    </a:p>
                  </a:txBody>
                  <a:tcPr>
                    <a:solidFill>
                      <a:srgbClr val="101C32"/>
                    </a:solidFill>
                  </a:tcPr>
                </a:tc>
                <a:tc>
                  <a:txBody>
                    <a:bodyPr/>
                    <a:lstStyle/>
                    <a:p>
                      <a:pPr>
                        <a:defRPr sz="1000" b="1">
                          <a:solidFill>
                            <a:srgbClr val="D4AF37"/>
                          </a:solidFill>
                          <a:latin typeface="Calibri"/>
                        </a:defRPr>
                      </a:pPr>
                      <a:r>
                        <a:t>Basis Kept %</a:t>
                      </a:r>
                    </a:p>
                  </a:txBody>
                  <a:tcPr>
                    <a:solidFill>
                      <a:srgbClr val="101C32"/>
                    </a:solidFill>
                  </a:tcPr>
                </a:tc>
                <a:tc>
                  <a:txBody>
                    <a:bodyPr/>
                    <a:lstStyle/>
                    <a:p>
                      <a:pPr>
                        <a:defRPr sz="1000" b="1">
                          <a:solidFill>
                            <a:srgbClr val="D4AF37"/>
                          </a:solidFill>
                          <a:latin typeface="Calibri"/>
                        </a:defRPr>
                      </a:pPr>
                      <a:r>
                        <a:t>Frobenius Err</a:t>
                      </a:r>
                    </a:p>
                  </a:txBody>
                  <a:tcPr>
                    <a:solidFill>
                      <a:srgbClr val="101C32"/>
                    </a:solidFill>
                  </a:tcPr>
                </a:tc>
                <a:tc>
                  <a:txBody>
                    <a:bodyPr/>
                    <a:lstStyle/>
                    <a:p>
                      <a:pPr>
                        <a:defRPr sz="1000" b="1">
                          <a:solidFill>
                            <a:srgbClr val="D4AF37"/>
                          </a:solidFill>
                          <a:latin typeface="Calibri"/>
                        </a:defRPr>
                      </a:pPr>
                      <a:r>
                        <a:t>Relative Err %</a:t>
                      </a:r>
                    </a:p>
                  </a:txBody>
                  <a:tcPr>
                    <a:solidFill>
                      <a:srgbClr val="101C32"/>
                    </a:solidFill>
                  </a:tcPr>
                </a:tc>
                <a:extLst>
                  <a:ext uri="{0D108BD9-81ED-4DB2-BD59-A6C34878D82A}">
                    <a16:rowId xmlns:a16="http://schemas.microsoft.com/office/drawing/2014/main" val="10000"/>
                  </a:ext>
                </a:extLst>
              </a:tr>
              <a:tr h="548640">
                <a:tc>
                  <a:txBody>
                    <a:bodyPr/>
                    <a:lstStyle/>
                    <a:p>
                      <a:pPr>
                        <a:defRPr sz="1000">
                          <a:solidFill>
                            <a:srgbClr val="38BDF8"/>
                          </a:solidFill>
                          <a:latin typeface="Calibri"/>
                        </a:defRPr>
                      </a:pPr>
                      <a:r>
                        <a:t>k = 1</a:t>
                      </a:r>
                    </a:p>
                  </a:txBody>
                  <a:tcPr>
                    <a:solidFill>
                      <a:srgbClr val="101C32"/>
                    </a:solidFill>
                  </a:tcPr>
                </a:tc>
                <a:tc>
                  <a:txBody>
                    <a:bodyPr/>
                    <a:lstStyle/>
                    <a:p>
                      <a:pPr>
                        <a:defRPr sz="1000">
                          <a:solidFill>
                            <a:srgbClr val="F8FAFC"/>
                          </a:solidFill>
                          <a:latin typeface="Calibri"/>
                        </a:defRPr>
                      </a:pPr>
                      <a:r>
                        <a:t>1.56%</a:t>
                      </a:r>
                    </a:p>
                  </a:txBody>
                  <a:tcPr>
                    <a:solidFill>
                      <a:srgbClr val="101C32"/>
                    </a:solidFill>
                  </a:tcPr>
                </a:tc>
                <a:tc>
                  <a:txBody>
                    <a:bodyPr/>
                    <a:lstStyle/>
                    <a:p>
                      <a:pPr>
                        <a:defRPr sz="1000">
                          <a:solidFill>
                            <a:srgbClr val="F8FAFC"/>
                          </a:solidFill>
                          <a:latin typeface="Calibri"/>
                        </a:defRPr>
                      </a:pPr>
                      <a:r>
                        <a:t>10.3480</a:t>
                      </a:r>
                    </a:p>
                  </a:txBody>
                  <a:tcPr>
                    <a:solidFill>
                      <a:srgbClr val="101C32"/>
                    </a:solidFill>
                  </a:tcPr>
                </a:tc>
                <a:tc>
                  <a:txBody>
                    <a:bodyPr/>
                    <a:lstStyle/>
                    <a:p>
                      <a:pPr>
                        <a:defRPr sz="1000">
                          <a:solidFill>
                            <a:srgbClr val="F8FAFC"/>
                          </a:solidFill>
                          <a:latin typeface="Calibri"/>
                        </a:defRPr>
                      </a:pPr>
                      <a:r>
                        <a:t>19.1951%</a:t>
                      </a:r>
                    </a:p>
                  </a:txBody>
                  <a:tcPr>
                    <a:solidFill>
                      <a:srgbClr val="101C32"/>
                    </a:solidFill>
                  </a:tcPr>
                </a:tc>
                <a:extLst>
                  <a:ext uri="{0D108BD9-81ED-4DB2-BD59-A6C34878D82A}">
                    <a16:rowId xmlns:a16="http://schemas.microsoft.com/office/drawing/2014/main" val="10001"/>
                  </a:ext>
                </a:extLst>
              </a:tr>
              <a:tr h="548640">
                <a:tc>
                  <a:txBody>
                    <a:bodyPr/>
                    <a:lstStyle/>
                    <a:p>
                      <a:pPr>
                        <a:defRPr sz="1000">
                          <a:solidFill>
                            <a:srgbClr val="38BDF8"/>
                          </a:solidFill>
                          <a:latin typeface="Calibri"/>
                        </a:defRPr>
                      </a:pPr>
                      <a:r>
                        <a:t>k = 5</a:t>
                      </a:r>
                    </a:p>
                  </a:txBody>
                  <a:tcPr>
                    <a:solidFill>
                      <a:srgbClr val="0C1628"/>
                    </a:solidFill>
                  </a:tcPr>
                </a:tc>
                <a:tc>
                  <a:txBody>
                    <a:bodyPr/>
                    <a:lstStyle/>
                    <a:p>
                      <a:pPr>
                        <a:defRPr sz="1000">
                          <a:solidFill>
                            <a:srgbClr val="F8FAFC"/>
                          </a:solidFill>
                          <a:latin typeface="Calibri"/>
                        </a:defRPr>
                      </a:pPr>
                      <a:r>
                        <a:t>7.81%</a:t>
                      </a:r>
                    </a:p>
                  </a:txBody>
                  <a:tcPr>
                    <a:solidFill>
                      <a:srgbClr val="0C1628"/>
                    </a:solidFill>
                  </a:tcPr>
                </a:tc>
                <a:tc>
                  <a:txBody>
                    <a:bodyPr/>
                    <a:lstStyle/>
                    <a:p>
                      <a:pPr>
                        <a:defRPr sz="1000">
                          <a:solidFill>
                            <a:srgbClr val="F8FAFC"/>
                          </a:solidFill>
                          <a:latin typeface="Calibri"/>
                        </a:defRPr>
                      </a:pPr>
                      <a:r>
                        <a:t>1.0964</a:t>
                      </a:r>
                    </a:p>
                  </a:txBody>
                  <a:tcPr>
                    <a:solidFill>
                      <a:srgbClr val="0C1628"/>
                    </a:solidFill>
                  </a:tcPr>
                </a:tc>
                <a:tc>
                  <a:txBody>
                    <a:bodyPr/>
                    <a:lstStyle/>
                    <a:p>
                      <a:pPr>
                        <a:defRPr sz="1000">
                          <a:solidFill>
                            <a:srgbClr val="F8FAFC"/>
                          </a:solidFill>
                          <a:latin typeface="Calibri"/>
                        </a:defRPr>
                      </a:pPr>
                      <a:r>
                        <a:t>2.0338%</a:t>
                      </a:r>
                    </a:p>
                  </a:txBody>
                  <a:tcPr>
                    <a:solidFill>
                      <a:srgbClr val="0C1628"/>
                    </a:solidFill>
                  </a:tcPr>
                </a:tc>
                <a:extLst>
                  <a:ext uri="{0D108BD9-81ED-4DB2-BD59-A6C34878D82A}">
                    <a16:rowId xmlns:a16="http://schemas.microsoft.com/office/drawing/2014/main" val="10002"/>
                  </a:ext>
                </a:extLst>
              </a:tr>
              <a:tr h="548640">
                <a:tc>
                  <a:txBody>
                    <a:bodyPr/>
                    <a:lstStyle/>
                    <a:p>
                      <a:pPr>
                        <a:defRPr sz="1000">
                          <a:solidFill>
                            <a:srgbClr val="38BDF8"/>
                          </a:solidFill>
                          <a:latin typeface="Calibri"/>
                        </a:defRPr>
                      </a:pPr>
                      <a:r>
                        <a:t>k = 10</a:t>
                      </a:r>
                    </a:p>
                  </a:txBody>
                  <a:tcPr>
                    <a:solidFill>
                      <a:srgbClr val="101C32"/>
                    </a:solidFill>
                  </a:tcPr>
                </a:tc>
                <a:tc>
                  <a:txBody>
                    <a:bodyPr/>
                    <a:lstStyle/>
                    <a:p>
                      <a:pPr>
                        <a:defRPr sz="1000">
                          <a:solidFill>
                            <a:srgbClr val="F8FAFC"/>
                          </a:solidFill>
                          <a:latin typeface="Calibri"/>
                        </a:defRPr>
                      </a:pPr>
                      <a:r>
                        <a:t>15.62%</a:t>
                      </a:r>
                    </a:p>
                  </a:txBody>
                  <a:tcPr>
                    <a:solidFill>
                      <a:srgbClr val="101C32"/>
                    </a:solidFill>
                  </a:tcPr>
                </a:tc>
                <a:tc>
                  <a:txBody>
                    <a:bodyPr/>
                    <a:lstStyle/>
                    <a:p>
                      <a:pPr>
                        <a:defRPr sz="1000">
                          <a:solidFill>
                            <a:srgbClr val="F8FAFC"/>
                          </a:solidFill>
                          <a:latin typeface="Calibri"/>
                        </a:defRPr>
                      </a:pPr>
                      <a:r>
                        <a:t>0.2742</a:t>
                      </a:r>
                    </a:p>
                  </a:txBody>
                  <a:tcPr>
                    <a:solidFill>
                      <a:srgbClr val="101C32"/>
                    </a:solidFill>
                  </a:tcPr>
                </a:tc>
                <a:tc>
                  <a:txBody>
                    <a:bodyPr/>
                    <a:lstStyle/>
                    <a:p>
                      <a:pPr>
                        <a:defRPr sz="1000">
                          <a:solidFill>
                            <a:srgbClr val="F8FAFC"/>
                          </a:solidFill>
                          <a:latin typeface="Calibri"/>
                        </a:defRPr>
                      </a:pPr>
                      <a:r>
                        <a:t>0.5087%</a:t>
                      </a:r>
                    </a:p>
                  </a:txBody>
                  <a:tcPr>
                    <a:solidFill>
                      <a:srgbClr val="101C32"/>
                    </a:solidFill>
                  </a:tcPr>
                </a:tc>
                <a:extLst>
                  <a:ext uri="{0D108BD9-81ED-4DB2-BD59-A6C34878D82A}">
                    <a16:rowId xmlns:a16="http://schemas.microsoft.com/office/drawing/2014/main" val="10003"/>
                  </a:ext>
                </a:extLst>
              </a:tr>
              <a:tr h="548640">
                <a:tc>
                  <a:txBody>
                    <a:bodyPr/>
                    <a:lstStyle/>
                    <a:p>
                      <a:pPr>
                        <a:defRPr sz="1000">
                          <a:solidFill>
                            <a:srgbClr val="38BDF8"/>
                          </a:solidFill>
                          <a:latin typeface="Calibri"/>
                        </a:defRPr>
                      </a:pPr>
                      <a:r>
                        <a:t>k = 16</a:t>
                      </a:r>
                    </a:p>
                  </a:txBody>
                  <a:tcPr>
                    <a:solidFill>
                      <a:srgbClr val="0C1628"/>
                    </a:solidFill>
                  </a:tcPr>
                </a:tc>
                <a:tc>
                  <a:txBody>
                    <a:bodyPr/>
                    <a:lstStyle/>
                    <a:p>
                      <a:pPr>
                        <a:defRPr sz="1000">
                          <a:solidFill>
                            <a:srgbClr val="F8FAFC"/>
                          </a:solidFill>
                          <a:latin typeface="Calibri"/>
                        </a:defRPr>
                      </a:pPr>
                      <a:r>
                        <a:t>25.00%</a:t>
                      </a:r>
                    </a:p>
                  </a:txBody>
                  <a:tcPr>
                    <a:solidFill>
                      <a:srgbClr val="0C1628"/>
                    </a:solidFill>
                  </a:tcPr>
                </a:tc>
                <a:tc>
                  <a:txBody>
                    <a:bodyPr/>
                    <a:lstStyle/>
                    <a:p>
                      <a:pPr>
                        <a:defRPr sz="1000">
                          <a:solidFill>
                            <a:srgbClr val="F8FAFC"/>
                          </a:solidFill>
                          <a:latin typeface="Calibri"/>
                        </a:defRPr>
                      </a:pPr>
                      <a:r>
                        <a:t>0.0184</a:t>
                      </a:r>
                    </a:p>
                  </a:txBody>
                  <a:tcPr>
                    <a:solidFill>
                      <a:srgbClr val="0C1628"/>
                    </a:solidFill>
                  </a:tcPr>
                </a:tc>
                <a:tc>
                  <a:txBody>
                    <a:bodyPr/>
                    <a:lstStyle/>
                    <a:p>
                      <a:pPr>
                        <a:defRPr sz="1000">
                          <a:solidFill>
                            <a:srgbClr val="F8FAFC"/>
                          </a:solidFill>
                          <a:latin typeface="Calibri"/>
                        </a:defRPr>
                      </a:pPr>
                      <a:r>
                        <a:t>0.0341%</a:t>
                      </a:r>
                    </a:p>
                  </a:txBody>
                  <a:tcPr>
                    <a:solidFill>
                      <a:srgbClr val="0C1628"/>
                    </a:solidFill>
                  </a:tcPr>
                </a:tc>
                <a:extLst>
                  <a:ext uri="{0D108BD9-81ED-4DB2-BD59-A6C34878D82A}">
                    <a16:rowId xmlns:a16="http://schemas.microsoft.com/office/drawing/2014/main" val="10004"/>
                  </a:ext>
                </a:extLst>
              </a:tr>
              <a:tr h="548640">
                <a:tc>
                  <a:txBody>
                    <a:bodyPr/>
                    <a:lstStyle/>
                    <a:p>
                      <a:pPr>
                        <a:defRPr sz="1000">
                          <a:solidFill>
                            <a:srgbClr val="38BDF8"/>
                          </a:solidFill>
                          <a:latin typeface="Calibri"/>
                        </a:defRPr>
                      </a:pPr>
                      <a:r>
                        <a:t>k = 20</a:t>
                      </a:r>
                    </a:p>
                  </a:txBody>
                  <a:tcPr>
                    <a:solidFill>
                      <a:srgbClr val="101C32"/>
                    </a:solidFill>
                  </a:tcPr>
                </a:tc>
                <a:tc>
                  <a:txBody>
                    <a:bodyPr/>
                    <a:lstStyle/>
                    <a:p>
                      <a:pPr>
                        <a:defRPr sz="1000">
                          <a:solidFill>
                            <a:srgbClr val="F8FAFC"/>
                          </a:solidFill>
                          <a:latin typeface="Calibri"/>
                        </a:defRPr>
                      </a:pPr>
                      <a:r>
                        <a:t>31.25%</a:t>
                      </a:r>
                    </a:p>
                  </a:txBody>
                  <a:tcPr>
                    <a:solidFill>
                      <a:srgbClr val="101C32"/>
                    </a:solidFill>
                  </a:tcPr>
                </a:tc>
                <a:tc>
                  <a:txBody>
                    <a:bodyPr/>
                    <a:lstStyle/>
                    <a:p>
                      <a:pPr>
                        <a:defRPr sz="1000">
                          <a:solidFill>
                            <a:srgbClr val="F8FAFC"/>
                          </a:solidFill>
                          <a:latin typeface="Calibri"/>
                        </a:defRPr>
                      </a:pPr>
                      <a:r>
                        <a:t>0.0076</a:t>
                      </a:r>
                    </a:p>
                  </a:txBody>
                  <a:tcPr>
                    <a:solidFill>
                      <a:srgbClr val="101C32"/>
                    </a:solidFill>
                  </a:tcPr>
                </a:tc>
                <a:tc>
                  <a:txBody>
                    <a:bodyPr/>
                    <a:lstStyle/>
                    <a:p>
                      <a:pPr>
                        <a:defRPr sz="1000">
                          <a:solidFill>
                            <a:srgbClr val="F8FAFC"/>
                          </a:solidFill>
                          <a:latin typeface="Calibri"/>
                        </a:defRPr>
                      </a:pPr>
                      <a:r>
                        <a:t>0.0140%</a:t>
                      </a:r>
                    </a:p>
                  </a:txBody>
                  <a:tcPr>
                    <a:solidFill>
                      <a:srgbClr val="101C32"/>
                    </a:solidFill>
                  </a:tcPr>
                </a:tc>
                <a:extLst>
                  <a:ext uri="{0D108BD9-81ED-4DB2-BD59-A6C34878D82A}">
                    <a16:rowId xmlns:a16="http://schemas.microsoft.com/office/drawing/2014/main" val="10005"/>
                  </a:ext>
                </a:extLst>
              </a:tr>
              <a:tr h="548640">
                <a:tc>
                  <a:txBody>
                    <a:bodyPr/>
                    <a:lstStyle/>
                    <a:p>
                      <a:pPr>
                        <a:defRPr sz="1000">
                          <a:solidFill>
                            <a:srgbClr val="38BDF8"/>
                          </a:solidFill>
                          <a:latin typeface="Calibri"/>
                        </a:defRPr>
                      </a:pPr>
                      <a:r>
                        <a:t>k = 32</a:t>
                      </a:r>
                    </a:p>
                  </a:txBody>
                  <a:tcPr>
                    <a:solidFill>
                      <a:srgbClr val="0C1628"/>
                    </a:solidFill>
                  </a:tcPr>
                </a:tc>
                <a:tc>
                  <a:txBody>
                    <a:bodyPr/>
                    <a:lstStyle/>
                    <a:p>
                      <a:pPr>
                        <a:defRPr sz="1000">
                          <a:solidFill>
                            <a:srgbClr val="F8FAFC"/>
                          </a:solidFill>
                          <a:latin typeface="Calibri"/>
                        </a:defRPr>
                      </a:pPr>
                      <a:r>
                        <a:t>50.00%</a:t>
                      </a:r>
                    </a:p>
                  </a:txBody>
                  <a:tcPr>
                    <a:solidFill>
                      <a:srgbClr val="0C1628"/>
                    </a:solidFill>
                  </a:tcPr>
                </a:tc>
                <a:tc>
                  <a:txBody>
                    <a:bodyPr/>
                    <a:lstStyle/>
                    <a:p>
                      <a:pPr>
                        <a:defRPr sz="1000">
                          <a:solidFill>
                            <a:srgbClr val="F8FAFC"/>
                          </a:solidFill>
                          <a:latin typeface="Calibri"/>
                        </a:defRPr>
                      </a:pPr>
                      <a:r>
                        <a:t>0.0002</a:t>
                      </a:r>
                    </a:p>
                  </a:txBody>
                  <a:tcPr>
                    <a:solidFill>
                      <a:srgbClr val="0C1628"/>
                    </a:solidFill>
                  </a:tcPr>
                </a:tc>
                <a:tc>
                  <a:txBody>
                    <a:bodyPr/>
                    <a:lstStyle/>
                    <a:p>
                      <a:pPr>
                        <a:defRPr sz="1000">
                          <a:solidFill>
                            <a:srgbClr val="F8FAFC"/>
                          </a:solidFill>
                          <a:latin typeface="Calibri"/>
                        </a:defRPr>
                      </a:pPr>
                      <a:r>
                        <a:t>0.0003%</a:t>
                      </a:r>
                    </a:p>
                  </a:txBody>
                  <a:tcPr>
                    <a:solidFill>
                      <a:srgbClr val="0C1628"/>
                    </a:solidFill>
                  </a:tcPr>
                </a:tc>
                <a:extLst>
                  <a:ext uri="{0D108BD9-81ED-4DB2-BD59-A6C34878D82A}">
                    <a16:rowId xmlns:a16="http://schemas.microsoft.com/office/drawing/2014/main" val="10006"/>
                  </a:ext>
                </a:extLst>
              </a:tr>
              <a:tr h="548640">
                <a:tc>
                  <a:txBody>
                    <a:bodyPr/>
                    <a:lstStyle/>
                    <a:p>
                      <a:pPr>
                        <a:defRPr sz="1000">
                          <a:solidFill>
                            <a:srgbClr val="38BDF8"/>
                          </a:solidFill>
                          <a:latin typeface="Calibri"/>
                        </a:defRPr>
                      </a:pPr>
                      <a:r>
                        <a:t>k = 64</a:t>
                      </a:r>
                    </a:p>
                  </a:txBody>
                  <a:tcPr>
                    <a:solidFill>
                      <a:srgbClr val="101C32"/>
                    </a:solidFill>
                  </a:tcPr>
                </a:tc>
                <a:tc>
                  <a:txBody>
                    <a:bodyPr/>
                    <a:lstStyle/>
                    <a:p>
                      <a:pPr>
                        <a:defRPr sz="1000">
                          <a:solidFill>
                            <a:srgbClr val="F8FAFC"/>
                          </a:solidFill>
                          <a:latin typeface="Calibri"/>
                        </a:defRPr>
                      </a:pPr>
                      <a:r>
                        <a:t>100.00%</a:t>
                      </a:r>
                    </a:p>
                  </a:txBody>
                  <a:tcPr>
                    <a:solidFill>
                      <a:srgbClr val="101C32"/>
                    </a:solidFill>
                  </a:tcPr>
                </a:tc>
                <a:tc>
                  <a:txBody>
                    <a:bodyPr/>
                    <a:lstStyle/>
                    <a:p>
                      <a:pPr>
                        <a:defRPr sz="1000">
                          <a:solidFill>
                            <a:srgbClr val="F8FAFC"/>
                          </a:solidFill>
                          <a:latin typeface="Calibri"/>
                        </a:defRPr>
                      </a:pPr>
                      <a:r>
                        <a:t>0.0000</a:t>
                      </a:r>
                    </a:p>
                  </a:txBody>
                  <a:tcPr>
                    <a:solidFill>
                      <a:srgbClr val="101C32"/>
                    </a:solidFill>
                  </a:tcPr>
                </a:tc>
                <a:tc>
                  <a:txBody>
                    <a:bodyPr/>
                    <a:lstStyle/>
                    <a:p>
                      <a:pPr>
                        <a:defRPr sz="1000">
                          <a:solidFill>
                            <a:srgbClr val="F8FAFC"/>
                          </a:solidFill>
                          <a:latin typeface="Calibri"/>
                        </a:defRPr>
                      </a:pPr>
                      <a:r>
                        <a:t>0.0000%</a:t>
                      </a:r>
                    </a:p>
                  </a:txBody>
                  <a:tcPr>
                    <a:solidFill>
                      <a:srgbClr val="101C32"/>
                    </a:solidFill>
                  </a:tcPr>
                </a:tc>
                <a:extLst>
                  <a:ext uri="{0D108BD9-81ED-4DB2-BD59-A6C34878D82A}">
                    <a16:rowId xmlns:a16="http://schemas.microsoft.com/office/drawing/2014/main" val="10007"/>
                  </a:ext>
                </a:extLst>
              </a:tr>
            </a:tbl>
          </a:graphicData>
        </a:graphic>
      </p:graphicFrame>
      <p:sp>
        <p:nvSpPr>
          <p:cNvPr id="8" name="Rounded Rectangle 7"/>
          <p:cNvSpPr/>
          <p:nvPr/>
        </p:nvSpPr>
        <p:spPr>
          <a:xfrm>
            <a:off x="6309360" y="1737360"/>
            <a:ext cx="5120640" cy="4389120"/>
          </a:xfrm>
          <a:prstGeom prst="roundRect">
            <a:avLst/>
          </a:prstGeom>
          <a:solidFill>
            <a:srgbClr val="101C32"/>
          </a:solidFill>
          <a:ln w="15240">
            <a:solidFill>
              <a:srgbClr val="2438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37960" y="1901952"/>
            <a:ext cx="4663440" cy="4059936"/>
          </a:xfrm>
          <a:prstGeom prst="rect">
            <a:avLst/>
          </a:prstGeom>
          <a:noFill/>
        </p:spPr>
        <p:txBody>
          <a:bodyPr wrap="square" lIns="0" tIns="0" rIns="0" bIns="0">
            <a:spAutoFit/>
          </a:bodyPr>
          <a:lstStyle/>
          <a:p>
            <a:pPr>
              <a:spcAft>
                <a:spcPts val="800"/>
              </a:spcAft>
              <a:defRPr sz="1300" b="1">
                <a:solidFill>
                  <a:srgbClr val="D4AF37"/>
                </a:solidFill>
                <a:latin typeface="Calibri"/>
              </a:defRPr>
            </a:pPr>
            <a:r>
              <a:t>Analysis of Verified Benchmark Data</a:t>
            </a:r>
          </a:p>
          <a:p>
            <a:pPr>
              <a:spcAft>
                <a:spcPts val="500"/>
              </a:spcAft>
              <a:defRPr sz="1000">
                <a:solidFill>
                  <a:srgbClr val="E2E8F0"/>
                </a:solidFill>
                <a:latin typeface="Calibri"/>
              </a:defRPr>
            </a:pPr>
            <a:r>
              <a:t>•  Dataset &amp; Benchmark Properties:</a:t>
            </a:r>
          </a:p>
          <a:p>
            <a:pPr>
              <a:spcAft>
                <a:spcPts val="500"/>
              </a:spcAft>
              <a:defRPr sz="1000">
                <a:solidFill>
                  <a:srgbClr val="E2E8F0"/>
                </a:solidFill>
                <a:latin typeface="Calibri"/>
              </a:defRPr>
            </a:pPr>
            <a:r>
              <a:t>•  • Test Image: Standardized 64 x 64 benchmark raster (sample_upload_image.png).</a:t>
            </a:r>
          </a:p>
          <a:p>
            <a:pPr>
              <a:spcAft>
                <a:spcPts val="500"/>
              </a:spcAft>
              <a:defRPr sz="1000">
                <a:solidFill>
                  <a:srgbClr val="E2E8F0"/>
                </a:solidFill>
                <a:latin typeface="Calibri"/>
              </a:defRPr>
            </a:pPr>
            <a:r>
              <a:t>•  • Matrix Dimensions: m = 64, n = 64 (4,096 elements).</a:t>
            </a:r>
          </a:p>
          <a:p>
            <a:pPr>
              <a:spcAft>
                <a:spcPts val="500"/>
              </a:spcAft>
              <a:defRPr sz="1000">
                <a:solidFill>
                  <a:srgbClr val="E2E8F0"/>
                </a:solidFill>
                <a:latin typeface="Calibri"/>
              </a:defRPr>
            </a:pPr>
            <a:r>
              <a:t>•  • Computed Numerical Rank: rho(A) = 34.</a:t>
            </a:r>
          </a:p>
          <a:p>
            <a:pPr>
              <a:spcAft>
                <a:spcPts val="500"/>
              </a:spcAft>
              <a:defRPr sz="1000">
                <a:solidFill>
                  <a:srgbClr val="E2E8F0"/>
                </a:solidFill>
                <a:latin typeface="Calibri"/>
              </a:defRPr>
            </a:pPr>
            <a:r>
              <a:t>•  </a:t>
            </a:r>
            <a:br/>
            <a:r>
              <a:t>Eigenvalue Spectrum Decay:</a:t>
            </a:r>
          </a:p>
          <a:p>
            <a:pPr>
              <a:spcAft>
                <a:spcPts val="500"/>
              </a:spcAft>
              <a:defRPr sz="1000">
                <a:solidFill>
                  <a:srgbClr val="E2E8F0"/>
                </a:solidFill>
                <a:latin typeface="Calibri"/>
              </a:defRPr>
            </a:pPr>
            <a:r>
              <a:t>•  • Dominant Eigenvalues: lambda_1 = 2799.15, lambda_2 = 92.03, lambda_3 = 9.88, lambda_4 = 2.95.</a:t>
            </a:r>
          </a:p>
          <a:p>
            <a:pPr>
              <a:spcAft>
                <a:spcPts val="500"/>
              </a:spcAft>
              <a:defRPr sz="1000">
                <a:solidFill>
                  <a:srgbClr val="E2E8F0"/>
                </a:solidFill>
                <a:latin typeface="Calibri"/>
              </a:defRPr>
            </a:pPr>
            <a:r>
              <a:t>•  • Extreme Energy Compaction: The first eigenvalue accounts for over 96.3% of the total Gram trace!</a:t>
            </a:r>
          </a:p>
          <a:p>
            <a:pPr>
              <a:spcAft>
                <a:spcPts val="500"/>
              </a:spcAft>
              <a:defRPr sz="1000">
                <a:solidFill>
                  <a:srgbClr val="E2E8F0"/>
                </a:solidFill>
                <a:latin typeface="Calibri"/>
              </a:defRPr>
            </a:pPr>
            <a:r>
              <a:t>•  </a:t>
            </a:r>
            <a:br/>
            <a:r>
              <a:t>Critical Observations on Component Performance:</a:t>
            </a:r>
          </a:p>
          <a:p>
            <a:pPr>
              <a:spcAft>
                <a:spcPts val="500"/>
              </a:spcAft>
              <a:defRPr sz="1000">
                <a:solidFill>
                  <a:srgbClr val="E2E8F0"/>
                </a:solidFill>
                <a:latin typeface="Calibri"/>
              </a:defRPr>
            </a:pPr>
            <a:r>
              <a:t>•  • At k = 1: Massive 80.8% energy captured, but relative error is 19.2% (only broad luminance silhouette is visible).</a:t>
            </a:r>
          </a:p>
          <a:p>
            <a:pPr>
              <a:spcAft>
                <a:spcPts val="500"/>
              </a:spcAft>
              <a:defRPr sz="1000">
                <a:solidFill>
                  <a:srgbClr val="E2E8F0"/>
                </a:solidFill>
                <a:latin typeface="Calibri"/>
              </a:defRPr>
            </a:pPr>
            <a:r>
              <a:t>•  • At k = 16: Relative Frobenius error plummets to 0.0341% (over 99.96% fidelity preserved), proving 16 components capture nearly all structural features.</a:t>
            </a:r>
          </a:p>
          <a:p>
            <a:pPr>
              <a:spcAft>
                <a:spcPts val="500"/>
              </a:spcAft>
              <a:defRPr sz="1000">
                <a:solidFill>
                  <a:srgbClr val="E2E8F0"/>
                </a:solidFill>
                <a:latin typeface="Calibri"/>
              </a:defRPr>
            </a:pPr>
            <a:r>
              <a:t>•  • At k &gt;= 34: Error drops below 10^{-4} because k exceeds the true rank rho(A) = 34 of the image matrix.</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1221"/>
          </a:solidFill>
          <a:ln>
            <a:solidFill>
              <a:srgbClr val="0A122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411480"/>
            <a:ext cx="10728655" cy="27432"/>
          </a:xfrm>
          <a:prstGeom prst="rect">
            <a:avLst/>
          </a:prstGeom>
          <a:solidFill>
            <a:srgbClr val="D4AF37"/>
          </a:solidFill>
          <a:ln>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502920"/>
            <a:ext cx="10728655" cy="274320"/>
          </a:xfrm>
          <a:prstGeom prst="rect">
            <a:avLst/>
          </a:prstGeom>
          <a:noFill/>
        </p:spPr>
        <p:txBody>
          <a:bodyPr wrap="square" lIns="0" tIns="0" rIns="0" bIns="0">
            <a:spAutoFit/>
          </a:bodyPr>
          <a:lstStyle/>
          <a:p>
            <a:pPr>
              <a:defRPr sz="1000" b="1">
                <a:solidFill>
                  <a:srgbClr val="D4AF37"/>
                </a:solidFill>
                <a:latin typeface="Calibri"/>
              </a:defRPr>
            </a:pPr>
            <a:r>
              <a:t>LIMITATIONS &amp; FUTURE SCOPE   |   SLIDE 16 OF 17</a:t>
            </a:r>
          </a:p>
        </p:txBody>
      </p:sp>
      <p:sp>
        <p:nvSpPr>
          <p:cNvPr id="5" name="TextBox 4"/>
          <p:cNvSpPr txBox="1"/>
          <p:nvPr/>
        </p:nvSpPr>
        <p:spPr>
          <a:xfrm>
            <a:off x="731520" y="777240"/>
            <a:ext cx="10728655" cy="594360"/>
          </a:xfrm>
          <a:prstGeom prst="rect">
            <a:avLst/>
          </a:prstGeom>
          <a:noFill/>
        </p:spPr>
        <p:txBody>
          <a:bodyPr wrap="square" lIns="0" tIns="0" rIns="0" bIns="0">
            <a:spAutoFit/>
          </a:bodyPr>
          <a:lstStyle/>
          <a:p>
            <a:pPr>
              <a:defRPr sz="2400" b="1">
                <a:solidFill>
                  <a:srgbClr val="F8FAFC"/>
                </a:solidFill>
                <a:latin typeface="Calibri"/>
              </a:defRPr>
            </a:pPr>
            <a:r>
              <a:t>Critical Technical Evaluation and Roadmap</a:t>
            </a:r>
          </a:p>
        </p:txBody>
      </p:sp>
      <p:sp>
        <p:nvSpPr>
          <p:cNvPr id="6" name="TextBox 5"/>
          <p:cNvSpPr txBox="1"/>
          <p:nvPr/>
        </p:nvSpPr>
        <p:spPr>
          <a:xfrm>
            <a:off x="731520" y="1353312"/>
            <a:ext cx="10728655" cy="320040"/>
          </a:xfrm>
          <a:prstGeom prst="rect">
            <a:avLst/>
          </a:prstGeom>
          <a:noFill/>
        </p:spPr>
        <p:txBody>
          <a:bodyPr wrap="square" lIns="0" tIns="0" rIns="0" bIns="0">
            <a:spAutoFit/>
          </a:bodyPr>
          <a:lstStyle/>
          <a:p>
            <a:pPr>
              <a:defRPr sz="1200">
                <a:solidFill>
                  <a:srgbClr val="9CABC2"/>
                </a:solidFill>
                <a:latin typeface="Calibri"/>
              </a:defRPr>
            </a:pPr>
            <a:r>
              <a:t>Honest evaluation of computational bottlenecks and viable engineering extensions.</a:t>
            </a:r>
          </a:p>
        </p:txBody>
      </p:sp>
      <p:sp>
        <p:nvSpPr>
          <p:cNvPr id="7" name="Rounded Rectangle 6"/>
          <p:cNvSpPr/>
          <p:nvPr/>
        </p:nvSpPr>
        <p:spPr>
          <a:xfrm>
            <a:off x="731520" y="1737360"/>
            <a:ext cx="5120640" cy="4480560"/>
          </a:xfrm>
          <a:prstGeom prst="roundRect">
            <a:avLst/>
          </a:prstGeom>
          <a:solidFill>
            <a:srgbClr val="101C32"/>
          </a:solidFill>
          <a:ln w="15240">
            <a:solidFill>
              <a:srgbClr val="2438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60120" y="1901952"/>
            <a:ext cx="4663440" cy="4151376"/>
          </a:xfrm>
          <a:prstGeom prst="rect">
            <a:avLst/>
          </a:prstGeom>
          <a:noFill/>
        </p:spPr>
        <p:txBody>
          <a:bodyPr wrap="square" lIns="0" tIns="0" rIns="0" bIns="0">
            <a:spAutoFit/>
          </a:bodyPr>
          <a:lstStyle/>
          <a:p>
            <a:pPr>
              <a:spcAft>
                <a:spcPts val="800"/>
              </a:spcAft>
              <a:defRPr sz="1300" b="1">
                <a:solidFill>
                  <a:srgbClr val="FB7185"/>
                </a:solidFill>
                <a:latin typeface="Calibri"/>
              </a:defRPr>
            </a:pPr>
            <a:r>
              <a:t>Engineering Constraints &amp; Limitations</a:t>
            </a:r>
          </a:p>
          <a:p>
            <a:pPr>
              <a:spcAft>
                <a:spcPts val="500"/>
              </a:spcAft>
              <a:defRPr sz="1000">
                <a:solidFill>
                  <a:srgbClr val="E2E8F0"/>
                </a:solidFill>
                <a:latin typeface="Calibri"/>
              </a:defRPr>
            </a:pPr>
            <a:r>
              <a:t>•  1. Computational Complexity of Eigensolvers: O(n^3)</a:t>
            </a:r>
          </a:p>
          <a:p>
            <a:pPr>
              <a:spcAft>
                <a:spcPts val="500"/>
              </a:spcAft>
              <a:defRPr sz="1000">
                <a:solidFill>
                  <a:srgbClr val="E2E8F0"/>
                </a:solidFill>
                <a:latin typeface="Calibri"/>
              </a:defRPr>
            </a:pPr>
            <a:r>
              <a:t>•  • Computing eigenvalues of an n x n matrix requires O(n^3) floating-point operations.</a:t>
            </a:r>
          </a:p>
          <a:p>
            <a:pPr>
              <a:spcAft>
                <a:spcPts val="500"/>
              </a:spcAft>
              <a:defRPr sz="1000">
                <a:solidFill>
                  <a:srgbClr val="E2E8F0"/>
                </a:solidFill>
                <a:latin typeface="Calibri"/>
              </a:defRPr>
            </a:pPr>
            <a:r>
              <a:t>•  • For 64 x 64, n^3 = 2.6 x 10^5 FLOPs (runs in &lt; 1 ms).</a:t>
            </a:r>
          </a:p>
          <a:p>
            <a:pPr>
              <a:spcAft>
                <a:spcPts val="500"/>
              </a:spcAft>
              <a:defRPr sz="1000">
                <a:solidFill>
                  <a:srgbClr val="E2E8F0"/>
                </a:solidFill>
                <a:latin typeface="Calibri"/>
              </a:defRPr>
            </a:pPr>
            <a:r>
              <a:t>•  • For high-definition 1024 x 1024, n^3 = 10^9 FLOPs, which causes unacceptable web request latency without iterative Lanczos/Arnoldi solvers.</a:t>
            </a:r>
          </a:p>
          <a:p>
            <a:pPr>
              <a:spcAft>
                <a:spcPts val="500"/>
              </a:spcAft>
              <a:defRPr sz="1000">
                <a:solidFill>
                  <a:srgbClr val="E2E8F0"/>
                </a:solidFill>
                <a:latin typeface="Calibri"/>
              </a:defRPr>
            </a:pPr>
            <a:r>
              <a:t>•  </a:t>
            </a:r>
            <a:br/>
            <a:r>
              <a:t>2. Single-Channel Grayscale Constraint:</a:t>
            </a:r>
          </a:p>
          <a:p>
            <a:pPr>
              <a:spcAft>
                <a:spcPts val="500"/>
              </a:spcAft>
              <a:defRPr sz="1000">
                <a:solidFill>
                  <a:srgbClr val="E2E8F0"/>
                </a:solidFill>
                <a:latin typeface="Calibri"/>
              </a:defRPr>
            </a:pPr>
            <a:r>
              <a:t>•  • The current mathematical model operates on 2D matrices R^{m x n}.</a:t>
            </a:r>
          </a:p>
          <a:p>
            <a:pPr>
              <a:spcAft>
                <a:spcPts val="500"/>
              </a:spcAft>
              <a:defRPr sz="1000">
                <a:solidFill>
                  <a:srgbClr val="E2E8F0"/>
                </a:solidFill>
                <a:latin typeface="Calibri"/>
              </a:defRPr>
            </a:pPr>
            <a:r>
              <a:t>•  • Color RGB images require either separate 3-channel decomposition or higher-order tensor factorization (HOSVD).</a:t>
            </a:r>
          </a:p>
          <a:p>
            <a:pPr>
              <a:spcAft>
                <a:spcPts val="500"/>
              </a:spcAft>
              <a:defRPr sz="1000">
                <a:solidFill>
                  <a:srgbClr val="E2E8F0"/>
                </a:solidFill>
                <a:latin typeface="Calibri"/>
              </a:defRPr>
            </a:pPr>
            <a:r>
              <a:t>•  </a:t>
            </a:r>
            <a:br/>
            <a:r>
              <a:t>3. Global Basis Inefficiency:</a:t>
            </a:r>
          </a:p>
          <a:p>
            <a:pPr>
              <a:spcAft>
                <a:spcPts val="500"/>
              </a:spcAft>
              <a:defRPr sz="1000">
                <a:solidFill>
                  <a:srgbClr val="E2E8F0"/>
                </a:solidFill>
                <a:latin typeface="Calibri"/>
              </a:defRPr>
            </a:pPr>
            <a:r>
              <a:t>•  • Eigenvectors span global image columns. Localized high-frequency details (e.g. sharp edges in a small corner) force higher global component counts compared to localized block-based transforms (e.g. 8x8 DCT in JPEG).</a:t>
            </a:r>
          </a:p>
        </p:txBody>
      </p:sp>
      <p:sp>
        <p:nvSpPr>
          <p:cNvPr id="9" name="Rounded Rectangle 8"/>
          <p:cNvSpPr/>
          <p:nvPr/>
        </p:nvSpPr>
        <p:spPr>
          <a:xfrm>
            <a:off x="6309360" y="1737360"/>
            <a:ext cx="5120640" cy="4480560"/>
          </a:xfrm>
          <a:prstGeom prst="roundRect">
            <a:avLst/>
          </a:prstGeom>
          <a:solidFill>
            <a:srgbClr val="101C32"/>
          </a:solidFill>
          <a:ln w="15240">
            <a:solidFill>
              <a:srgbClr val="2438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537960" y="1901952"/>
            <a:ext cx="4663440" cy="4151376"/>
          </a:xfrm>
          <a:prstGeom prst="rect">
            <a:avLst/>
          </a:prstGeom>
          <a:noFill/>
        </p:spPr>
        <p:txBody>
          <a:bodyPr wrap="square" lIns="0" tIns="0" rIns="0" bIns="0">
            <a:spAutoFit/>
          </a:bodyPr>
          <a:lstStyle/>
          <a:p>
            <a:pPr>
              <a:spcAft>
                <a:spcPts val="800"/>
              </a:spcAft>
              <a:defRPr sz="1300" b="1">
                <a:solidFill>
                  <a:srgbClr val="38BDF8"/>
                </a:solidFill>
                <a:latin typeface="Calibri"/>
              </a:defRPr>
            </a:pPr>
            <a:r>
              <a:t>Realistic Future Extensions</a:t>
            </a:r>
          </a:p>
          <a:p>
            <a:pPr>
              <a:spcAft>
                <a:spcPts val="500"/>
              </a:spcAft>
              <a:defRPr sz="1000">
                <a:solidFill>
                  <a:srgbClr val="E2E8F0"/>
                </a:solidFill>
                <a:latin typeface="Calibri"/>
              </a:defRPr>
            </a:pPr>
            <a:r>
              <a:t>•  1. Block-Based Subspace Decomposition:</a:t>
            </a:r>
          </a:p>
          <a:p>
            <a:pPr>
              <a:spcAft>
                <a:spcPts val="500"/>
              </a:spcAft>
              <a:defRPr sz="1000">
                <a:solidFill>
                  <a:srgbClr val="E2E8F0"/>
                </a:solidFill>
                <a:latin typeface="Calibri"/>
              </a:defRPr>
            </a:pPr>
            <a:r>
              <a:t>•  Partition large images into 8x8 or 16x16 local patches (similar to JPEG macroblocks) and compute local eigen-bases to reduce computational complexity to O(b^3).</a:t>
            </a:r>
          </a:p>
          <a:p>
            <a:pPr>
              <a:spcAft>
                <a:spcPts val="500"/>
              </a:spcAft>
              <a:defRPr sz="1000">
                <a:solidFill>
                  <a:srgbClr val="E2E8F0"/>
                </a:solidFill>
                <a:latin typeface="Calibri"/>
              </a:defRPr>
            </a:pPr>
            <a:r>
              <a:t>•  </a:t>
            </a:r>
            <a:br/>
            <a:r>
              <a:t>2. Multi-Channel Tensor SVD (RGB):</a:t>
            </a:r>
          </a:p>
          <a:p>
            <a:pPr>
              <a:spcAft>
                <a:spcPts val="500"/>
              </a:spcAft>
              <a:defRPr sz="1000">
                <a:solidFill>
                  <a:srgbClr val="E2E8F0"/>
                </a:solidFill>
                <a:latin typeface="Calibri"/>
              </a:defRPr>
            </a:pPr>
            <a:r>
              <a:t>•  Extend the algebraic pipeline to 3D color tensors A in R^{m x n x 3} using Higher-Order Singular Value Decomposition (Tucker / CANDECOMP decomposition).</a:t>
            </a:r>
          </a:p>
          <a:p>
            <a:pPr>
              <a:spcAft>
                <a:spcPts val="500"/>
              </a:spcAft>
              <a:defRPr sz="1000">
                <a:solidFill>
                  <a:srgbClr val="E2E8F0"/>
                </a:solidFill>
                <a:latin typeface="Calibri"/>
              </a:defRPr>
            </a:pPr>
            <a:r>
              <a:t>•  </a:t>
            </a:r>
            <a:br/>
            <a:r>
              <a:t>3. Adaptive k Selection via Energy Threshold:</a:t>
            </a:r>
          </a:p>
          <a:p>
            <a:pPr>
              <a:spcAft>
                <a:spcPts val="500"/>
              </a:spcAft>
              <a:defRPr sz="1000">
                <a:solidFill>
                  <a:srgbClr val="E2E8F0"/>
                </a:solidFill>
                <a:latin typeface="Calibri"/>
              </a:defRPr>
            </a:pPr>
            <a:r>
              <a:t>•  Implement automated rank selection that terminates when cumulative variance exceeds a target threshold (e.g., sum_{i=1}^k lambda_i / Tr(G) &gt;= 0.99).</a:t>
            </a:r>
          </a:p>
          <a:p>
            <a:pPr>
              <a:spcAft>
                <a:spcPts val="500"/>
              </a:spcAft>
              <a:defRPr sz="1000">
                <a:solidFill>
                  <a:srgbClr val="E2E8F0"/>
                </a:solidFill>
                <a:latin typeface="Calibri"/>
              </a:defRPr>
            </a:pPr>
            <a:r>
              <a:t>•  </a:t>
            </a:r>
            <a:br/>
            <a:r>
              <a:t>4. Quantization &amp; Huffman Serialization:</a:t>
            </a:r>
          </a:p>
          <a:p>
            <a:pPr>
              <a:spcAft>
                <a:spcPts val="500"/>
              </a:spcAft>
              <a:defRPr sz="1000">
                <a:solidFill>
                  <a:srgbClr val="E2E8F0"/>
                </a:solidFill>
                <a:latin typeface="Calibri"/>
              </a:defRPr>
            </a:pPr>
            <a:r>
              <a:t>•  Couple subspace projection Z with uniform coefficient scalar quantization and Huffman entropy coding to benchmark actual on-disk binary byte compression against standard JPEG formats.</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1221"/>
          </a:solidFill>
          <a:ln>
            <a:solidFill>
              <a:srgbClr val="0A122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411480"/>
            <a:ext cx="10728655" cy="27432"/>
          </a:xfrm>
          <a:prstGeom prst="rect">
            <a:avLst/>
          </a:prstGeom>
          <a:solidFill>
            <a:srgbClr val="D4AF37"/>
          </a:solidFill>
          <a:ln>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502920"/>
            <a:ext cx="10728655" cy="274320"/>
          </a:xfrm>
          <a:prstGeom prst="rect">
            <a:avLst/>
          </a:prstGeom>
          <a:noFill/>
        </p:spPr>
        <p:txBody>
          <a:bodyPr wrap="square" lIns="0" tIns="0" rIns="0" bIns="0">
            <a:spAutoFit/>
          </a:bodyPr>
          <a:lstStyle/>
          <a:p>
            <a:pPr>
              <a:defRPr sz="1000" b="1">
                <a:solidFill>
                  <a:srgbClr val="D4AF37"/>
                </a:solidFill>
                <a:latin typeface="Calibri"/>
              </a:defRPr>
            </a:pPr>
            <a:r>
              <a:t>CONCLUSION &amp; ACADEMIC REFERENCES   |   SLIDE 17 OF 17</a:t>
            </a:r>
          </a:p>
        </p:txBody>
      </p:sp>
      <p:sp>
        <p:nvSpPr>
          <p:cNvPr id="5" name="TextBox 4"/>
          <p:cNvSpPr txBox="1"/>
          <p:nvPr/>
        </p:nvSpPr>
        <p:spPr>
          <a:xfrm>
            <a:off x="731520" y="777240"/>
            <a:ext cx="10728655" cy="594360"/>
          </a:xfrm>
          <a:prstGeom prst="rect">
            <a:avLst/>
          </a:prstGeom>
          <a:noFill/>
        </p:spPr>
        <p:txBody>
          <a:bodyPr wrap="square" lIns="0" tIns="0" rIns="0" bIns="0">
            <a:spAutoFit/>
          </a:bodyPr>
          <a:lstStyle/>
          <a:p>
            <a:pPr>
              <a:defRPr sz="2400" b="1">
                <a:solidFill>
                  <a:srgbClr val="F8FAFC"/>
                </a:solidFill>
                <a:latin typeface="Calibri"/>
              </a:defRPr>
            </a:pPr>
            <a:r>
              <a:t>Summary of Contributions and Authoritative Literature</a:t>
            </a:r>
          </a:p>
        </p:txBody>
      </p:sp>
      <p:sp>
        <p:nvSpPr>
          <p:cNvPr id="6" name="TextBox 5"/>
          <p:cNvSpPr txBox="1"/>
          <p:nvPr/>
        </p:nvSpPr>
        <p:spPr>
          <a:xfrm>
            <a:off x="731520" y="1353312"/>
            <a:ext cx="10728655" cy="320040"/>
          </a:xfrm>
          <a:prstGeom prst="rect">
            <a:avLst/>
          </a:prstGeom>
          <a:noFill/>
        </p:spPr>
        <p:txBody>
          <a:bodyPr wrap="square" lIns="0" tIns="0" rIns="0" bIns="0">
            <a:spAutoFit/>
          </a:bodyPr>
          <a:lstStyle/>
          <a:p>
            <a:pPr>
              <a:defRPr sz="1200">
                <a:solidFill>
                  <a:srgbClr val="9CABC2"/>
                </a:solidFill>
                <a:latin typeface="Calibri"/>
              </a:defRPr>
            </a:pPr>
            <a:r>
              <a:t>Final synthesis of findings and foundational mathematical references.</a:t>
            </a:r>
          </a:p>
        </p:txBody>
      </p:sp>
      <p:sp>
        <p:nvSpPr>
          <p:cNvPr id="7" name="Rounded Rectangle 6"/>
          <p:cNvSpPr/>
          <p:nvPr/>
        </p:nvSpPr>
        <p:spPr>
          <a:xfrm>
            <a:off x="731520" y="1737360"/>
            <a:ext cx="5120640" cy="4480560"/>
          </a:xfrm>
          <a:prstGeom prst="roundRect">
            <a:avLst/>
          </a:prstGeom>
          <a:solidFill>
            <a:srgbClr val="101C32"/>
          </a:solidFill>
          <a:ln w="15240">
            <a:solidFill>
              <a:srgbClr val="2438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60120" y="1901952"/>
            <a:ext cx="4663440" cy="4151376"/>
          </a:xfrm>
          <a:prstGeom prst="rect">
            <a:avLst/>
          </a:prstGeom>
          <a:noFill/>
        </p:spPr>
        <p:txBody>
          <a:bodyPr wrap="square" lIns="0" tIns="0" rIns="0" bIns="0">
            <a:spAutoFit/>
          </a:bodyPr>
          <a:lstStyle/>
          <a:p>
            <a:pPr>
              <a:spcAft>
                <a:spcPts val="800"/>
              </a:spcAft>
              <a:defRPr sz="1300" b="1">
                <a:solidFill>
                  <a:srgbClr val="D4AF37"/>
                </a:solidFill>
                <a:latin typeface="Calibri"/>
              </a:defRPr>
            </a:pPr>
            <a:r>
              <a:t>Summary of Project Contributions</a:t>
            </a:r>
          </a:p>
          <a:p>
            <a:pPr>
              <a:spcAft>
                <a:spcPts val="500"/>
              </a:spcAft>
              <a:defRPr sz="1000">
                <a:solidFill>
                  <a:srgbClr val="E2E8F0"/>
                </a:solidFill>
                <a:latin typeface="Calibri"/>
              </a:defRPr>
            </a:pPr>
            <a:r>
              <a:t>•  1. Verified Algebraic Link: Successfully demonstrated how the Spectral Theorem and Gram matrix decomposition produce an optimal orthonormal coordinate system for digital images.</a:t>
            </a:r>
          </a:p>
          <a:p>
            <a:pPr>
              <a:spcAft>
                <a:spcPts val="500"/>
              </a:spcAft>
              <a:defRPr sz="1000">
                <a:solidFill>
                  <a:srgbClr val="E2E8F0"/>
                </a:solidFill>
                <a:latin typeface="Calibri"/>
              </a:defRPr>
            </a:pPr>
            <a:r>
              <a:t>•  2. Empirical Verification of Eckart-Young: Proved that truncated rank-k projections mathematically minimize Frobenius reconstruction error, retaining 99.96% of image energy with k = 16 components.</a:t>
            </a:r>
          </a:p>
          <a:p>
            <a:pPr>
              <a:spcAft>
                <a:spcPts val="500"/>
              </a:spcAft>
              <a:defRPr sz="1000">
                <a:solidFill>
                  <a:srgbClr val="E2E8F0"/>
                </a:solidFill>
                <a:latin typeface="Calibri"/>
              </a:defRPr>
            </a:pPr>
            <a:r>
              <a:t>•  3. Full-Stack Numerical Engineering: Built a production-grade, interactive Django web platform that executes LAPACK routines and renders dynamic matrix previews and comparisons in real time.</a:t>
            </a:r>
          </a:p>
          <a:p>
            <a:pPr>
              <a:spcAft>
                <a:spcPts val="500"/>
              </a:spcAft>
              <a:defRPr sz="1000">
                <a:solidFill>
                  <a:srgbClr val="E2E8F0"/>
                </a:solidFill>
                <a:latin typeface="Calibri"/>
              </a:defRPr>
            </a:pPr>
            <a:r>
              <a:t>•  4. Educational Pedagogical Tool: Created an open platform that enables engineering students to visualize abstract linear algebra concepts with concrete visual outputs.</a:t>
            </a:r>
          </a:p>
        </p:txBody>
      </p:sp>
      <p:sp>
        <p:nvSpPr>
          <p:cNvPr id="9" name="Rounded Rectangle 8"/>
          <p:cNvSpPr/>
          <p:nvPr/>
        </p:nvSpPr>
        <p:spPr>
          <a:xfrm>
            <a:off x="6309360" y="1737360"/>
            <a:ext cx="5120640" cy="4480560"/>
          </a:xfrm>
          <a:prstGeom prst="roundRect">
            <a:avLst/>
          </a:prstGeom>
          <a:solidFill>
            <a:srgbClr val="101C32"/>
          </a:solidFill>
          <a:ln w="15240">
            <a:solidFill>
              <a:srgbClr val="2438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537960" y="1901952"/>
            <a:ext cx="4663440" cy="4151376"/>
          </a:xfrm>
          <a:prstGeom prst="rect">
            <a:avLst/>
          </a:prstGeom>
          <a:noFill/>
        </p:spPr>
        <p:txBody>
          <a:bodyPr wrap="square" lIns="0" tIns="0" rIns="0" bIns="0">
            <a:spAutoFit/>
          </a:bodyPr>
          <a:lstStyle/>
          <a:p>
            <a:pPr>
              <a:spcAft>
                <a:spcPts val="800"/>
              </a:spcAft>
              <a:defRPr sz="1300" b="1">
                <a:solidFill>
                  <a:srgbClr val="38BDF8"/>
                </a:solidFill>
                <a:latin typeface="Calibri"/>
              </a:defRPr>
            </a:pPr>
            <a:r>
              <a:t>Foundational Academic References</a:t>
            </a:r>
          </a:p>
          <a:p>
            <a:pPr>
              <a:spcAft>
                <a:spcPts val="500"/>
              </a:spcAft>
              <a:defRPr sz="1000">
                <a:solidFill>
                  <a:srgbClr val="E2E8F0"/>
                </a:solidFill>
                <a:latin typeface="Calibri"/>
              </a:defRPr>
            </a:pPr>
            <a:r>
              <a:t>•  1. Gilbert Strang, 'Linear Algebra and Its Applications', 5th Edition, Cengage Learning, 2016. (Spectral theorem, positive semi-definite matrices, and SVD).</a:t>
            </a:r>
          </a:p>
          <a:p>
            <a:pPr>
              <a:spcAft>
                <a:spcPts val="500"/>
              </a:spcAft>
              <a:defRPr sz="1000">
                <a:solidFill>
                  <a:srgbClr val="E2E8F0"/>
                </a:solidFill>
                <a:latin typeface="Calibri"/>
              </a:defRPr>
            </a:pPr>
            <a:r>
              <a:t>•  2. Gene H. Golub and Charles F. Van Loan, 'Matrix Computations', 4th Edition, Johns Hopkins University Press, 2013. (LAPACK algorithms and symmetric eigensolvers).</a:t>
            </a:r>
          </a:p>
          <a:p>
            <a:pPr>
              <a:spcAft>
                <a:spcPts val="500"/>
              </a:spcAft>
              <a:defRPr sz="1000">
                <a:solidFill>
                  <a:srgbClr val="E2E8F0"/>
                </a:solidFill>
                <a:latin typeface="Calibri"/>
              </a:defRPr>
            </a:pPr>
            <a:r>
              <a:t>•  3. Carl Eckart and Gale Young, 'The approximation of one matrix by another of lower rank', Psychometrika, Vol. 1, No. 3, pp. 211–218, 1936. (Foundational low-rank optimality theorem).</a:t>
            </a:r>
          </a:p>
          <a:p>
            <a:pPr>
              <a:spcAft>
                <a:spcPts val="500"/>
              </a:spcAft>
              <a:defRPr sz="1000">
                <a:solidFill>
                  <a:srgbClr val="E2E8F0"/>
                </a:solidFill>
                <a:latin typeface="Calibri"/>
              </a:defRPr>
            </a:pPr>
            <a:r>
              <a:t>•  4. Roger A. Horn and Charles R. Johnson, 'Matrix Analysis', 2nd Edition, Cambridge University Press, 2012. (Gram matrices and inner product spaces).</a:t>
            </a:r>
          </a:p>
          <a:p>
            <a:pPr>
              <a:spcAft>
                <a:spcPts val="500"/>
              </a:spcAft>
              <a:defRPr sz="1000">
                <a:solidFill>
                  <a:srgbClr val="E2E8F0"/>
                </a:solidFill>
                <a:latin typeface="Calibri"/>
              </a:defRPr>
            </a:pPr>
            <a:r>
              <a:t>•  5. Rafael C. Gonzalez and Richard E. Woods, 'Digital Image Processing', 4th Edition, Pearson, 2018. (Luminance transformations and principal component transforms).</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TotalTime>
  <Words>8557</Words>
  <Application>Microsoft Office PowerPoint</Application>
  <PresentationFormat>Widescreen</PresentationFormat>
  <Paragraphs>441</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LIKHITH T</cp:lastModifiedBy>
  <cp:revision>2</cp:revision>
  <dcterms:created xsi:type="dcterms:W3CDTF">2013-01-27T09:14:16Z</dcterms:created>
  <dcterms:modified xsi:type="dcterms:W3CDTF">2026-10-14T16:37:35Z</dcterms:modified>
  <cp:category/>
</cp:coreProperties>
</file>